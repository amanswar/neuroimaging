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7" r:id="rId28"/>
    <p:sldId id="278" r:id="rId29"/>
    <p:sldId id="260" r:id="rId6"/>
    <p:sldId id="264" r:id="rId10"/>
    <p:sldId id="263" r:id="rId9"/>
    <p:sldId id="265" r:id="rId11"/>
    <p:sldId id="266" r:id="rId12"/>
    <p:sldId id="279" r:id="rId30"/>
    <p:sldId id="261" r:id="rId7"/>
    <p:sldId id="262" r:id="rId8"/>
    <p:sldId id="259" r:id="rId5"/>
    <p:sldId id="267" r:id="rId13"/>
    <p:sldId id="280" r:id="rId31"/>
    <p:sldId id="270" r:id="rId16"/>
    <p:sldId id="271" r:id="rId17"/>
    <p:sldId id="268" r:id="rId14"/>
    <p:sldId id="269" r:id="rId15"/>
    <p:sldId id="281" r:id="rId32"/>
    <p:sldId id="282" r:id="rId33"/>
    <p:sldId id="286" r:id="rId37"/>
    <p:sldId id="284" r:id="rId35"/>
    <p:sldId id="283" r:id="rId34"/>
    <p:sldId id="272" r:id="rId18"/>
    <p:sldId id="287" r:id="rId38"/>
    <p:sldId id="273" r:id="rId19"/>
    <p:sldId id="274" r:id="rId20"/>
    <p:sldId id="285" r:id="rId36"/>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560185-4540-5ac6-387d-8924ab32e565}">
          <p14:sldIdLst>
            <p14:sldId id="256"/>
          </p14:sldIdLst>
        </p14:section>
        <p14:section name="Introduction" id="{2915ea13-07fe-d116-26c8-5e7407c5c8f9}">
          <p14:sldIdLst>
            <p14:sldId id="257"/>
            <p14:sldId id="258"/>
            <p14:sldId id="259"/>
          </p14:sldIdLst>
        </p14:section>
        <p14:section name="Method" id="{38ac9e0b-34d0-54dd-e9ea-7705a95611dd}">
          <p14:sldIdLst>
            <p14:sldId id="260"/>
            <p14:sldId id="261"/>
            <p14:sldId id="262"/>
            <p14:sldId id="263"/>
            <p14:sldId id="264"/>
            <p14:sldId id="265"/>
            <p14:sldId id="266"/>
          </p14:sldIdLst>
        </p14:section>
        <p14:section name="Evaluation" id="{6eeeecb4-8085-cd89-991b-e99c07675493}">
          <p14:sldIdLst>
            <p14:sldId id="267"/>
            <p14:sldId id="268"/>
            <p14:sldId id="269"/>
            <p14:sldId id="270"/>
            <p14:sldId id="271"/>
            <p14:sldId id="272"/>
          </p14:sldIdLst>
        </p14:section>
        <p14:section name="Discussion" id="{e663f3d6-03d8-a5ac-b417-6ad2890785d8}">
          <p14:sldIdLst>
            <p14:sldId id="273"/>
            <p14:sldId id="274"/>
            <p14:sldId id="275"/>
          </p14:sldIdLst>
        </p14:section>
        <p14:section name="Backup" id="{57da819f-29a3-e799-f683-6c76bab0a9c1}">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This is the NeuroImaging project: CAFN, a Cross-Attention Fusion Network that combines a 3D structural MRI volume with a 1D signal, a visual evoked potential in the synthetic study and a resting-state power spectrum in the real cohorts. The picture on the right is the whole idea in one frame: the MRI becomes 64 spatial tokens, the signal becomes 16 temporal tokens, and in the current design the two token sets query each other through gated bidirectional cross-attention. The project has two parts: a controlled synthetic benchmark that asks when fusion helps, and a fully reproducible evaluation on two public real cohorts. One framing point up front: no public dataset has paired MRI, VEP and eye-disease labels, so I make no diagnostic accuracy claim, and the real-cohort results are at chance level.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Disorders of the visual pathway, such as glaucoma, optic neuritis and cortical visual impairment, can be examined in two ways. Structural MRI tells us where: atrophy, lesions, regional change, but it carries no timing information. The visual evoked potential tells us when: P100 latency and amplitude reflect conduction, but there is no spatial localisation. Glaucoma alone affected an estimated 64.3 million people in 2013. Our question is whether the two can be fused so that each spatial region asks which temporal features matter to it. In the final design the signal also queries the scan, which is why the fusion is bidirectional. The diagram on the right shows the original one-direction idea.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four obstacles. First, most pipelines analyse either imaging or electrophysiology, not both: our answer is one network with two encoders and a fused head plus two auxiliary heads. Second, a volume and a waveform differ in dimensionality, sampling and noise, so naive concatenation gives every feature the same standing: our answer is gated bidirectional cross-attention. Third, black-box classifiers are hard to trust clinically: we provide 3D Grad-CAM, Grad-CAM++ and attention maps, strictly as inspection aids. Fourth, there is no public dataset with paired MRI, VEP and labels: we use a controlled synthetic generator where the information in each modality is a knob, and two public real cohorts as the closest available real test.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target classes are healthy control, glaucoma, and optic neuritis or cortical visual impairment. In the synthetic generator each class has a signature in both modalities. The VEP is a sum of N75, P100 and N145 Gaussians, with P100 at 100, 108 and 140 milliseconds respectively. In the MRI, glaucoma gets an atrophy proxy, an octant block scaled down to 0.4, and optic neuritis gets a lesion proxy scaled up to 1.8. To be clear, these are generator settings that follow the clinical pattern, in particular delayed P100 in optic neuritis; they are not patient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end-to-end data flow. The preprocessed MRI goes through a 3D residual encoder with squeeze-and-excitation blocks and is pooled to 64 spatial tokens with a learned 3D positional embedding. The 1D signal, a VEP or a power spectrum, goes through a multi-scale convolutional encoder and is pooled to 16 temporal tokens with a sinusoidal positional encoding. The fusion module is gated and bidirectional: temporal tokens read the spatial tokens, then spatial tokens read the enriched temporal tokens. A learned attention pool turns the fused spatial tokens into one vector for the fused head, and two auxiliary heads read the unimodal tokens. The gates start at sigma of zero, 0.5, and the attention pool starts as mean pooling, so training starts from a neutral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modalities are brought to fixed shapes before the network. The MRI is loaded with NiBabel, reoriented to RAS, resampled to 1 millimetre isotropic and masked with an Otsu threshold with hole filling and largest-component clean-up. For real whole-head scans the volume is cropped to the foreground bounding box and resampled to 64 cubed, or 32 cubed for the cross-validation study, then z-scored over the foreground. The old centre crop saw only a sliver of a real head. The VEP is validated, band-passed 1 to 100 hertz, notch filtered at 50 hertz, both forward and backward so the effective response is zero-phase, resampled to 500 samples and z-scored. For the real cohorts, which contain resting MEG or EEG and not VEPs, each recording is reduced to the channel-averaged log10 Welch power spectrum from 1 to 45 hertz, interpolated to 500 points and z-scored, with no time-domain filtering. Neither mask is a substitute for validated skull-stripping.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P100 latency is the clinically meaningful quantity, so the conditioning chain is designed not to move it. Filtering forward and backward, with sosfiltfilt and filtfilt, cancels phase and squares the magnitude. In this effective response the 50 hertz component is down by about 97 decibels, the minus 6 decibel notch band runs from 49.18 to 50.83 hertz, and the response at 1 hertz is minus 5.8 decibels. On 150 synthetic records the fitted 50 hertz amplitude fell from 0.152 to 0.0125, about 22 decibels. That measured number is limited by the noise floor, which is 0.0212 at 47 hertz, where nothing was injected, so it is a lower bound on the notch's attenuation rather than the ideal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default three-class CAFN has 1,955,140 trainable parameters. The 3D spatial encoder holds 894,504 of them, 46 percent: a stem and three squeeze-and-excitation residual blocks from 16 to 128 channels, pooled to 4 by 4 by 4, which gives the 64 spatial tokens. The multi-scale 1D encoder holds 785,936, 40 percent, with parallel convolutions of kernel 3, 9 and 19 so that both a narrow peak and a broad waveform complex are visible. The gated bidirectional fusion holds 265,218, about 14 percent. Positional embeddings, the attention pool and the three heads together are under 10,000 parameters. Spatial and temporal tokens are both 128-dimensional.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heart of CAFN. In the original design only spatial tokens queried temporal tokens. Now both streams are updated in each pre-norm block, temporal first, so that the spatial read consumes the enriched temporal tokens. Equation one: the temporal tokens t become t plus sigma of g sub t times cross-attention with queries from t and keys and values from the spatial tokens s, followed by a feed-forward residual. Equation two: the spatial tokens s become s plus sigma of g sub s times cross-attention with queries from s and keys and values from the updated temporal tokens. The gates g are learned scalars initialised at zero, so sigma of zero is 0.5 and both directions start half open. Attention itself is standard multi-head scaled dot-product attention with four heads of dimension 32. A learned attention pool then reduces the fused spatial tokens; its near-zero initial scorer reproduces mean pooling at the start of training. Both attention maps can be returned for plotting.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Training uses three cross-entropy losses: one on the fused head and one on each unimodal head. The total is the fused loss plus 0.3 times the sum of the two auxiliary losses. The auxiliary terms give each encoder its own gradient and discourage the fused head from relying on one modality only. Optional extras are class weights, label smoothing, modality dropout and a Kendall-style uncertainty loss. The defaults are AdamW at learning rate 1e-3 and weight decay 1e-4, batch size 8, linear warmup then cosine decay. Importantly, the restored checkpoint is the one with the best validation balanced accuracy, because selecting on validation loss could restore an untrained epoch-1 model on short runs. Splits and epoch counts differ per study and are given on the study slides.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explainability outputs are built in. 3D Grad-CAM, and Grad-CAM++, hook the last residual block, back-propagate the fused logit, weight the channels by their gradients, apply a ReLU and upsample to the volume size. The attention maps are returned per head for both directions of the fusion; the panel B diagram shows the spatial-to-temporal map. These are inspection aids, not clinical evidence: attention weights are not automatically faithful explanations and saliency maps can be insensitive to model parameters. A planned check is to compare them against clinician-marked regions, and to anchor temporal tokens to VEP landmarks; that has not been done.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labelled paired data are unavailable, a seeded generator writes class-conditioned MRI volumes and VEP records through the same NIfTI and CSV interface as real data. On the left, the volume is Gaussian noise around 100, with an atrophy block for glaucoma and a lesion block for optic neuritis or CVI. On the right, the VEP is an N75-P100-N145 complex with drift, mains interference and noise; raw on the left, conditioned on the right. The pictures show the default generator. Two parameters, mri_strength and vep_strength, scale how far the lesion contrast and the VEP latency and amplitude move from the healthy class; the controlled benchmark uses them. With the default, unrestricted generator the VEP alone is almost perfectly separable, which is why we needed the knobs.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150 synthetic VEP records, 50 per class, the zero-phase pipeline recovered P100 within one sample period, 4 milliseconds at 250 hertz, in 149 of 150 trials. The largest error was 8 milliseconds in a single glaucoma trial, and the class means differ from the truth by 0.64, 0.00 and 0.80 milliseconds. The table shows raw, zero-phase and single-pass detections side by side, and the histograms show that the three classes stay separated in latency, which is the property the conditioning chain has to preserve. These are synthetic records; no patient data are involved.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honest slide. A single-pass causal filter has group delay, 6.1, 3.1 and 2.8 milliseconds at 10, 20 and 30 hertz, so in principle it shifts the P100 peak. But on this smooth, low-frequency synthetic P100, the detected class means differ by less than half a millisecond, which is below one sample. So the benefit of zero-phase filtering cannot be demonstrated on these data. The case for it rests on the principle that latency is the clinical quantity; a real gain would need a higher sampling rate or a recorded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cost: 1,955,140 parameters and 2.60 billion multiply-accumulates per sample at 64 cubed, counted analytically from the layer definitions; at 32 cubed it is 0.39 billion. The 3D spatial encoder holds 46 percent of the parameters and 97 percent of the compute. The multi-scale temporal encoder holds 40 percent of the parameters but only about 2.5 percent of the compute, and the gated bidirectional fusion holds 14 percent of the parameters and under half a percent of the compute. So if speed matters, the 3D encoder is the place to optimise, not the fusion module. The whole model needs under one gigabyte of GPU memory at batch size 8.</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verification: the repository's automated suite now contains 340 tests, unit and integration, including end-to-end runs of the command-line tools, the cohort loaders and the experiment runner. All pass on macOS with Python 3.14, and on Ubuntu 22.04 under WSL2 with Python 3.12 and CUDA, where one test is skipped. Running on a second platform exposed three latent defects the first platform had masked: a type annotation that fails on Python 3.13 and earlier, a device mismatch in the evaluation-only path on CUDA, and a unit test whose assertion was mathematically vacuous. All three were fixed. The two real-file readers, CTF MEG and EDF polysomnography, were checked on real recordings, and the deterministic adaptive pooling was verified against PyTorch's pooling in forward and backward passes. Tests check behaviour, not clinical validity.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observations from the synthetic experiments. First, the original percentile mask is not neutral: by construction it zeroes 60 percent of voxels, and in the glaucoma volume it removes the entire atrophy block, 0 percent retained, while 99.7 percent of the optic neuritis lesion survives. Validated skull-stripping is needed before drawing conclusions about the MRI. Second, tokens are not time bins: P100 at 100 and 108 milliseconds both fall in token 0, and 140 milliseconds falls in token 1, so attention should not be read at millisecond resolution. Third, and this motivated the controlled benchmark: with the default, unrestricted generator the VEP alone is almost perfectly separable, 99.0 percent for the VEP-only head against 70.8 percent for the MRI-only head, so earlier runs that reached 97.9 percent validation accuracy and 99.0 percent held-out accuracy on 96 samples demonstrate that the pipeline trains, not that fusion helps. All of this is synthetic data.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summarise the evidence honestly. What is shown: in the controlled synthetic benchmark fusion beats the better single modality by 10.7 points, p below 0.001; the conditioning chain preserves P100 latency on synthetic VEPs; model size and cost are computed; 340 tests pass on two platforms; the real-cohort pipeline is one command, seeded and deterministic; and on the two real cohorts only a weak spectral signal exists, band-power AUC 0.57, which survives Bonferroni correction with an interval that includes 0.5, while the fused networks are at chance. What is not shown: diagnosis of glaucoma, optic neuritis or CVI, because no eye-disease data were available; that cross-attention beats concatenation or sum, or that any single component matters; a benefit of fusion on real data or generalisation across cohorts; clinical accuracy or state of the art; validated skull-stripping; and faithful explanations.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of what used to be future work is now done. Done: the real-cohort protocol with leave-one-cohort-out validation, repeated cross-validation and permutation tests, and the baselines, ablation and informativeness sweep on the controlled synthetic benchmark. Next: replace the Otsu foreground mask with validated skull-stripping; compare Grad-CAM and attention against clinician-marked regions; and, most importantly, obtain a labelled cohort with paired MRI and VEP for visual-pathway disorders, which is the only way to test the clinical question.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CAFN brings a 3D MRI and a 1D signal into a common token space and fuses them with gated bidirectional cross-attention, in a deterministic, tested and reproducible implementation. In the controlled synthetic benchmark fusion beats the better single modality by 10.7 points, but cross-attention is statistically indistinguishable from concatenation and element-wise sum and no component ablation is reliable. P100 was recovered within one sample in 149 of 150 synthetic trials. On the two real cohorts CAFN is at chance, about 50 percent accuracy, and only a weak spectral signal exists. The next step is data, not architecture. No diagnostic accuracy is claimed.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The full reference list is in the paper. New in this version, all checked against their sources: CAMF (Zhou et al., arXiv 2404.00144), DRIFA-Net (Dhar et al., WACV 2025, arXiv 2412.01248), squeeze-and-excitation networks (Hu et al., CVPR 2018) and the two OpenNeuro datasets ds003568 and ds007181. Other entries were written from known publication details and should be spot-checked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new here is not a headline accuracy. First, an architecture: gated bidirectional cross-attention between spatial and temporal tokens, with squeeze-and-excitation residual blocks, multi-scale temporal convolutions, learned attention pooling and positional embeddings, implemented with deterministic pooling so GPU training is reproducible. Second, a controlled benchmark that shows when fusion helps: a synthetic generator with independent knobs for the class information in each modality, compared like for like with concatenation, element-wise sum and unimodal models. Third, a reproducible real-data protocol on two public cohorts with leave-one-cohort-out validation, repeated cross-validation and permutation tests. Fourth, candid findings, including negative ones. We do not claim clinical accuracy, diagnosis of glaucoma or optic neuritis, generalisation across cohorts, or state of the art.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cross-attention fusion studies, for example CAMF for schizophrenia from structural and functional MRI, and DRIFA-Net on five medical imaging datasets, report a single headline number, which makes it hard to tell when fusion is responsible for a gain. CAMF reports that cross-attention beats concatenation, element-wise sum and single-modality models; DRIFA-Net reports that both of its attention modules beat either alone. We therefore implement the fusion strategies used in that literature as like-for-like baselines: concatenation, element-wise sum, the two unimodal models, and our original one-way cross-attention, all sharing the same encoders, auxiliary loss and training recipe. The table shows what those studies used and reported. Their numbers are on their data and are not comparable with ours. To our knowledge no published study fuses MRI with an electrophysiological signal for visual-pathway disorders.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has two studies. Study A is a controlled synthetic benchmark. The generator has two knobs, mri_strength and vep_strength between zero and one, that scale how much class information each modality carries, so the two modalities are complementary by construction. Each run draws 144 training, 48 validation and 120 test samples, with 32-cubed MRI and 500-point VEPs. The main setting, MRI 1.0 and VEP 0.3, was fixed from a pilot that trained only the unimodal models, not tuned on CAFN. Twelve configurations are run on at least five seeds, and a sweep varies the VEP informativeness for four methods. Study B uses two public OpenNeuro cohorts: ds003568, major depressive disorder versus healthy adolescents with MEG, 18 controls and 29 patients, and ds007181, zoster-associated neuralgia versus healthy controls with polysomnographic EEG, 27 controls and 21 patients. These are not eye-disease data. The label is pan-disorder patient versus control, and since no VEP is available the 1D stream is the log power spectrum of the resting recording. We evaluate a pooled model and leave-one-cohort-out, with repeated cross-validation, bootstrap intervals and permutation tests.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for the real-cohort study runs from one command, run_all.sh, and is safe to interrupt and re-run. It creates the environment and runs pre-flight tests, downloads the two cohorts with resumable, size-verified downloads, preprocesses the T1-weighted scans and the resting recordings, trains and validates the pooled and leave-one-cohort-out models, and writes a summary. All randomness derives from one constant seed, 42, with repeat k using 42 plus k; deterministic algorithms are requested and the environment is recorded. Neural models were trained on an NVIDIA RTX 3050 Laptop GPU with 4 gigabytes, which throttled thermally during long runs; the model needs under one gigabyte at batch size 8. An Apple M3 Max was also used.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Controlled synthetic benchmark, main setting MRI strength 1.0 and VEP strength 0.3, three classes, held-out test set of 120, chance 33.3 percent, 4 to 7 seeds per configuration. The two single-modality references reach 68.0 percent (MRI only) and 64.0 percent (VEP only), whereas every fusion model is at 77.5 to 79.6 percent. The full CAFN, 78.1 percent, beats the better single modality by 10.7 percentage points, paired over 5 seeds, p below 0.001. But CAFN is indistinguishable from concatenation, 77.5 percent, p of 0.63, and from element-wise sum, 79.6 percent, p of 0.47, and none of the seven component ablations is reliably different, ranging from minus 1.7 to 0.0 points. So the honest reading is that fusion matters, and the specific cross-attention mechanism and its components do not make a measurable difference at this scale. This is synthetic data, not clinical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Sweep of the VEP informativeness knob with the MRI fixed at 1.0, for MRI-only, VEP-only, concatenation and CAFN, with only 2 seeds per point. The VEP-only model rises from 45 percent to 97 percent while the MRI-only model stays at 63 to 70 percent. The gain of the fused models over the better single modality is largest at intermediate informativeness, about 13 points for CAFN and 12 for concatenation at VEP 0.3, and vanishes when one modality dominates, about 1 to 2 points at VEP 1.0. Fusion never hurt, and CAFN and concatenation track each other throughout. Because there are only two seeds per point the intervals are wide, so read this as a trend. Synthetic data only.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Out-of-fold performance on all 95 subjects. The best neural model is the spectrum-only network, AUC 0.62 with a bootstrap interval of 0.50 to 0.72. The full CAFN, 0.51, concatenation, 0.53, and the MRI-only network, 0.48, are at chance, so adding the MRI stream did not help. Among the classical models, band-power logistic regression has AUC 0.567 with a within-cohort permutation p of 0.005; with five classical models tested only this one survives a Bonferroni correction, adjusted p of 0.025, and its bootstrap interval, 0.45 to 0.68, still includes 0.5, so the evidence is at best suggestive. MRI-derived features are not significant. Neural models were cross-validated once and have no permutation test. These are real recordings, but not eye-disease data.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pooled CAFN on the real cohorts. The training loss falls to almost zero within about 30 epochs and training accuracy reaches 1.0, while validation accuracy stays near 0.5 and validation loss rises: the 1.96 million parameter model memorises the roughly 67 training subjects. Together with the cohort-identity shortcut, different sensors and a pan-disorder label, this is why the neural fusion results are at chance. The conclusion is that the bottleneck is data, not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conclusions. One: fusion helps when both modalities carry independent evidence. In the controlled synthetic benchmark every fusion model beats the better single modality by about 10.7 points, paired over 5 seeds, p below 0.001, and the sweep shows the gain is largest at intermediate informativeness and vanishes when one modality dominates. Two: cross-attention is not shown to beat simpler fusion. CAFN, 78.1 percent, is indistinguishable from concatenation, 77.5, and element-wise sum, 79.6, and none of the seven component ablations is reliably different. Three: on the real cohorts neural fusion is at chance, CAFN AUC 0.51, only a weak spectral signal exists, with the spectrum-only network at 0.62 and band-power logistic regression at 0.57, which survives Bonferroni correction but whose interval includes 0.5, and nothing transfers across cohorts. The next step is data, specifically a labelled cohort with paired MRI and VEP, not a new architecture. We do not claim clinical accuracy, diagnosis of glaucoma, optic neuritis or CVI, cross-cohort generalisation, or that cross-attention beats simpler fusion.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real-cohort results that are already final, on 95 subjects from the two public cohorts, and they are modest. Classical models with 5 by 5-fold cross-validation reach an AUC of 0.56 to 0.59: the spectrum and band-power logistic regressions are nominally significant under a within-cohort label-permutation test, p of 0.025 and 0.005, but the AUC is only about 0.56 and only band power survives a Bonferroni correction, adjusted p of 0.025, with an interval that includes 0.5; the random forest on band powers and the MRI-based models are not significant. Leave-one-cohort-out AUC for the classical models ranges from 0.40 to 0.63: no consistent transfer. CAFN, pooled and leave-one-cohort-out over three repeats, has test accuracies of 0.45 to 0.52 and balanced accuracies of 0.46 to 0.54, which is chance. A cohort-identity probe shows the spectrum alone identifies the cohort with 100 percent accuracy, which is why the permutation test shuffles labels within each cohort. We do not claim that fusion helps on these cohorts, and the labels are pan-disorder, not eye disease.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pitfalls we found and fixed. One: on the real cohorts a spectrum alone identifies the cohort with 100 percent accuracy, so a model can look good by learning cohort identity; our permutation tests shuffle labels within each cohort for that reason. Two: choosing the checkpoint by validation loss could restore an untrained epoch-1 model on short runs, and smoke and demo runs ended at 33 percent accuracy for that reason; we now select by validation balanced accuracy. Three: a centre crop to 64 cubed, enough for small synthetic volumes, sees only a sliver of a real head, so real scans are cropped to the foreground bounding box and resampled. Four: running on a second platform exposed three latent bugs.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chemeClr val="tx2"/>
                </a:solidFill>
              </a:rPr>
              <a:t>CAFN · Cross-attention fusion of 3D MRI and VEP · Mishthi Jain</a:t>
            </a:r>
            <a:endParaRPr lang="en-US" sz="1000" dirty="0"/>
          </a:p>
        </p:txBody>
      </p:sp>
      <p:sp>
        <p:nvSpPr>
          <p:cNvPr id="3" name="Text 1"/>
          <p:cNvSpPr/>
          <p:nvPr>
            <p:ph idx="101" type="title" hasCustomPrompt="1"/>
          </p:nvPr>
        </p:nvSpPr>
        <p:spPr>
          <a:xfrm>
            <a:off x="548640" y="320040"/>
            <a:ext cx="11094415" cy="86868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chemeClr val="bg2"/>
                </a:solidFill>
              </a:rPr>
              <a:t>CAFN · Cross-attention fusion of 3D MRI and VEP · Mishthi Jain</a:t>
            </a:r>
            <a:endParaRPr lang="en-US" sz="1000" dirty="0"/>
          </a:p>
        </p:txBody>
      </p:sp>
      <p:sp>
        <p:nvSpPr>
          <p:cNvPr id="3" name="Text 1"/>
          <p:cNvSpPr/>
          <p:nvPr>
            <p:ph idx="101" type="title" hasCustomPrompt="1"/>
          </p:nvPr>
        </p:nvSpPr>
        <p:spPr>
          <a:xfrm>
            <a:off x="548640" y="320040"/>
            <a:ext cx="11094415" cy="86868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675120" cy="21488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19-2.png"/><Relationship Id="rId4" Type="http://schemas.openxmlformats.org/officeDocument/2006/relationships/image" Target="../media/image-19-1.png"/><Relationship Id="rId5" Type="http://schemas.openxmlformats.org/officeDocument/2006/relationships/image" Target="../media/image-3-3.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2.png"/><Relationship Id="rId3" Type="http://schemas.openxmlformats.org/officeDocument/2006/relationships/image" Target="../media/image-19-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3.png"/><Relationship Id="rId3" Type="http://schemas.openxmlformats.org/officeDocument/2006/relationships/image" Target="../media/image-17-2.png"/><Relationship Id="rId4" Type="http://schemas.openxmlformats.org/officeDocument/2006/relationships/image" Target="../media/image-3-1.png"/><Relationship Id="rId5" Type="http://schemas.openxmlformats.org/officeDocument/2006/relationships/image" Target="../media/image-4-1.png"/><Relationship Id="rId6"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675120" cy="2148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Cross-Attention Fusion of 3D MRI and Visual Evoked Potentials</a:t>
            </a:r>
            <a:endParaRPr lang="en-US" sz="4000" dirty="0"/>
          </a:p>
        </p:txBody>
      </p:sp>
      <p:sp>
        <p:nvSpPr>
          <p:cNvPr id="3" name="Text 1"/>
          <p:cNvSpPr txBox="1"/>
          <p:nvPr/>
        </p:nvSpPr>
        <p:spPr>
          <a:xfrm>
            <a:off x="640080" y="3657600"/>
            <a:ext cx="6309360" cy="82296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Detecting and classifying vision defects: a controlled synthetic benchmark and reproducible multi-cohort evaluation</a:t>
            </a:r>
            <a:endParaRPr lang="en-US" sz="2000" dirty="0"/>
          </a:p>
        </p:txBody>
      </p:sp>
      <p:sp>
        <p:nvSpPr>
          <p:cNvPr id="4" name="Text 2"/>
          <p:cNvSpPr txBox="1"/>
          <p:nvPr/>
        </p:nvSpPr>
        <p:spPr>
          <a:xfrm>
            <a:off x="640080" y="4754880"/>
            <a:ext cx="6309360" cy="365760"/>
          </a:xfrm>
          <a:prstGeom prst="rect">
            <a:avLst/>
          </a:prstGeom>
          <a:noFill/>
          <a:ln/>
        </p:spPr>
        <p:txBody>
          <a:bodyPr wrap="square" lIns="0" tIns="0" rIns="0" bIns="0" rtlCol="0" anchor="t"/>
          <a:lstStyle/>
          <a:p>
            <a:pPr indent="0" marL="0">
              <a:buNone/>
            </a:pPr>
            <a:r>
              <a:rPr lang="en-US" sz="2000" b="1" dirty="0">
                <a:solidFill>
                  <a:schemeClr val="bg1"/>
                </a:solidFill>
                <a:latin typeface="Calibri" pitchFamily="34" charset="0"/>
                <a:ea typeface="Calibri" pitchFamily="34" charset="-122"/>
                <a:cs typeface="Calibri" pitchFamily="34" charset="-120"/>
              </a:rPr>
              <a:t>Mishthi Jain</a:t>
            </a:r>
            <a:endParaRPr lang="en-US" sz="2000" dirty="0"/>
          </a:p>
        </p:txBody>
      </p:sp>
      <p:sp>
        <p:nvSpPr>
          <p:cNvPr id="5" name="Text 3"/>
          <p:cNvSpPr txBox="1"/>
          <p:nvPr/>
        </p:nvSpPr>
        <p:spPr>
          <a:xfrm>
            <a:off x="640080" y="5138928"/>
            <a:ext cx="658368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School of Computer Science and Engineering, VIT Chennai · BCSE497J project</a:t>
            </a:r>
            <a:endParaRPr lang="en-US" sz="1400" dirty="0"/>
          </a:p>
        </p:txBody>
      </p:sp>
      <p:sp>
        <p:nvSpPr>
          <p:cNvPr id="6" name="Text 4"/>
          <p:cNvSpPr txBox="1"/>
          <p:nvPr/>
        </p:nvSpPr>
        <p:spPr>
          <a:xfrm>
            <a:off x="640080" y="5504688"/>
            <a:ext cx="667512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Reg. No. </a:t>
            </a:r>
            <a:pPr indent="0" marL="0">
              <a:buNone/>
            </a:pPr>
            <a:r>
              <a:rPr lang="en-US" sz="1400" dirty="0">
                <a:solidFill>
                  <a:schemeClr val="tx1"/>
                </a:solidFill>
                <a:highlight>
                  <a:srgbClr val="FFFF00"/>
                </a:highlight>
                <a:latin typeface="Calibri" pitchFamily="34" charset="0"/>
                <a:ea typeface="Calibri" pitchFamily="34" charset="-122"/>
                <a:cs typeface="Calibri" pitchFamily="34" charset="-120"/>
              </a:rPr>
              <a:t>[register number]</a:t>
            </a:r>
            <a:pPr indent="0" marL="0">
              <a:buNone/>
            </a:pPr>
            <a:r>
              <a:rPr lang="en-US" sz="1400" dirty="0">
                <a:solidFill>
                  <a:schemeClr val="bg2"/>
                </a:solidFill>
                <a:latin typeface="Calibri" pitchFamily="34" charset="0"/>
                <a:ea typeface="Calibri" pitchFamily="34" charset="-122"/>
                <a:cs typeface="Calibri" pitchFamily="34" charset="-120"/>
              </a:rPr>
              <a:t>   Guide: </a:t>
            </a:r>
            <a:pPr indent="0" marL="0">
              <a:buNone/>
            </a:pPr>
            <a:r>
              <a:rPr lang="en-US" sz="1400" dirty="0">
                <a:solidFill>
                  <a:schemeClr val="tx1"/>
                </a:solidFill>
                <a:highlight>
                  <a:srgbClr val="FFFF00"/>
                </a:highlight>
                <a:latin typeface="Calibri" pitchFamily="34" charset="0"/>
                <a:ea typeface="Calibri" pitchFamily="34" charset="-122"/>
                <a:cs typeface="Calibri" pitchFamily="34" charset="-120"/>
              </a:rPr>
              <a:t>[guide name, designation]</a:t>
            </a:r>
            <a:endParaRPr lang="en-US" sz="1400" dirty="0"/>
          </a:p>
        </p:txBody>
      </p:sp>
      <p:sp>
        <p:nvSpPr>
          <p:cNvPr id="7" name="spatial token 0-0"/>
          <p:cNvSpPr/>
          <p:nvPr/>
        </p:nvSpPr>
        <p:spPr>
          <a:xfrm>
            <a:off x="7818120" y="1325880"/>
            <a:ext cx="365760" cy="365760"/>
          </a:xfrm>
          <a:prstGeom prst="roundRect">
            <a:avLst>
              <a:gd name="adj" fmla="val 12500"/>
            </a:avLst>
          </a:prstGeom>
          <a:solidFill>
            <a:schemeClr val="accent3">
              <a:alpha val="37000"/>
            </a:schemeClr>
          </a:solidFill>
          <a:ln/>
        </p:spPr>
        <p:txBody>
          <a:bodyPr/>
          <a:p/>
        </p:txBody>
      </p:sp>
      <p:sp>
        <p:nvSpPr>
          <p:cNvPr id="8" name="spatial token 0-1"/>
          <p:cNvSpPr/>
          <p:nvPr/>
        </p:nvSpPr>
        <p:spPr>
          <a:xfrm>
            <a:off x="8257032" y="1325880"/>
            <a:ext cx="365760" cy="365760"/>
          </a:xfrm>
          <a:prstGeom prst="roundRect">
            <a:avLst>
              <a:gd name="adj" fmla="val 12500"/>
            </a:avLst>
          </a:prstGeom>
          <a:solidFill>
            <a:schemeClr val="accent3">
              <a:alpha val="44000"/>
            </a:schemeClr>
          </a:solidFill>
          <a:ln/>
        </p:spPr>
        <p:txBody>
          <a:bodyPr/>
          <a:p/>
        </p:txBody>
      </p:sp>
      <p:sp>
        <p:nvSpPr>
          <p:cNvPr id="9" name="spatial token 0-2"/>
          <p:cNvSpPr/>
          <p:nvPr/>
        </p:nvSpPr>
        <p:spPr>
          <a:xfrm>
            <a:off x="8695944" y="1325880"/>
            <a:ext cx="365760" cy="365760"/>
          </a:xfrm>
          <a:prstGeom prst="roundRect">
            <a:avLst>
              <a:gd name="adj" fmla="val 12500"/>
            </a:avLst>
          </a:prstGeom>
          <a:solidFill>
            <a:schemeClr val="accent3">
              <a:alpha val="51000"/>
            </a:schemeClr>
          </a:solidFill>
          <a:ln/>
        </p:spPr>
        <p:txBody>
          <a:bodyPr/>
          <a:p/>
        </p:txBody>
      </p:sp>
      <p:sp>
        <p:nvSpPr>
          <p:cNvPr id="10" name="spatial token 0-3"/>
          <p:cNvSpPr/>
          <p:nvPr/>
        </p:nvSpPr>
        <p:spPr>
          <a:xfrm>
            <a:off x="9134856" y="1325880"/>
            <a:ext cx="365760" cy="365760"/>
          </a:xfrm>
          <a:prstGeom prst="roundRect">
            <a:avLst>
              <a:gd name="adj" fmla="val 12500"/>
            </a:avLst>
          </a:prstGeom>
          <a:solidFill>
            <a:schemeClr val="accent3">
              <a:alpha val="55000"/>
            </a:schemeClr>
          </a:solidFill>
          <a:ln/>
        </p:spPr>
        <p:txBody>
          <a:bodyPr/>
          <a:p/>
        </p:txBody>
      </p:sp>
      <p:sp>
        <p:nvSpPr>
          <p:cNvPr id="11" name="spatial token 0-4"/>
          <p:cNvSpPr/>
          <p:nvPr/>
        </p:nvSpPr>
        <p:spPr>
          <a:xfrm>
            <a:off x="9573768" y="1325880"/>
            <a:ext cx="365760" cy="365760"/>
          </a:xfrm>
          <a:prstGeom prst="roundRect">
            <a:avLst>
              <a:gd name="adj" fmla="val 12500"/>
            </a:avLst>
          </a:prstGeom>
          <a:solidFill>
            <a:schemeClr val="accent3">
              <a:alpha val="57000"/>
            </a:schemeClr>
          </a:solidFill>
          <a:ln/>
        </p:spPr>
        <p:txBody>
          <a:bodyPr/>
          <a:p/>
        </p:txBody>
      </p:sp>
      <p:sp>
        <p:nvSpPr>
          <p:cNvPr id="12" name="spatial token 0-5"/>
          <p:cNvSpPr/>
          <p:nvPr/>
        </p:nvSpPr>
        <p:spPr>
          <a:xfrm>
            <a:off x="10012680" y="1325880"/>
            <a:ext cx="365760" cy="365760"/>
          </a:xfrm>
          <a:prstGeom prst="roundRect">
            <a:avLst>
              <a:gd name="adj" fmla="val 12500"/>
            </a:avLst>
          </a:prstGeom>
          <a:solidFill>
            <a:schemeClr val="accent3">
              <a:alpha val="55000"/>
            </a:schemeClr>
          </a:solidFill>
          <a:ln/>
        </p:spPr>
        <p:txBody>
          <a:bodyPr/>
          <a:p/>
        </p:txBody>
      </p:sp>
      <p:sp>
        <p:nvSpPr>
          <p:cNvPr id="13" name="spatial token 0-6"/>
          <p:cNvSpPr/>
          <p:nvPr/>
        </p:nvSpPr>
        <p:spPr>
          <a:xfrm>
            <a:off x="10451592" y="1325880"/>
            <a:ext cx="365760" cy="365760"/>
          </a:xfrm>
          <a:prstGeom prst="roundRect">
            <a:avLst>
              <a:gd name="adj" fmla="val 12500"/>
            </a:avLst>
          </a:prstGeom>
          <a:solidFill>
            <a:schemeClr val="accent3">
              <a:alpha val="50000"/>
            </a:schemeClr>
          </a:solidFill>
          <a:ln/>
        </p:spPr>
        <p:txBody>
          <a:bodyPr/>
          <a:p/>
        </p:txBody>
      </p:sp>
      <p:sp>
        <p:nvSpPr>
          <p:cNvPr id="14" name="spatial token 0-7"/>
          <p:cNvSpPr/>
          <p:nvPr/>
        </p:nvSpPr>
        <p:spPr>
          <a:xfrm>
            <a:off x="10890504" y="1325880"/>
            <a:ext cx="365760" cy="365760"/>
          </a:xfrm>
          <a:prstGeom prst="roundRect">
            <a:avLst>
              <a:gd name="adj" fmla="val 12500"/>
            </a:avLst>
          </a:prstGeom>
          <a:solidFill>
            <a:schemeClr val="accent3">
              <a:alpha val="43000"/>
            </a:schemeClr>
          </a:solidFill>
          <a:ln/>
        </p:spPr>
        <p:txBody>
          <a:bodyPr/>
          <a:p/>
        </p:txBody>
      </p:sp>
      <p:sp>
        <p:nvSpPr>
          <p:cNvPr id="15" name="spatial token 1-0"/>
          <p:cNvSpPr/>
          <p:nvPr/>
        </p:nvSpPr>
        <p:spPr>
          <a:xfrm>
            <a:off x="7818120" y="1764792"/>
            <a:ext cx="365760" cy="365760"/>
          </a:xfrm>
          <a:prstGeom prst="roundRect">
            <a:avLst>
              <a:gd name="adj" fmla="val 12500"/>
            </a:avLst>
          </a:prstGeom>
          <a:solidFill>
            <a:schemeClr val="accent3">
              <a:alpha val="43000"/>
            </a:schemeClr>
          </a:solidFill>
          <a:ln/>
        </p:spPr>
        <p:txBody>
          <a:bodyPr/>
          <a:p/>
        </p:txBody>
      </p:sp>
      <p:sp>
        <p:nvSpPr>
          <p:cNvPr id="16" name="spatial token 1-1"/>
          <p:cNvSpPr/>
          <p:nvPr/>
        </p:nvSpPr>
        <p:spPr>
          <a:xfrm>
            <a:off x="8257032" y="1764792"/>
            <a:ext cx="365760" cy="365760"/>
          </a:xfrm>
          <a:prstGeom prst="roundRect">
            <a:avLst>
              <a:gd name="adj" fmla="val 12500"/>
            </a:avLst>
          </a:prstGeom>
          <a:solidFill>
            <a:schemeClr val="accent3">
              <a:alpha val="52000"/>
            </a:schemeClr>
          </a:solidFill>
          <a:ln/>
        </p:spPr>
        <p:txBody>
          <a:bodyPr/>
          <a:p/>
        </p:txBody>
      </p:sp>
      <p:sp>
        <p:nvSpPr>
          <p:cNvPr id="17" name="spatial token 1-2"/>
          <p:cNvSpPr/>
          <p:nvPr/>
        </p:nvSpPr>
        <p:spPr>
          <a:xfrm>
            <a:off x="8695944" y="1764792"/>
            <a:ext cx="365760" cy="365760"/>
          </a:xfrm>
          <a:prstGeom prst="roundRect">
            <a:avLst>
              <a:gd name="adj" fmla="val 12500"/>
            </a:avLst>
          </a:prstGeom>
          <a:solidFill>
            <a:schemeClr val="accent3">
              <a:alpha val="60000"/>
            </a:schemeClr>
          </a:solidFill>
          <a:ln/>
        </p:spPr>
        <p:txBody>
          <a:bodyPr/>
          <a:p/>
        </p:txBody>
      </p:sp>
      <p:sp>
        <p:nvSpPr>
          <p:cNvPr id="18" name="spatial token 1-3"/>
          <p:cNvSpPr/>
          <p:nvPr/>
        </p:nvSpPr>
        <p:spPr>
          <a:xfrm>
            <a:off x="9134856" y="1764792"/>
            <a:ext cx="365760" cy="365760"/>
          </a:xfrm>
          <a:prstGeom prst="roundRect">
            <a:avLst>
              <a:gd name="adj" fmla="val 12500"/>
            </a:avLst>
          </a:prstGeom>
          <a:solidFill>
            <a:schemeClr val="accent3">
              <a:alpha val="66000"/>
            </a:schemeClr>
          </a:solidFill>
          <a:ln/>
        </p:spPr>
        <p:txBody>
          <a:bodyPr/>
          <a:p/>
        </p:txBody>
      </p:sp>
      <p:sp>
        <p:nvSpPr>
          <p:cNvPr id="19" name="spatial token 1-4"/>
          <p:cNvSpPr/>
          <p:nvPr/>
        </p:nvSpPr>
        <p:spPr>
          <a:xfrm>
            <a:off x="9573768" y="1764792"/>
            <a:ext cx="365760" cy="365760"/>
          </a:xfrm>
          <a:prstGeom prst="roundRect">
            <a:avLst>
              <a:gd name="adj" fmla="val 12500"/>
            </a:avLst>
          </a:prstGeom>
          <a:solidFill>
            <a:schemeClr val="accent3">
              <a:alpha val="68000"/>
            </a:schemeClr>
          </a:solidFill>
          <a:ln/>
        </p:spPr>
        <p:txBody>
          <a:bodyPr/>
          <a:p/>
        </p:txBody>
      </p:sp>
      <p:sp>
        <p:nvSpPr>
          <p:cNvPr id="20" name="spatial token 1-5"/>
          <p:cNvSpPr/>
          <p:nvPr/>
        </p:nvSpPr>
        <p:spPr>
          <a:xfrm>
            <a:off x="10012680" y="1764792"/>
            <a:ext cx="365760" cy="365760"/>
          </a:xfrm>
          <a:prstGeom prst="roundRect">
            <a:avLst>
              <a:gd name="adj" fmla="val 12500"/>
            </a:avLst>
          </a:prstGeom>
          <a:solidFill>
            <a:schemeClr val="accent3">
              <a:alpha val="65000"/>
            </a:schemeClr>
          </a:solidFill>
          <a:ln/>
        </p:spPr>
        <p:txBody>
          <a:bodyPr/>
          <a:p/>
        </p:txBody>
      </p:sp>
      <p:sp>
        <p:nvSpPr>
          <p:cNvPr id="21" name="spatial token 1-6"/>
          <p:cNvSpPr/>
          <p:nvPr/>
        </p:nvSpPr>
        <p:spPr>
          <a:xfrm>
            <a:off x="10451592" y="1764792"/>
            <a:ext cx="365760" cy="365760"/>
          </a:xfrm>
          <a:prstGeom prst="roundRect">
            <a:avLst>
              <a:gd name="adj" fmla="val 12500"/>
            </a:avLst>
          </a:prstGeom>
          <a:solidFill>
            <a:schemeClr val="accent3">
              <a:alpha val="59000"/>
            </a:schemeClr>
          </a:solidFill>
          <a:ln/>
        </p:spPr>
        <p:txBody>
          <a:bodyPr/>
          <a:p/>
        </p:txBody>
      </p:sp>
      <p:sp>
        <p:nvSpPr>
          <p:cNvPr id="22" name="spatial token 1-7"/>
          <p:cNvSpPr/>
          <p:nvPr/>
        </p:nvSpPr>
        <p:spPr>
          <a:xfrm>
            <a:off x="10890504" y="1764792"/>
            <a:ext cx="365760" cy="365760"/>
          </a:xfrm>
          <a:prstGeom prst="roundRect">
            <a:avLst>
              <a:gd name="adj" fmla="val 12500"/>
            </a:avLst>
          </a:prstGeom>
          <a:solidFill>
            <a:schemeClr val="accent3">
              <a:alpha val="50000"/>
            </a:schemeClr>
          </a:solidFill>
          <a:ln/>
        </p:spPr>
        <p:txBody>
          <a:bodyPr/>
          <a:p/>
        </p:txBody>
      </p:sp>
      <p:sp>
        <p:nvSpPr>
          <p:cNvPr id="23" name="spatial token 2-0"/>
          <p:cNvSpPr/>
          <p:nvPr/>
        </p:nvSpPr>
        <p:spPr>
          <a:xfrm>
            <a:off x="7818120" y="2203704"/>
            <a:ext cx="365760" cy="365760"/>
          </a:xfrm>
          <a:prstGeom prst="roundRect">
            <a:avLst>
              <a:gd name="adj" fmla="val 12500"/>
            </a:avLst>
          </a:prstGeom>
          <a:solidFill>
            <a:schemeClr val="accent3">
              <a:alpha val="47000"/>
            </a:schemeClr>
          </a:solidFill>
          <a:ln/>
        </p:spPr>
        <p:txBody>
          <a:bodyPr/>
          <a:p/>
        </p:txBody>
      </p:sp>
      <p:sp>
        <p:nvSpPr>
          <p:cNvPr id="24" name="spatial token 2-1"/>
          <p:cNvSpPr/>
          <p:nvPr/>
        </p:nvSpPr>
        <p:spPr>
          <a:xfrm>
            <a:off x="8257032" y="2203704"/>
            <a:ext cx="365760" cy="365760"/>
          </a:xfrm>
          <a:prstGeom prst="roundRect">
            <a:avLst>
              <a:gd name="adj" fmla="val 12500"/>
            </a:avLst>
          </a:prstGeom>
          <a:solidFill>
            <a:schemeClr val="accent3">
              <a:alpha val="57000"/>
            </a:schemeClr>
          </a:solidFill>
          <a:ln/>
        </p:spPr>
        <p:txBody>
          <a:bodyPr/>
          <a:p/>
        </p:txBody>
      </p:sp>
      <p:sp>
        <p:nvSpPr>
          <p:cNvPr id="25" name="spatial token 2-2"/>
          <p:cNvSpPr/>
          <p:nvPr/>
        </p:nvSpPr>
        <p:spPr>
          <a:xfrm>
            <a:off x="8695944" y="2203704"/>
            <a:ext cx="365760" cy="365760"/>
          </a:xfrm>
          <a:prstGeom prst="roundRect">
            <a:avLst>
              <a:gd name="adj" fmla="val 12500"/>
            </a:avLst>
          </a:prstGeom>
          <a:solidFill>
            <a:schemeClr val="accent3">
              <a:alpha val="67000"/>
            </a:schemeClr>
          </a:solidFill>
          <a:ln/>
        </p:spPr>
        <p:txBody>
          <a:bodyPr/>
          <a:p/>
        </p:txBody>
      </p:sp>
      <p:sp>
        <p:nvSpPr>
          <p:cNvPr id="26" name="spatial token 2-3"/>
          <p:cNvSpPr/>
          <p:nvPr/>
        </p:nvSpPr>
        <p:spPr>
          <a:xfrm>
            <a:off x="9134856" y="2203704"/>
            <a:ext cx="365760" cy="365760"/>
          </a:xfrm>
          <a:prstGeom prst="roundRect">
            <a:avLst>
              <a:gd name="adj" fmla="val 12500"/>
            </a:avLst>
          </a:prstGeom>
          <a:solidFill>
            <a:schemeClr val="accent3">
              <a:alpha val="75000"/>
            </a:schemeClr>
          </a:solidFill>
          <a:ln/>
        </p:spPr>
        <p:txBody>
          <a:bodyPr/>
          <a:p/>
        </p:txBody>
      </p:sp>
      <p:sp>
        <p:nvSpPr>
          <p:cNvPr id="27" name="spatial token 2-4"/>
          <p:cNvSpPr/>
          <p:nvPr/>
        </p:nvSpPr>
        <p:spPr>
          <a:xfrm>
            <a:off x="9573768" y="2203704"/>
            <a:ext cx="365760" cy="365760"/>
          </a:xfrm>
          <a:prstGeom prst="roundRect">
            <a:avLst>
              <a:gd name="adj" fmla="val 12500"/>
            </a:avLst>
          </a:prstGeom>
          <a:solidFill>
            <a:schemeClr val="accent3">
              <a:alpha val="79000"/>
            </a:schemeClr>
          </a:solidFill>
          <a:ln/>
        </p:spPr>
        <p:txBody>
          <a:bodyPr/>
          <a:p/>
        </p:txBody>
      </p:sp>
      <p:sp>
        <p:nvSpPr>
          <p:cNvPr id="28" name="spatial token 2-5"/>
          <p:cNvSpPr/>
          <p:nvPr/>
        </p:nvSpPr>
        <p:spPr>
          <a:xfrm>
            <a:off x="10012680" y="2203704"/>
            <a:ext cx="365760" cy="365760"/>
          </a:xfrm>
          <a:prstGeom prst="roundRect">
            <a:avLst>
              <a:gd name="adj" fmla="val 12500"/>
            </a:avLst>
          </a:prstGeom>
          <a:solidFill>
            <a:schemeClr val="accent3">
              <a:alpha val="74000"/>
            </a:schemeClr>
          </a:solidFill>
          <a:ln/>
        </p:spPr>
        <p:txBody>
          <a:bodyPr/>
          <a:p/>
        </p:txBody>
      </p:sp>
      <p:sp>
        <p:nvSpPr>
          <p:cNvPr id="29" name="spatial token 2-6"/>
          <p:cNvSpPr/>
          <p:nvPr/>
        </p:nvSpPr>
        <p:spPr>
          <a:xfrm>
            <a:off x="10451592" y="2203704"/>
            <a:ext cx="365760" cy="365760"/>
          </a:xfrm>
          <a:prstGeom prst="roundRect">
            <a:avLst>
              <a:gd name="adj" fmla="val 12500"/>
            </a:avLst>
          </a:prstGeom>
          <a:solidFill>
            <a:schemeClr val="accent3">
              <a:alpha val="65000"/>
            </a:schemeClr>
          </a:solidFill>
          <a:ln/>
        </p:spPr>
        <p:txBody>
          <a:bodyPr/>
          <a:p/>
        </p:txBody>
      </p:sp>
      <p:sp>
        <p:nvSpPr>
          <p:cNvPr id="30" name="spatial token 2-7"/>
          <p:cNvSpPr/>
          <p:nvPr/>
        </p:nvSpPr>
        <p:spPr>
          <a:xfrm>
            <a:off x="10890504" y="2203704"/>
            <a:ext cx="365760" cy="365760"/>
          </a:xfrm>
          <a:prstGeom prst="roundRect">
            <a:avLst>
              <a:gd name="adj" fmla="val 12500"/>
            </a:avLst>
          </a:prstGeom>
          <a:solidFill>
            <a:schemeClr val="accent3">
              <a:alpha val="55000"/>
            </a:schemeClr>
          </a:solidFill>
          <a:ln/>
        </p:spPr>
        <p:txBody>
          <a:bodyPr/>
          <a:p/>
        </p:txBody>
      </p:sp>
      <p:sp>
        <p:nvSpPr>
          <p:cNvPr id="31" name="spatial token 3-0"/>
          <p:cNvSpPr/>
          <p:nvPr/>
        </p:nvSpPr>
        <p:spPr>
          <a:xfrm>
            <a:off x="7818120" y="2642616"/>
            <a:ext cx="365760" cy="365760"/>
          </a:xfrm>
          <a:prstGeom prst="roundRect">
            <a:avLst>
              <a:gd name="adj" fmla="val 12500"/>
            </a:avLst>
          </a:prstGeom>
          <a:solidFill>
            <a:schemeClr val="accent3">
              <a:alpha val="49000"/>
            </a:schemeClr>
          </a:solidFill>
          <a:ln/>
        </p:spPr>
        <p:txBody>
          <a:bodyPr/>
          <a:p/>
        </p:txBody>
      </p:sp>
      <p:sp>
        <p:nvSpPr>
          <p:cNvPr id="32" name="spatial token 3-1"/>
          <p:cNvSpPr/>
          <p:nvPr/>
        </p:nvSpPr>
        <p:spPr>
          <a:xfrm>
            <a:off x="8257032" y="2642616"/>
            <a:ext cx="365760" cy="365760"/>
          </a:xfrm>
          <a:prstGeom prst="roundRect">
            <a:avLst>
              <a:gd name="adj" fmla="val 12500"/>
            </a:avLst>
          </a:prstGeom>
          <a:solidFill>
            <a:schemeClr val="accent3">
              <a:alpha val="60000"/>
            </a:schemeClr>
          </a:solidFill>
          <a:ln/>
        </p:spPr>
        <p:txBody>
          <a:bodyPr/>
          <a:p/>
        </p:txBody>
      </p:sp>
      <p:sp>
        <p:nvSpPr>
          <p:cNvPr id="33" name="spatial token 3-2"/>
          <p:cNvSpPr/>
          <p:nvPr/>
        </p:nvSpPr>
        <p:spPr>
          <a:xfrm>
            <a:off x="8695944" y="2642616"/>
            <a:ext cx="365760" cy="365760"/>
          </a:xfrm>
          <a:prstGeom prst="roundRect">
            <a:avLst>
              <a:gd name="adj" fmla="val 12500"/>
            </a:avLst>
          </a:prstGeom>
          <a:solidFill>
            <a:schemeClr val="accent3">
              <a:alpha val="71000"/>
            </a:schemeClr>
          </a:solidFill>
          <a:ln/>
        </p:spPr>
        <p:txBody>
          <a:bodyPr/>
          <a:p/>
        </p:txBody>
      </p:sp>
      <p:sp>
        <p:nvSpPr>
          <p:cNvPr id="34" name="spatial token 3-3"/>
          <p:cNvSpPr/>
          <p:nvPr/>
        </p:nvSpPr>
        <p:spPr>
          <a:xfrm>
            <a:off x="9134856" y="2642616"/>
            <a:ext cx="365760" cy="365760"/>
          </a:xfrm>
          <a:prstGeom prst="roundRect">
            <a:avLst>
              <a:gd name="adj" fmla="val 12500"/>
            </a:avLst>
          </a:prstGeom>
          <a:solidFill>
            <a:schemeClr val="accent3">
              <a:alpha val="82000"/>
            </a:schemeClr>
          </a:solidFill>
          <a:ln/>
        </p:spPr>
        <p:txBody>
          <a:bodyPr/>
          <a:p/>
        </p:txBody>
      </p:sp>
      <p:sp>
        <p:nvSpPr>
          <p:cNvPr id="35" name="spatial token 3-4"/>
          <p:cNvSpPr/>
          <p:nvPr/>
        </p:nvSpPr>
        <p:spPr>
          <a:xfrm>
            <a:off x="9573768" y="2642616"/>
            <a:ext cx="365760" cy="365760"/>
          </a:xfrm>
          <a:prstGeom prst="roundRect">
            <a:avLst>
              <a:gd name="adj" fmla="val 12500"/>
            </a:avLst>
          </a:prstGeom>
          <a:solidFill>
            <a:schemeClr val="accent3">
              <a:alpha val="90000"/>
            </a:schemeClr>
          </a:solidFill>
          <a:ln/>
        </p:spPr>
        <p:txBody>
          <a:bodyPr/>
          <a:p/>
        </p:txBody>
      </p:sp>
      <p:sp>
        <p:nvSpPr>
          <p:cNvPr id="36" name="spatial token 3-5"/>
          <p:cNvSpPr/>
          <p:nvPr/>
        </p:nvSpPr>
        <p:spPr>
          <a:xfrm>
            <a:off x="10012680" y="2642616"/>
            <a:ext cx="365760" cy="365760"/>
          </a:xfrm>
          <a:prstGeom prst="roundRect">
            <a:avLst>
              <a:gd name="adj" fmla="val 12500"/>
            </a:avLst>
          </a:prstGeom>
          <a:solidFill>
            <a:schemeClr val="accent3">
              <a:alpha val="80000"/>
            </a:schemeClr>
          </a:solidFill>
          <a:ln/>
        </p:spPr>
        <p:txBody>
          <a:bodyPr/>
          <a:p/>
        </p:txBody>
      </p:sp>
      <p:sp>
        <p:nvSpPr>
          <p:cNvPr id="37" name="spatial token 3-6"/>
          <p:cNvSpPr/>
          <p:nvPr/>
        </p:nvSpPr>
        <p:spPr>
          <a:xfrm>
            <a:off x="10451592" y="2642616"/>
            <a:ext cx="365760" cy="365760"/>
          </a:xfrm>
          <a:prstGeom prst="roundRect">
            <a:avLst>
              <a:gd name="adj" fmla="val 12500"/>
            </a:avLst>
          </a:prstGeom>
          <a:solidFill>
            <a:schemeClr val="accent3">
              <a:alpha val="69000"/>
            </a:schemeClr>
          </a:solidFill>
          <a:ln/>
        </p:spPr>
        <p:txBody>
          <a:bodyPr/>
          <a:p/>
        </p:txBody>
      </p:sp>
      <p:sp>
        <p:nvSpPr>
          <p:cNvPr id="38" name="spatial token 3-7"/>
          <p:cNvSpPr/>
          <p:nvPr/>
        </p:nvSpPr>
        <p:spPr>
          <a:xfrm>
            <a:off x="10890504" y="2642616"/>
            <a:ext cx="365760" cy="365760"/>
          </a:xfrm>
          <a:prstGeom prst="roundRect">
            <a:avLst>
              <a:gd name="adj" fmla="val 12500"/>
            </a:avLst>
          </a:prstGeom>
          <a:solidFill>
            <a:schemeClr val="accent3">
              <a:alpha val="58000"/>
            </a:schemeClr>
          </a:solidFill>
          <a:ln/>
        </p:spPr>
        <p:txBody>
          <a:bodyPr/>
          <a:p/>
        </p:txBody>
      </p:sp>
      <p:sp>
        <p:nvSpPr>
          <p:cNvPr id="39" name="spatial token 4-0"/>
          <p:cNvSpPr/>
          <p:nvPr/>
        </p:nvSpPr>
        <p:spPr>
          <a:xfrm>
            <a:off x="7818120" y="3081528"/>
            <a:ext cx="365760" cy="365760"/>
          </a:xfrm>
          <a:prstGeom prst="roundRect">
            <a:avLst>
              <a:gd name="adj" fmla="val 12500"/>
            </a:avLst>
          </a:prstGeom>
          <a:solidFill>
            <a:schemeClr val="accent3">
              <a:alpha val="48000"/>
            </a:schemeClr>
          </a:solidFill>
          <a:ln/>
        </p:spPr>
        <p:txBody>
          <a:bodyPr/>
          <a:p/>
        </p:txBody>
      </p:sp>
      <p:sp>
        <p:nvSpPr>
          <p:cNvPr id="40" name="spatial token 4-1"/>
          <p:cNvSpPr/>
          <p:nvPr/>
        </p:nvSpPr>
        <p:spPr>
          <a:xfrm>
            <a:off x="8257032" y="3081528"/>
            <a:ext cx="365760" cy="365760"/>
          </a:xfrm>
          <a:prstGeom prst="roundRect">
            <a:avLst>
              <a:gd name="adj" fmla="val 12500"/>
            </a:avLst>
          </a:prstGeom>
          <a:solidFill>
            <a:schemeClr val="accent3">
              <a:alpha val="59000"/>
            </a:schemeClr>
          </a:solidFill>
          <a:ln/>
        </p:spPr>
        <p:txBody>
          <a:bodyPr/>
          <a:p/>
        </p:txBody>
      </p:sp>
      <p:sp>
        <p:nvSpPr>
          <p:cNvPr id="41" name="spatial token 4-2"/>
          <p:cNvSpPr/>
          <p:nvPr/>
        </p:nvSpPr>
        <p:spPr>
          <a:xfrm>
            <a:off x="8695944" y="3081528"/>
            <a:ext cx="365760" cy="365760"/>
          </a:xfrm>
          <a:prstGeom prst="roundRect">
            <a:avLst>
              <a:gd name="adj" fmla="val 12500"/>
            </a:avLst>
          </a:prstGeom>
          <a:solidFill>
            <a:schemeClr val="accent3">
              <a:alpha val="69000"/>
            </a:schemeClr>
          </a:solidFill>
          <a:ln/>
        </p:spPr>
        <p:txBody>
          <a:bodyPr/>
          <a:p/>
        </p:txBody>
      </p:sp>
      <p:sp>
        <p:nvSpPr>
          <p:cNvPr id="42" name="spatial token 4-3"/>
          <p:cNvSpPr/>
          <p:nvPr/>
        </p:nvSpPr>
        <p:spPr>
          <a:xfrm>
            <a:off x="9134856" y="3081528"/>
            <a:ext cx="365760" cy="365760"/>
          </a:xfrm>
          <a:prstGeom prst="roundRect">
            <a:avLst>
              <a:gd name="adj" fmla="val 12500"/>
            </a:avLst>
          </a:prstGeom>
          <a:solidFill>
            <a:schemeClr val="accent3">
              <a:alpha val="79000"/>
            </a:schemeClr>
          </a:solidFill>
          <a:ln/>
        </p:spPr>
        <p:txBody>
          <a:bodyPr/>
          <a:p/>
        </p:txBody>
      </p:sp>
      <p:sp>
        <p:nvSpPr>
          <p:cNvPr id="43" name="spatial token 4-4"/>
          <p:cNvSpPr/>
          <p:nvPr/>
        </p:nvSpPr>
        <p:spPr>
          <a:xfrm>
            <a:off x="9573768" y="3081528"/>
            <a:ext cx="365760" cy="365760"/>
          </a:xfrm>
          <a:prstGeom prst="roundRect">
            <a:avLst>
              <a:gd name="adj" fmla="val 12500"/>
            </a:avLst>
          </a:prstGeom>
          <a:solidFill>
            <a:schemeClr val="accent3">
              <a:alpha val="83000"/>
            </a:schemeClr>
          </a:solidFill>
          <a:ln/>
        </p:spPr>
        <p:txBody>
          <a:bodyPr/>
          <a:p/>
        </p:txBody>
      </p:sp>
      <p:sp>
        <p:nvSpPr>
          <p:cNvPr id="44" name="spatial token 4-5"/>
          <p:cNvSpPr/>
          <p:nvPr/>
        </p:nvSpPr>
        <p:spPr>
          <a:xfrm>
            <a:off x="10012680" y="3081528"/>
            <a:ext cx="365760" cy="365760"/>
          </a:xfrm>
          <a:prstGeom prst="roundRect">
            <a:avLst>
              <a:gd name="adj" fmla="val 12500"/>
            </a:avLst>
          </a:prstGeom>
          <a:solidFill>
            <a:schemeClr val="accent3">
              <a:alpha val="77000"/>
            </a:schemeClr>
          </a:solidFill>
          <a:ln/>
        </p:spPr>
        <p:txBody>
          <a:bodyPr/>
          <a:p/>
        </p:txBody>
      </p:sp>
      <p:sp>
        <p:nvSpPr>
          <p:cNvPr id="45" name="spatial token 4-6"/>
          <p:cNvSpPr/>
          <p:nvPr/>
        </p:nvSpPr>
        <p:spPr>
          <a:xfrm>
            <a:off x="10451592" y="3081528"/>
            <a:ext cx="365760" cy="365760"/>
          </a:xfrm>
          <a:prstGeom prst="roundRect">
            <a:avLst>
              <a:gd name="adj" fmla="val 12500"/>
            </a:avLst>
          </a:prstGeom>
          <a:solidFill>
            <a:schemeClr val="accent3">
              <a:alpha val="67000"/>
            </a:schemeClr>
          </a:solidFill>
          <a:ln/>
        </p:spPr>
        <p:txBody>
          <a:bodyPr/>
          <a:p/>
        </p:txBody>
      </p:sp>
      <p:sp>
        <p:nvSpPr>
          <p:cNvPr id="46" name="spatial token 4-7"/>
          <p:cNvSpPr/>
          <p:nvPr/>
        </p:nvSpPr>
        <p:spPr>
          <a:xfrm>
            <a:off x="10890504" y="3081528"/>
            <a:ext cx="365760" cy="365760"/>
          </a:xfrm>
          <a:prstGeom prst="roundRect">
            <a:avLst>
              <a:gd name="adj" fmla="val 12500"/>
            </a:avLst>
          </a:prstGeom>
          <a:solidFill>
            <a:schemeClr val="accent3">
              <a:alpha val="57000"/>
            </a:schemeClr>
          </a:solidFill>
          <a:ln/>
        </p:spPr>
        <p:txBody>
          <a:bodyPr/>
          <a:p/>
        </p:txBody>
      </p:sp>
      <p:sp>
        <p:nvSpPr>
          <p:cNvPr id="47" name="spatial token 5-0"/>
          <p:cNvSpPr/>
          <p:nvPr/>
        </p:nvSpPr>
        <p:spPr>
          <a:xfrm>
            <a:off x="7818120" y="3520440"/>
            <a:ext cx="365760" cy="365760"/>
          </a:xfrm>
          <a:prstGeom prst="roundRect">
            <a:avLst>
              <a:gd name="adj" fmla="val 12500"/>
            </a:avLst>
          </a:prstGeom>
          <a:solidFill>
            <a:schemeClr val="accent3">
              <a:alpha val="45000"/>
            </a:schemeClr>
          </a:solidFill>
          <a:ln/>
        </p:spPr>
        <p:txBody>
          <a:bodyPr/>
          <a:p/>
        </p:txBody>
      </p:sp>
      <p:sp>
        <p:nvSpPr>
          <p:cNvPr id="48" name="spatial token 5-1"/>
          <p:cNvSpPr/>
          <p:nvPr/>
        </p:nvSpPr>
        <p:spPr>
          <a:xfrm>
            <a:off x="8257032" y="3520440"/>
            <a:ext cx="365760" cy="365760"/>
          </a:xfrm>
          <a:prstGeom prst="roundRect">
            <a:avLst>
              <a:gd name="adj" fmla="val 12500"/>
            </a:avLst>
          </a:prstGeom>
          <a:solidFill>
            <a:schemeClr val="accent3">
              <a:alpha val="54000"/>
            </a:schemeClr>
          </a:solidFill>
          <a:ln/>
        </p:spPr>
        <p:txBody>
          <a:bodyPr/>
          <a:p/>
        </p:txBody>
      </p:sp>
      <p:sp>
        <p:nvSpPr>
          <p:cNvPr id="49" name="spatial token 5-2"/>
          <p:cNvSpPr/>
          <p:nvPr/>
        </p:nvSpPr>
        <p:spPr>
          <a:xfrm>
            <a:off x="8695944" y="3520440"/>
            <a:ext cx="365760" cy="365760"/>
          </a:xfrm>
          <a:prstGeom prst="roundRect">
            <a:avLst>
              <a:gd name="adj" fmla="val 12500"/>
            </a:avLst>
          </a:prstGeom>
          <a:solidFill>
            <a:schemeClr val="accent3">
              <a:alpha val="63000"/>
            </a:schemeClr>
          </a:solidFill>
          <a:ln/>
        </p:spPr>
        <p:txBody>
          <a:bodyPr/>
          <a:p/>
        </p:txBody>
      </p:sp>
      <p:sp>
        <p:nvSpPr>
          <p:cNvPr id="50" name="spatial token 5-3"/>
          <p:cNvSpPr/>
          <p:nvPr/>
        </p:nvSpPr>
        <p:spPr>
          <a:xfrm>
            <a:off x="9134856" y="3520440"/>
            <a:ext cx="365760" cy="365760"/>
          </a:xfrm>
          <a:prstGeom prst="roundRect">
            <a:avLst>
              <a:gd name="adj" fmla="val 12500"/>
            </a:avLst>
          </a:prstGeom>
          <a:solidFill>
            <a:schemeClr val="accent3">
              <a:alpha val="70000"/>
            </a:schemeClr>
          </a:solidFill>
          <a:ln/>
        </p:spPr>
        <p:txBody>
          <a:bodyPr/>
          <a:p/>
        </p:txBody>
      </p:sp>
      <p:sp>
        <p:nvSpPr>
          <p:cNvPr id="51" name="spatial token 5-4"/>
          <p:cNvSpPr/>
          <p:nvPr/>
        </p:nvSpPr>
        <p:spPr>
          <a:xfrm>
            <a:off x="9573768" y="3520440"/>
            <a:ext cx="365760" cy="365760"/>
          </a:xfrm>
          <a:prstGeom prst="roundRect">
            <a:avLst>
              <a:gd name="adj" fmla="val 12500"/>
            </a:avLst>
          </a:prstGeom>
          <a:solidFill>
            <a:schemeClr val="accent3">
              <a:alpha val="72000"/>
            </a:schemeClr>
          </a:solidFill>
          <a:ln/>
        </p:spPr>
        <p:txBody>
          <a:bodyPr/>
          <a:p/>
        </p:txBody>
      </p:sp>
      <p:sp>
        <p:nvSpPr>
          <p:cNvPr id="52" name="spatial token 5-5"/>
          <p:cNvSpPr/>
          <p:nvPr/>
        </p:nvSpPr>
        <p:spPr>
          <a:xfrm>
            <a:off x="10012680" y="3520440"/>
            <a:ext cx="365760" cy="365760"/>
          </a:xfrm>
          <a:prstGeom prst="roundRect">
            <a:avLst>
              <a:gd name="adj" fmla="val 12500"/>
            </a:avLst>
          </a:prstGeom>
          <a:solidFill>
            <a:schemeClr val="accent3">
              <a:alpha val="69000"/>
            </a:schemeClr>
          </a:solidFill>
          <a:ln/>
        </p:spPr>
        <p:txBody>
          <a:bodyPr/>
          <a:p/>
        </p:txBody>
      </p:sp>
      <p:sp>
        <p:nvSpPr>
          <p:cNvPr id="53" name="spatial token 5-6"/>
          <p:cNvSpPr/>
          <p:nvPr/>
        </p:nvSpPr>
        <p:spPr>
          <a:xfrm>
            <a:off x="10451592" y="3520440"/>
            <a:ext cx="365760" cy="365760"/>
          </a:xfrm>
          <a:prstGeom prst="roundRect">
            <a:avLst>
              <a:gd name="adj" fmla="val 12500"/>
            </a:avLst>
          </a:prstGeom>
          <a:solidFill>
            <a:schemeClr val="accent3">
              <a:alpha val="62000"/>
            </a:schemeClr>
          </a:solidFill>
          <a:ln/>
        </p:spPr>
        <p:txBody>
          <a:bodyPr/>
          <a:p/>
        </p:txBody>
      </p:sp>
      <p:sp>
        <p:nvSpPr>
          <p:cNvPr id="54" name="spatial token 5-7"/>
          <p:cNvSpPr/>
          <p:nvPr/>
        </p:nvSpPr>
        <p:spPr>
          <a:xfrm>
            <a:off x="10890504" y="3520440"/>
            <a:ext cx="365760" cy="365760"/>
          </a:xfrm>
          <a:prstGeom prst="roundRect">
            <a:avLst>
              <a:gd name="adj" fmla="val 12500"/>
            </a:avLst>
          </a:prstGeom>
          <a:solidFill>
            <a:schemeClr val="accent3">
              <a:alpha val="53000"/>
            </a:schemeClr>
          </a:solidFill>
          <a:ln/>
        </p:spPr>
        <p:txBody>
          <a:bodyPr/>
          <a:p/>
        </p:txBody>
      </p:sp>
      <p:sp>
        <p:nvSpPr>
          <p:cNvPr id="55" name="spatial token 6-0"/>
          <p:cNvSpPr/>
          <p:nvPr/>
        </p:nvSpPr>
        <p:spPr>
          <a:xfrm>
            <a:off x="7818120" y="3959352"/>
            <a:ext cx="365760" cy="365760"/>
          </a:xfrm>
          <a:prstGeom prst="roundRect">
            <a:avLst>
              <a:gd name="adj" fmla="val 12500"/>
            </a:avLst>
          </a:prstGeom>
          <a:solidFill>
            <a:schemeClr val="accent3">
              <a:alpha val="39000"/>
            </a:schemeClr>
          </a:solidFill>
          <a:ln/>
        </p:spPr>
        <p:txBody>
          <a:bodyPr/>
          <a:p/>
        </p:txBody>
      </p:sp>
      <p:sp>
        <p:nvSpPr>
          <p:cNvPr id="56" name="spatial token 6-1"/>
          <p:cNvSpPr/>
          <p:nvPr/>
        </p:nvSpPr>
        <p:spPr>
          <a:xfrm>
            <a:off x="8257032" y="3959352"/>
            <a:ext cx="365760" cy="365760"/>
          </a:xfrm>
          <a:prstGeom prst="roundRect">
            <a:avLst>
              <a:gd name="adj" fmla="val 12500"/>
            </a:avLst>
          </a:prstGeom>
          <a:solidFill>
            <a:schemeClr val="accent3">
              <a:alpha val="48000"/>
            </a:schemeClr>
          </a:solidFill>
          <a:ln/>
        </p:spPr>
        <p:txBody>
          <a:bodyPr/>
          <a:p/>
        </p:txBody>
      </p:sp>
      <p:sp>
        <p:nvSpPr>
          <p:cNvPr id="57" name="spatial token 6-2"/>
          <p:cNvSpPr/>
          <p:nvPr/>
        </p:nvSpPr>
        <p:spPr>
          <a:xfrm>
            <a:off x="8695944" y="3959352"/>
            <a:ext cx="365760" cy="365760"/>
          </a:xfrm>
          <a:prstGeom prst="roundRect">
            <a:avLst>
              <a:gd name="adj" fmla="val 12500"/>
            </a:avLst>
          </a:prstGeom>
          <a:solidFill>
            <a:schemeClr val="accent3">
              <a:alpha val="55000"/>
            </a:schemeClr>
          </a:solidFill>
          <a:ln/>
        </p:spPr>
        <p:txBody>
          <a:bodyPr/>
          <a:p/>
        </p:txBody>
      </p:sp>
      <p:sp>
        <p:nvSpPr>
          <p:cNvPr id="58" name="spatial token 6-3"/>
          <p:cNvSpPr/>
          <p:nvPr/>
        </p:nvSpPr>
        <p:spPr>
          <a:xfrm>
            <a:off x="9134856" y="3959352"/>
            <a:ext cx="365760" cy="365760"/>
          </a:xfrm>
          <a:prstGeom prst="roundRect">
            <a:avLst>
              <a:gd name="adj" fmla="val 12500"/>
            </a:avLst>
          </a:prstGeom>
          <a:solidFill>
            <a:schemeClr val="accent3">
              <a:alpha val="60000"/>
            </a:schemeClr>
          </a:solidFill>
          <a:ln/>
        </p:spPr>
        <p:txBody>
          <a:bodyPr/>
          <a:p/>
        </p:txBody>
      </p:sp>
      <p:sp>
        <p:nvSpPr>
          <p:cNvPr id="59" name="spatial token 6-4"/>
          <p:cNvSpPr/>
          <p:nvPr/>
        </p:nvSpPr>
        <p:spPr>
          <a:xfrm>
            <a:off x="9573768" y="3959352"/>
            <a:ext cx="365760" cy="365760"/>
          </a:xfrm>
          <a:prstGeom prst="roundRect">
            <a:avLst>
              <a:gd name="adj" fmla="val 12500"/>
            </a:avLst>
          </a:prstGeom>
          <a:solidFill>
            <a:schemeClr val="accent3">
              <a:alpha val="61000"/>
            </a:schemeClr>
          </a:solidFill>
          <a:ln/>
        </p:spPr>
        <p:txBody>
          <a:bodyPr/>
          <a:p/>
        </p:txBody>
      </p:sp>
      <p:sp>
        <p:nvSpPr>
          <p:cNvPr id="60" name="spatial token 6-5"/>
          <p:cNvSpPr/>
          <p:nvPr/>
        </p:nvSpPr>
        <p:spPr>
          <a:xfrm>
            <a:off x="10012680" y="3959352"/>
            <a:ext cx="365760" cy="365760"/>
          </a:xfrm>
          <a:prstGeom prst="roundRect">
            <a:avLst>
              <a:gd name="adj" fmla="val 12500"/>
            </a:avLst>
          </a:prstGeom>
          <a:solidFill>
            <a:schemeClr val="accent3">
              <a:alpha val="59000"/>
            </a:schemeClr>
          </a:solidFill>
          <a:ln/>
        </p:spPr>
        <p:txBody>
          <a:bodyPr/>
          <a:p/>
        </p:txBody>
      </p:sp>
      <p:sp>
        <p:nvSpPr>
          <p:cNvPr id="61" name="spatial token 6-6"/>
          <p:cNvSpPr/>
          <p:nvPr/>
        </p:nvSpPr>
        <p:spPr>
          <a:xfrm>
            <a:off x="10451592" y="3959352"/>
            <a:ext cx="365760" cy="365760"/>
          </a:xfrm>
          <a:prstGeom prst="roundRect">
            <a:avLst>
              <a:gd name="adj" fmla="val 12500"/>
            </a:avLst>
          </a:prstGeom>
          <a:solidFill>
            <a:schemeClr val="accent3">
              <a:alpha val="53000"/>
            </a:schemeClr>
          </a:solidFill>
          <a:ln/>
        </p:spPr>
        <p:txBody>
          <a:bodyPr/>
          <a:p/>
        </p:txBody>
      </p:sp>
      <p:sp>
        <p:nvSpPr>
          <p:cNvPr id="62" name="spatial token 6-7"/>
          <p:cNvSpPr/>
          <p:nvPr/>
        </p:nvSpPr>
        <p:spPr>
          <a:xfrm>
            <a:off x="10890504" y="3959352"/>
            <a:ext cx="365760" cy="365760"/>
          </a:xfrm>
          <a:prstGeom prst="roundRect">
            <a:avLst>
              <a:gd name="adj" fmla="val 12500"/>
            </a:avLst>
          </a:prstGeom>
          <a:solidFill>
            <a:schemeClr val="accent3">
              <a:alpha val="46000"/>
            </a:schemeClr>
          </a:solidFill>
          <a:ln/>
        </p:spPr>
        <p:txBody>
          <a:bodyPr/>
          <a:p/>
        </p:txBody>
      </p:sp>
      <p:sp>
        <p:nvSpPr>
          <p:cNvPr id="63" name="spatial token 7-0"/>
          <p:cNvSpPr/>
          <p:nvPr/>
        </p:nvSpPr>
        <p:spPr>
          <a:xfrm>
            <a:off x="7818120" y="4398264"/>
            <a:ext cx="365760" cy="365760"/>
          </a:xfrm>
          <a:prstGeom prst="roundRect">
            <a:avLst>
              <a:gd name="adj" fmla="val 12500"/>
            </a:avLst>
          </a:prstGeom>
          <a:solidFill>
            <a:schemeClr val="accent3">
              <a:alpha val="32000"/>
            </a:schemeClr>
          </a:solidFill>
          <a:ln/>
        </p:spPr>
        <p:txBody>
          <a:bodyPr/>
          <a:p/>
        </p:txBody>
      </p:sp>
      <p:sp>
        <p:nvSpPr>
          <p:cNvPr id="64" name="spatial token 7-1"/>
          <p:cNvSpPr/>
          <p:nvPr/>
        </p:nvSpPr>
        <p:spPr>
          <a:xfrm>
            <a:off x="8257032" y="4398264"/>
            <a:ext cx="365760" cy="365760"/>
          </a:xfrm>
          <a:prstGeom prst="roundRect">
            <a:avLst>
              <a:gd name="adj" fmla="val 12500"/>
            </a:avLst>
          </a:prstGeom>
          <a:solidFill>
            <a:schemeClr val="accent3">
              <a:alpha val="39000"/>
            </a:schemeClr>
          </a:solidFill>
          <a:ln/>
        </p:spPr>
        <p:txBody>
          <a:bodyPr/>
          <a:p/>
        </p:txBody>
      </p:sp>
      <p:sp>
        <p:nvSpPr>
          <p:cNvPr id="65" name="spatial token 7-2"/>
          <p:cNvSpPr/>
          <p:nvPr/>
        </p:nvSpPr>
        <p:spPr>
          <a:xfrm>
            <a:off x="8695944" y="4398264"/>
            <a:ext cx="365760" cy="365760"/>
          </a:xfrm>
          <a:prstGeom prst="roundRect">
            <a:avLst>
              <a:gd name="adj" fmla="val 12500"/>
            </a:avLst>
          </a:prstGeom>
          <a:solidFill>
            <a:schemeClr val="accent3">
              <a:alpha val="45000"/>
            </a:schemeClr>
          </a:solidFill>
          <a:ln/>
        </p:spPr>
        <p:txBody>
          <a:bodyPr/>
          <a:p/>
        </p:txBody>
      </p:sp>
      <p:sp>
        <p:nvSpPr>
          <p:cNvPr id="66" name="spatial token 7-3"/>
          <p:cNvSpPr/>
          <p:nvPr/>
        </p:nvSpPr>
        <p:spPr>
          <a:xfrm>
            <a:off x="9134856" y="4398264"/>
            <a:ext cx="365760" cy="365760"/>
          </a:xfrm>
          <a:prstGeom prst="roundRect">
            <a:avLst>
              <a:gd name="adj" fmla="val 12500"/>
            </a:avLst>
          </a:prstGeom>
          <a:solidFill>
            <a:schemeClr val="accent3">
              <a:alpha val="49000"/>
            </a:schemeClr>
          </a:solidFill>
          <a:ln/>
        </p:spPr>
        <p:txBody>
          <a:bodyPr/>
          <a:p/>
        </p:txBody>
      </p:sp>
      <p:sp>
        <p:nvSpPr>
          <p:cNvPr id="67" name="spatial token 7-4"/>
          <p:cNvSpPr/>
          <p:nvPr/>
        </p:nvSpPr>
        <p:spPr>
          <a:xfrm>
            <a:off x="9573768" y="4398264"/>
            <a:ext cx="365760" cy="365760"/>
          </a:xfrm>
          <a:prstGeom prst="roundRect">
            <a:avLst>
              <a:gd name="adj" fmla="val 12500"/>
            </a:avLst>
          </a:prstGeom>
          <a:solidFill>
            <a:schemeClr val="accent3">
              <a:alpha val="50000"/>
            </a:schemeClr>
          </a:solidFill>
          <a:ln/>
        </p:spPr>
        <p:txBody>
          <a:bodyPr/>
          <a:p/>
        </p:txBody>
      </p:sp>
      <p:sp>
        <p:nvSpPr>
          <p:cNvPr id="68" name="spatial token 7-5"/>
          <p:cNvSpPr/>
          <p:nvPr/>
        </p:nvSpPr>
        <p:spPr>
          <a:xfrm>
            <a:off x="10012680" y="4398264"/>
            <a:ext cx="365760" cy="365760"/>
          </a:xfrm>
          <a:prstGeom prst="roundRect">
            <a:avLst>
              <a:gd name="adj" fmla="val 12500"/>
            </a:avLst>
          </a:prstGeom>
          <a:solidFill>
            <a:schemeClr val="accent3">
              <a:alpha val="48000"/>
            </a:schemeClr>
          </a:solidFill>
          <a:ln/>
        </p:spPr>
        <p:txBody>
          <a:bodyPr/>
          <a:p/>
        </p:txBody>
      </p:sp>
      <p:sp>
        <p:nvSpPr>
          <p:cNvPr id="69" name="spatial token 7-6"/>
          <p:cNvSpPr/>
          <p:nvPr/>
        </p:nvSpPr>
        <p:spPr>
          <a:xfrm>
            <a:off x="10451592" y="4398264"/>
            <a:ext cx="365760" cy="365760"/>
          </a:xfrm>
          <a:prstGeom prst="roundRect">
            <a:avLst>
              <a:gd name="adj" fmla="val 12500"/>
            </a:avLst>
          </a:prstGeom>
          <a:solidFill>
            <a:schemeClr val="accent3">
              <a:alpha val="44000"/>
            </a:schemeClr>
          </a:solidFill>
          <a:ln/>
        </p:spPr>
        <p:txBody>
          <a:bodyPr/>
          <a:p/>
        </p:txBody>
      </p:sp>
      <p:sp>
        <p:nvSpPr>
          <p:cNvPr id="70" name="spatial token 7-7"/>
          <p:cNvSpPr/>
          <p:nvPr/>
        </p:nvSpPr>
        <p:spPr>
          <a:xfrm>
            <a:off x="10890504" y="4398264"/>
            <a:ext cx="365760" cy="365760"/>
          </a:xfrm>
          <a:prstGeom prst="roundRect">
            <a:avLst>
              <a:gd name="adj" fmla="val 12500"/>
            </a:avLst>
          </a:prstGeom>
          <a:solidFill>
            <a:schemeClr val="accent3">
              <a:alpha val="38000"/>
            </a:schemeClr>
          </a:solidFill>
          <a:ln/>
        </p:spPr>
        <p:txBody>
          <a:bodyPr/>
          <a:p/>
        </p:txBody>
      </p:sp>
      <p:sp>
        <p:nvSpPr>
          <p:cNvPr id="71" name="Text 69"/>
          <p:cNvSpPr txBox="1"/>
          <p:nvPr/>
        </p:nvSpPr>
        <p:spPr>
          <a:xfrm>
            <a:off x="7818120" y="4855464"/>
            <a:ext cx="3511296" cy="292608"/>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64 spatial tokens · 3D MRI</a:t>
            </a:r>
            <a:endParaRPr lang="en-US" sz="1400" dirty="0"/>
          </a:p>
        </p:txBody>
      </p:sp>
      <p:sp>
        <p:nvSpPr>
          <p:cNvPr id="72" name="temporal token 0"/>
          <p:cNvSpPr/>
          <p:nvPr/>
        </p:nvSpPr>
        <p:spPr>
          <a:xfrm>
            <a:off x="7818120" y="5406847"/>
            <a:ext cx="182880" cy="308153"/>
          </a:xfrm>
          <a:prstGeom prst="roundRect">
            <a:avLst>
              <a:gd name="adj" fmla="val 20000"/>
            </a:avLst>
          </a:prstGeom>
          <a:solidFill>
            <a:schemeClr val="accent2"/>
          </a:solidFill>
          <a:ln/>
        </p:spPr>
        <p:txBody>
          <a:bodyPr/>
          <a:p/>
        </p:txBody>
      </p:sp>
      <p:sp>
        <p:nvSpPr>
          <p:cNvPr id="73" name="temporal token 1"/>
          <p:cNvSpPr/>
          <p:nvPr/>
        </p:nvSpPr>
        <p:spPr>
          <a:xfrm>
            <a:off x="8062722" y="5435194"/>
            <a:ext cx="182880" cy="279806"/>
          </a:xfrm>
          <a:prstGeom prst="roundRect">
            <a:avLst>
              <a:gd name="adj" fmla="val 20000"/>
            </a:avLst>
          </a:prstGeom>
          <a:solidFill>
            <a:schemeClr val="accent2"/>
          </a:solidFill>
          <a:ln/>
        </p:spPr>
        <p:txBody>
          <a:bodyPr/>
          <a:p/>
        </p:txBody>
      </p:sp>
      <p:sp>
        <p:nvSpPr>
          <p:cNvPr id="74" name="temporal token 2"/>
          <p:cNvSpPr/>
          <p:nvPr/>
        </p:nvSpPr>
        <p:spPr>
          <a:xfrm>
            <a:off x="8307324" y="5463540"/>
            <a:ext cx="182880" cy="251460"/>
          </a:xfrm>
          <a:prstGeom prst="roundRect">
            <a:avLst>
              <a:gd name="adj" fmla="val 20000"/>
            </a:avLst>
          </a:prstGeom>
          <a:solidFill>
            <a:schemeClr val="accent2"/>
          </a:solidFill>
          <a:ln/>
        </p:spPr>
        <p:txBody>
          <a:bodyPr/>
          <a:p/>
        </p:txBody>
      </p:sp>
      <p:sp>
        <p:nvSpPr>
          <p:cNvPr id="75" name="temporal token 3"/>
          <p:cNvSpPr/>
          <p:nvPr/>
        </p:nvSpPr>
        <p:spPr>
          <a:xfrm>
            <a:off x="8551926" y="5491886"/>
            <a:ext cx="182880" cy="223114"/>
          </a:xfrm>
          <a:prstGeom prst="roundRect">
            <a:avLst>
              <a:gd name="adj" fmla="val 20000"/>
            </a:avLst>
          </a:prstGeom>
          <a:solidFill>
            <a:schemeClr val="accent2"/>
          </a:solidFill>
          <a:ln/>
        </p:spPr>
        <p:txBody>
          <a:bodyPr/>
          <a:p/>
        </p:txBody>
      </p:sp>
      <p:sp>
        <p:nvSpPr>
          <p:cNvPr id="76" name="temporal token 4"/>
          <p:cNvSpPr/>
          <p:nvPr/>
        </p:nvSpPr>
        <p:spPr>
          <a:xfrm>
            <a:off x="8796528" y="5321808"/>
            <a:ext cx="182880" cy="393192"/>
          </a:xfrm>
          <a:prstGeom prst="roundRect">
            <a:avLst>
              <a:gd name="adj" fmla="val 20000"/>
            </a:avLst>
          </a:prstGeom>
          <a:solidFill>
            <a:schemeClr val="accent2"/>
          </a:solidFill>
          <a:ln/>
        </p:spPr>
        <p:txBody>
          <a:bodyPr/>
          <a:p/>
        </p:txBody>
      </p:sp>
      <p:sp>
        <p:nvSpPr>
          <p:cNvPr id="77" name="temporal token 5"/>
          <p:cNvSpPr/>
          <p:nvPr/>
        </p:nvSpPr>
        <p:spPr>
          <a:xfrm>
            <a:off x="9041130" y="5066690"/>
            <a:ext cx="182880" cy="648310"/>
          </a:xfrm>
          <a:prstGeom prst="roundRect">
            <a:avLst>
              <a:gd name="adj" fmla="val 20000"/>
            </a:avLst>
          </a:prstGeom>
          <a:solidFill>
            <a:schemeClr val="accent2"/>
          </a:solidFill>
          <a:ln/>
        </p:spPr>
        <p:txBody>
          <a:bodyPr/>
          <a:p/>
        </p:txBody>
      </p:sp>
      <p:sp>
        <p:nvSpPr>
          <p:cNvPr id="78" name="temporal token 6"/>
          <p:cNvSpPr/>
          <p:nvPr/>
        </p:nvSpPr>
        <p:spPr>
          <a:xfrm>
            <a:off x="9285732" y="5038344"/>
            <a:ext cx="182880" cy="676656"/>
          </a:xfrm>
          <a:prstGeom prst="roundRect">
            <a:avLst>
              <a:gd name="adj" fmla="val 20000"/>
            </a:avLst>
          </a:prstGeom>
          <a:solidFill>
            <a:schemeClr val="accent2"/>
          </a:solidFill>
          <a:ln/>
        </p:spPr>
        <p:txBody>
          <a:bodyPr/>
          <a:p/>
        </p:txBody>
      </p:sp>
      <p:sp>
        <p:nvSpPr>
          <p:cNvPr id="79" name="temporal token 7"/>
          <p:cNvSpPr/>
          <p:nvPr/>
        </p:nvSpPr>
        <p:spPr>
          <a:xfrm>
            <a:off x="9530334" y="5265115"/>
            <a:ext cx="182880" cy="449885"/>
          </a:xfrm>
          <a:prstGeom prst="roundRect">
            <a:avLst>
              <a:gd name="adj" fmla="val 20000"/>
            </a:avLst>
          </a:prstGeom>
          <a:solidFill>
            <a:schemeClr val="accent2"/>
          </a:solidFill>
          <a:ln/>
        </p:spPr>
        <p:txBody>
          <a:bodyPr/>
          <a:p/>
        </p:txBody>
      </p:sp>
      <p:sp>
        <p:nvSpPr>
          <p:cNvPr id="80" name="temporal token 8"/>
          <p:cNvSpPr/>
          <p:nvPr/>
        </p:nvSpPr>
        <p:spPr>
          <a:xfrm>
            <a:off x="9774936" y="5435194"/>
            <a:ext cx="182880" cy="279806"/>
          </a:xfrm>
          <a:prstGeom prst="roundRect">
            <a:avLst>
              <a:gd name="adj" fmla="val 20000"/>
            </a:avLst>
          </a:prstGeom>
          <a:solidFill>
            <a:schemeClr val="accent2"/>
          </a:solidFill>
          <a:ln/>
        </p:spPr>
        <p:txBody>
          <a:bodyPr/>
          <a:p/>
        </p:txBody>
      </p:sp>
      <p:sp>
        <p:nvSpPr>
          <p:cNvPr id="81" name="temporal token 9"/>
          <p:cNvSpPr/>
          <p:nvPr/>
        </p:nvSpPr>
        <p:spPr>
          <a:xfrm>
            <a:off x="10019538" y="5548579"/>
            <a:ext cx="182880" cy="166421"/>
          </a:xfrm>
          <a:prstGeom prst="roundRect">
            <a:avLst>
              <a:gd name="adj" fmla="val 21978"/>
            </a:avLst>
          </a:prstGeom>
          <a:solidFill>
            <a:schemeClr val="accent2"/>
          </a:solidFill>
          <a:ln/>
        </p:spPr>
        <p:txBody>
          <a:bodyPr/>
          <a:p/>
        </p:txBody>
      </p:sp>
      <p:sp>
        <p:nvSpPr>
          <p:cNvPr id="82" name="temporal token 10"/>
          <p:cNvSpPr/>
          <p:nvPr/>
        </p:nvSpPr>
        <p:spPr>
          <a:xfrm>
            <a:off x="10264140" y="5491886"/>
            <a:ext cx="182880" cy="223114"/>
          </a:xfrm>
          <a:prstGeom prst="roundRect">
            <a:avLst>
              <a:gd name="adj" fmla="val 20000"/>
            </a:avLst>
          </a:prstGeom>
          <a:solidFill>
            <a:schemeClr val="accent2"/>
          </a:solidFill>
          <a:ln/>
        </p:spPr>
        <p:txBody>
          <a:bodyPr/>
          <a:p/>
        </p:txBody>
      </p:sp>
      <p:sp>
        <p:nvSpPr>
          <p:cNvPr id="83" name="temporal token 11"/>
          <p:cNvSpPr/>
          <p:nvPr/>
        </p:nvSpPr>
        <p:spPr>
          <a:xfrm>
            <a:off x="10508742" y="5265115"/>
            <a:ext cx="182880" cy="449885"/>
          </a:xfrm>
          <a:prstGeom prst="roundRect">
            <a:avLst>
              <a:gd name="adj" fmla="val 20000"/>
            </a:avLst>
          </a:prstGeom>
          <a:solidFill>
            <a:schemeClr val="accent2"/>
          </a:solidFill>
          <a:ln/>
        </p:spPr>
        <p:txBody>
          <a:bodyPr/>
          <a:p/>
        </p:txBody>
      </p:sp>
      <p:sp>
        <p:nvSpPr>
          <p:cNvPr id="84" name="temporal token 12"/>
          <p:cNvSpPr/>
          <p:nvPr/>
        </p:nvSpPr>
        <p:spPr>
          <a:xfrm>
            <a:off x="10753344" y="5151730"/>
            <a:ext cx="182880" cy="563270"/>
          </a:xfrm>
          <a:prstGeom prst="roundRect">
            <a:avLst>
              <a:gd name="adj" fmla="val 20000"/>
            </a:avLst>
          </a:prstGeom>
          <a:solidFill>
            <a:schemeClr val="accent2"/>
          </a:solidFill>
          <a:ln/>
        </p:spPr>
        <p:txBody>
          <a:bodyPr/>
          <a:p/>
        </p:txBody>
      </p:sp>
      <p:sp>
        <p:nvSpPr>
          <p:cNvPr id="85" name="temporal token 13"/>
          <p:cNvSpPr/>
          <p:nvPr/>
        </p:nvSpPr>
        <p:spPr>
          <a:xfrm>
            <a:off x="10997946" y="5321808"/>
            <a:ext cx="182880" cy="393192"/>
          </a:xfrm>
          <a:prstGeom prst="roundRect">
            <a:avLst>
              <a:gd name="adj" fmla="val 20000"/>
            </a:avLst>
          </a:prstGeom>
          <a:solidFill>
            <a:schemeClr val="accent2"/>
          </a:solidFill>
          <a:ln/>
        </p:spPr>
        <p:txBody>
          <a:bodyPr/>
          <a:p/>
        </p:txBody>
      </p:sp>
      <p:sp>
        <p:nvSpPr>
          <p:cNvPr id="86" name="temporal token 14"/>
          <p:cNvSpPr/>
          <p:nvPr/>
        </p:nvSpPr>
        <p:spPr>
          <a:xfrm>
            <a:off x="11242548" y="5435194"/>
            <a:ext cx="182880" cy="279806"/>
          </a:xfrm>
          <a:prstGeom prst="roundRect">
            <a:avLst>
              <a:gd name="adj" fmla="val 20000"/>
            </a:avLst>
          </a:prstGeom>
          <a:solidFill>
            <a:schemeClr val="accent2"/>
          </a:solidFill>
          <a:ln/>
        </p:spPr>
        <p:txBody>
          <a:bodyPr/>
          <a:p/>
        </p:txBody>
      </p:sp>
      <p:sp>
        <p:nvSpPr>
          <p:cNvPr id="87" name="temporal token 15"/>
          <p:cNvSpPr/>
          <p:nvPr/>
        </p:nvSpPr>
        <p:spPr>
          <a:xfrm>
            <a:off x="11487150" y="5463540"/>
            <a:ext cx="182880" cy="251460"/>
          </a:xfrm>
          <a:prstGeom prst="roundRect">
            <a:avLst>
              <a:gd name="adj" fmla="val 20000"/>
            </a:avLst>
          </a:prstGeom>
          <a:solidFill>
            <a:schemeClr val="accent2"/>
          </a:solidFill>
          <a:ln/>
        </p:spPr>
        <p:txBody>
          <a:bodyPr/>
          <a:p/>
        </p:txBody>
      </p:sp>
      <p:sp>
        <p:nvSpPr>
          <p:cNvPr id="88" name="Text 86"/>
          <p:cNvSpPr txBox="1"/>
          <p:nvPr/>
        </p:nvSpPr>
        <p:spPr>
          <a:xfrm>
            <a:off x="7818120" y="5769864"/>
            <a:ext cx="3511296" cy="292608"/>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16 temporal tokens · 1D VEP / spectrum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MRI shows where, VEP shows when</a:t>
            </a:r>
            <a:endParaRPr lang="en-US" sz="3600" dirty="0"/>
          </a:p>
        </p:txBody>
      </p:sp>
      <p:sp>
        <p:nvSpPr>
          <p:cNvPr id="3" name="prevalence card"/>
          <p:cNvSpPr/>
          <p:nvPr/>
        </p:nvSpPr>
        <p:spPr>
          <a:xfrm>
            <a:off x="548640" y="1325880"/>
            <a:ext cx="3566160"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globe badge"/>
          <p:cNvSpPr/>
          <p:nvPr/>
        </p:nvSpPr>
        <p:spPr>
          <a:xfrm>
            <a:off x="777240" y="1508760"/>
            <a:ext cx="566928" cy="566928"/>
          </a:xfrm>
          <a:prstGeom prst="ellipse">
            <a:avLst/>
          </a:prstGeom>
          <a:solidFill>
            <a:schemeClr val="accent1"/>
          </a:solidFill>
          <a:ln/>
        </p:spPr>
        <p:txBody>
          <a:bodyPr/>
          <a:p/>
        </p:txBody>
      </p:sp>
      <p:pic>
        <p:nvPicPr>
          <p:cNvPr id="5" name="globe icon" descr="globe">    </p:cNvPr>
          <p:cNvPicPr>
            <a:picLocks noChangeAspect="1"/>
          </p:cNvPicPr>
          <p:nvPr/>
        </p:nvPicPr>
        <p:blipFill>
          <a:blip r:embed="rId1"/>
          <a:stretch>
            <a:fillRect/>
          </a:stretch>
        </p:blipFill>
        <p:spPr>
          <a:xfrm>
            <a:off x="918972" y="1650492"/>
            <a:ext cx="283464" cy="283464"/>
          </a:xfrm>
          <a:prstGeom prst="rect">
            <a:avLst/>
          </a:prstGeom>
        </p:spPr>
      </p:pic>
      <p:sp>
        <p:nvSpPr>
          <p:cNvPr id="6" name="Text 3"/>
          <p:cNvSpPr txBox="1"/>
          <p:nvPr/>
        </p:nvSpPr>
        <p:spPr>
          <a:xfrm>
            <a:off x="777240" y="2194560"/>
            <a:ext cx="3108960" cy="7772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64.3 M</a:t>
            </a:r>
            <a:endParaRPr lang="en-US" sz="5400" dirty="0"/>
          </a:p>
        </p:txBody>
      </p:sp>
      <p:sp>
        <p:nvSpPr>
          <p:cNvPr id="7" name="Text 4"/>
          <p:cNvSpPr txBox="1"/>
          <p:nvPr/>
        </p:nvSpPr>
        <p:spPr>
          <a:xfrm>
            <a:off x="777240" y="3063240"/>
            <a:ext cx="3108960" cy="10972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people estimated to live with glaucoma worldwide in 2013 (ages 40–80, prevalence 3.54%)</a:t>
            </a:r>
            <a:endParaRPr lang="en-US" sz="1400" dirty="0"/>
          </a:p>
        </p:txBody>
      </p:sp>
      <p:sp>
        <p:nvSpPr>
          <p:cNvPr id="8" name="fig_motivation card"/>
          <p:cNvSpPr/>
          <p:nvPr/>
        </p:nvSpPr>
        <p:spPr>
          <a:xfrm>
            <a:off x="4343400" y="1325880"/>
            <a:ext cx="7299655"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9" name="fig_motivation" descr="fig motivation">    </p:cNvPr>
          <p:cNvPicPr>
            <a:picLocks noChangeAspect="1"/>
          </p:cNvPicPr>
          <p:nvPr/>
        </p:nvPicPr>
        <p:blipFill>
          <a:blip r:embed="rId2"/>
          <a:stretch>
            <a:fillRect/>
          </a:stretch>
        </p:blipFill>
        <p:spPr>
          <a:xfrm>
            <a:off x="4480560" y="1514330"/>
            <a:ext cx="7025335" cy="2686340"/>
          </a:xfrm>
          <a:prstGeom prst="rect">
            <a:avLst/>
          </a:prstGeom>
        </p:spPr>
      </p:pic>
      <p:sp>
        <p:nvSpPr>
          <p:cNvPr id="10" name="question banner"/>
          <p:cNvSpPr/>
          <p:nvPr/>
        </p:nvSpPr>
        <p:spPr>
          <a:xfrm>
            <a:off x="548640" y="4617720"/>
            <a:ext cx="11094415" cy="1554480"/>
          </a:xfrm>
          <a:prstGeom prst="roundRect">
            <a:avLst>
              <a:gd name="adj" fmla="val 5882"/>
            </a:avLst>
          </a:prstGeom>
          <a:solidFill>
            <a:schemeClr val="tx2"/>
          </a:solidFill>
          <a:ln/>
          <a:effectLst>
            <a:outerShdw sx="100000" sy="100000" kx="0" ky="0" algn="bl" rotWithShape="0" blurRad="101600" dist="25400" dir="5400000">
              <a:srgbClr val="12232B">
                <a:alpha val="12000"/>
              </a:srgbClr>
            </a:outerShdw>
          </a:effectLst>
        </p:spPr>
        <p:txBody>
          <a:bodyPr/>
          <a:p/>
        </p:txBody>
      </p:sp>
      <p:sp>
        <p:nvSpPr>
          <p:cNvPr id="11" name="question badge"/>
          <p:cNvSpPr/>
          <p:nvPr/>
        </p:nvSpPr>
        <p:spPr>
          <a:xfrm>
            <a:off x="868680" y="5120640"/>
            <a:ext cx="566928" cy="566928"/>
          </a:xfrm>
          <a:prstGeom prst="ellipse">
            <a:avLst/>
          </a:prstGeom>
          <a:solidFill>
            <a:schemeClr val="accent2"/>
          </a:solidFill>
          <a:ln/>
        </p:spPr>
        <p:txBody>
          <a:bodyPr/>
          <a:p/>
        </p:txBody>
      </p:sp>
      <p:pic>
        <p:nvPicPr>
          <p:cNvPr id="12" name="question icon" descr="question">    </p:cNvPr>
          <p:cNvPicPr>
            <a:picLocks noChangeAspect="1"/>
          </p:cNvPicPr>
          <p:nvPr/>
        </p:nvPicPr>
        <p:blipFill>
          <a:blip r:embed="rId3"/>
          <a:stretch>
            <a:fillRect/>
          </a:stretch>
        </p:blipFill>
        <p:spPr>
          <a:xfrm>
            <a:off x="1010412" y="5262372"/>
            <a:ext cx="283464" cy="283464"/>
          </a:xfrm>
          <a:prstGeom prst="rect">
            <a:avLst/>
          </a:prstGeom>
        </p:spPr>
      </p:pic>
      <p:sp>
        <p:nvSpPr>
          <p:cNvPr id="13" name="Text 8"/>
          <p:cNvSpPr txBox="1"/>
          <p:nvPr/>
        </p:nvSpPr>
        <p:spPr>
          <a:xfrm>
            <a:off x="1645920" y="4754880"/>
            <a:ext cx="3657600"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Our question</a:t>
            </a:r>
            <a:endParaRPr lang="en-US" sz="1400" dirty="0"/>
          </a:p>
        </p:txBody>
      </p:sp>
      <p:sp>
        <p:nvSpPr>
          <p:cNvPr id="14" name="Text 9"/>
          <p:cNvSpPr txBox="1"/>
          <p:nvPr/>
        </p:nvSpPr>
        <p:spPr>
          <a:xfrm>
            <a:off x="1645920" y="5074920"/>
            <a:ext cx="9539935" cy="914400"/>
          </a:xfrm>
          <a:prstGeom prst="rect">
            <a:avLst/>
          </a:prstGeom>
          <a:noFill/>
          <a:ln/>
        </p:spPr>
        <p:txBody>
          <a:bodyPr wrap="square" lIns="0" tIns="0" rIns="0" bIns="0" rtlCol="0" anchor="t"/>
          <a:lstStyle/>
          <a:p>
            <a:pPr indent="0" marL="0">
              <a:buNone/>
            </a:pPr>
            <a:r>
              <a:rPr lang="en-US" sz="2200" dirty="0">
                <a:solidFill>
                  <a:schemeClr val="bg1"/>
                </a:solidFill>
                <a:latin typeface="Cambria" pitchFamily="34" charset="0"/>
                <a:ea typeface="Cambria" pitchFamily="34" charset="-122"/>
                <a:cs typeface="Cambria" pitchFamily="34" charset="-120"/>
              </a:rPr>
              <a:t>Can each spatial region of the brain scan ask which temporal features of the signal are relevant to it, and can the signal ask which regions matter?</a:t>
            </a:r>
            <a:endParaRPr lang="en-US" sz="2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Four obstacles, four answers</a:t>
            </a:r>
            <a:endParaRPr lang="en-US" sz="3600" dirty="0"/>
          </a:p>
        </p:txBody>
      </p:sp>
      <p:sp>
        <p:nvSpPr>
          <p:cNvPr id="3" name="obstacle 1"/>
          <p:cNvSpPr/>
          <p:nvPr/>
        </p:nvSpPr>
        <p:spPr>
          <a:xfrm>
            <a:off x="548640" y="137160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Unimodal isolation badge"/>
          <p:cNvSpPr/>
          <p:nvPr/>
        </p:nvSpPr>
        <p:spPr>
          <a:xfrm>
            <a:off x="822960" y="1645920"/>
            <a:ext cx="640080" cy="640080"/>
          </a:xfrm>
          <a:prstGeom prst="ellipse">
            <a:avLst/>
          </a:prstGeom>
          <a:solidFill>
            <a:schemeClr val="accent1"/>
          </a:solidFill>
          <a:ln/>
        </p:spPr>
        <p:txBody>
          <a:bodyPr/>
          <a:p/>
        </p:txBody>
      </p:sp>
      <p:pic>
        <p:nvPicPr>
          <p:cNvPr id="5" name="Unimodal isolation icon" descr="Unimodal isolation">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6420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Unimodal isolation</a:t>
            </a:r>
            <a:endParaRPr lang="en-US" sz="2200" dirty="0"/>
          </a:p>
        </p:txBody>
      </p:sp>
      <p:sp>
        <p:nvSpPr>
          <p:cNvPr id="7" name="Text 4"/>
          <p:cNvSpPr txBox="1"/>
          <p:nvPr/>
        </p:nvSpPr>
        <p:spPr>
          <a:xfrm>
            <a:off x="822960" y="2468880"/>
            <a:ext cx="1371600" cy="27432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Answer</a:t>
            </a:r>
            <a:endParaRPr lang="en-US" sz="1400" dirty="0"/>
          </a:p>
        </p:txBody>
      </p:sp>
      <p:sp>
        <p:nvSpPr>
          <p:cNvPr id="8" name="Text 5"/>
          <p:cNvSpPr txBox="1"/>
          <p:nvPr/>
        </p:nvSpPr>
        <p:spPr>
          <a:xfrm>
            <a:off x="822960" y="274320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One network, two streams: an SE 3D residual CNN for MRI and a multi-scale 1D CNN for the signal, with a fused head and two auxiliary heads.</a:t>
            </a:r>
            <a:endParaRPr lang="en-US" sz="1600" dirty="0"/>
          </a:p>
        </p:txBody>
      </p:sp>
      <p:sp>
        <p:nvSpPr>
          <p:cNvPr id="9" name="obstacle 2"/>
          <p:cNvSpPr/>
          <p:nvPr/>
        </p:nvSpPr>
        <p:spPr>
          <a:xfrm>
            <a:off x="6233008" y="137160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Cross-modal heterogeneity badge"/>
          <p:cNvSpPr/>
          <p:nvPr/>
        </p:nvSpPr>
        <p:spPr>
          <a:xfrm>
            <a:off x="6507328" y="1645920"/>
            <a:ext cx="640080" cy="640080"/>
          </a:xfrm>
          <a:prstGeom prst="ellipse">
            <a:avLst/>
          </a:prstGeom>
          <a:solidFill>
            <a:schemeClr val="accent3"/>
          </a:solidFill>
          <a:ln/>
        </p:spPr>
        <p:txBody>
          <a:bodyPr/>
          <a:p/>
        </p:txBody>
      </p:sp>
      <p:pic>
        <p:nvPicPr>
          <p:cNvPr id="11" name="Cross-modal heterogeneity icon" descr="Cross-modal heterogeneity">    </p:cNvPr>
          <p:cNvPicPr>
            <a:picLocks noChangeAspect="1"/>
          </p:cNvPicPr>
          <p:nvPr/>
        </p:nvPicPr>
        <p:blipFill>
          <a:blip r:embed="rId2"/>
          <a:stretch>
            <a:fillRect/>
          </a:stretch>
        </p:blipFill>
        <p:spPr>
          <a:xfrm>
            <a:off x="6667348" y="1805940"/>
            <a:ext cx="320040" cy="320040"/>
          </a:xfrm>
          <a:prstGeom prst="rect">
            <a:avLst/>
          </a:prstGeom>
        </p:spPr>
      </p:pic>
      <p:sp>
        <p:nvSpPr>
          <p:cNvPr id="12" name="Text 8"/>
          <p:cNvSpPr txBox="1"/>
          <p:nvPr/>
        </p:nvSpPr>
        <p:spPr>
          <a:xfrm>
            <a:off x="7330288" y="166420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Cross-modal heterogeneity</a:t>
            </a:r>
            <a:endParaRPr lang="en-US" sz="2200" dirty="0"/>
          </a:p>
        </p:txBody>
      </p:sp>
      <p:sp>
        <p:nvSpPr>
          <p:cNvPr id="13" name="Text 9"/>
          <p:cNvSpPr txBox="1"/>
          <p:nvPr/>
        </p:nvSpPr>
        <p:spPr>
          <a:xfrm>
            <a:off x="6507328" y="2468880"/>
            <a:ext cx="1371600" cy="27432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Answer</a:t>
            </a:r>
            <a:endParaRPr lang="en-US" sz="1400" dirty="0"/>
          </a:p>
        </p:txBody>
      </p:sp>
      <p:sp>
        <p:nvSpPr>
          <p:cNvPr id="14" name="Text 10"/>
          <p:cNvSpPr txBox="1"/>
          <p:nvPr/>
        </p:nvSpPr>
        <p:spPr>
          <a:xfrm>
            <a:off x="6507328" y="274320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Gated bidirectional cross-attention: each stream queries the other, with learned gates that start half open.</a:t>
            </a:r>
            <a:endParaRPr lang="en-US" sz="1600" dirty="0"/>
          </a:p>
        </p:txBody>
      </p:sp>
      <p:sp>
        <p:nvSpPr>
          <p:cNvPr id="15" name="obstacle 3"/>
          <p:cNvSpPr/>
          <p:nvPr/>
        </p:nvSpPr>
        <p:spPr>
          <a:xfrm>
            <a:off x="548640" y="393192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6" name="Limited interpretability badge"/>
          <p:cNvSpPr/>
          <p:nvPr/>
        </p:nvSpPr>
        <p:spPr>
          <a:xfrm>
            <a:off x="822960" y="4206240"/>
            <a:ext cx="640080" cy="640080"/>
          </a:xfrm>
          <a:prstGeom prst="ellipse">
            <a:avLst/>
          </a:prstGeom>
          <a:solidFill>
            <a:schemeClr val="accent5"/>
          </a:solidFill>
          <a:ln/>
        </p:spPr>
        <p:txBody>
          <a:bodyPr/>
          <a:p/>
        </p:txBody>
      </p:sp>
      <p:pic>
        <p:nvPicPr>
          <p:cNvPr id="17" name="Limited interpretability icon" descr="Limited interpretability">    </p:cNvPr>
          <p:cNvPicPr>
            <a:picLocks noChangeAspect="1"/>
          </p:cNvPicPr>
          <p:nvPr/>
        </p:nvPicPr>
        <p:blipFill>
          <a:blip r:embed="rId3"/>
          <a:stretch>
            <a:fillRect/>
          </a:stretch>
        </p:blipFill>
        <p:spPr>
          <a:xfrm>
            <a:off x="982980" y="4366260"/>
            <a:ext cx="320040" cy="320040"/>
          </a:xfrm>
          <a:prstGeom prst="rect">
            <a:avLst/>
          </a:prstGeom>
        </p:spPr>
      </p:pic>
      <p:sp>
        <p:nvSpPr>
          <p:cNvPr id="18" name="Text 13"/>
          <p:cNvSpPr txBox="1"/>
          <p:nvPr/>
        </p:nvSpPr>
        <p:spPr>
          <a:xfrm>
            <a:off x="1645920" y="422452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Limited interpretability</a:t>
            </a:r>
            <a:endParaRPr lang="en-US" sz="2200" dirty="0"/>
          </a:p>
        </p:txBody>
      </p:sp>
      <p:sp>
        <p:nvSpPr>
          <p:cNvPr id="19" name="Text 14"/>
          <p:cNvSpPr txBox="1"/>
          <p:nvPr/>
        </p:nvSpPr>
        <p:spPr>
          <a:xfrm>
            <a:off x="822960" y="5029200"/>
            <a:ext cx="1371600" cy="27432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Answer</a:t>
            </a:r>
            <a:endParaRPr lang="en-US" sz="1400" dirty="0"/>
          </a:p>
        </p:txBody>
      </p:sp>
      <p:sp>
        <p:nvSpPr>
          <p:cNvPr id="20" name="Text 15"/>
          <p:cNvSpPr txBox="1"/>
          <p:nvPr/>
        </p:nvSpPr>
        <p:spPr>
          <a:xfrm>
            <a:off x="822960" y="530352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3D Grad-CAM and Grad-CAM++ plus per-head attention maps, used as inspection aids rather than explanations.</a:t>
            </a:r>
            <a:endParaRPr lang="en-US" sz="1600" dirty="0"/>
          </a:p>
        </p:txBody>
      </p:sp>
      <p:sp>
        <p:nvSpPr>
          <p:cNvPr id="21" name="obstacle 4"/>
          <p:cNvSpPr/>
          <p:nvPr/>
        </p:nvSpPr>
        <p:spPr>
          <a:xfrm>
            <a:off x="6233008" y="3931920"/>
            <a:ext cx="5410048" cy="2286000"/>
          </a:xfrm>
          <a:prstGeom prst="roundRect">
            <a:avLst>
              <a:gd name="adj" fmla="val 4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2" name="No paired public dataset badge"/>
          <p:cNvSpPr/>
          <p:nvPr/>
        </p:nvSpPr>
        <p:spPr>
          <a:xfrm>
            <a:off x="6507328" y="4206240"/>
            <a:ext cx="640080" cy="640080"/>
          </a:xfrm>
          <a:prstGeom prst="ellipse">
            <a:avLst/>
          </a:prstGeom>
          <a:solidFill>
            <a:schemeClr val="accent2"/>
          </a:solidFill>
          <a:ln/>
        </p:spPr>
        <p:txBody>
          <a:bodyPr/>
          <a:p/>
        </p:txBody>
      </p:sp>
      <p:pic>
        <p:nvPicPr>
          <p:cNvPr id="23" name="No paired public dataset icon" descr="No paired public dataset">    </p:cNvPr>
          <p:cNvPicPr>
            <a:picLocks noChangeAspect="1"/>
          </p:cNvPicPr>
          <p:nvPr/>
        </p:nvPicPr>
        <p:blipFill>
          <a:blip r:embed="rId4"/>
          <a:stretch>
            <a:fillRect/>
          </a:stretch>
        </p:blipFill>
        <p:spPr>
          <a:xfrm>
            <a:off x="6667348" y="4366260"/>
            <a:ext cx="320040" cy="320040"/>
          </a:xfrm>
          <a:prstGeom prst="rect">
            <a:avLst/>
          </a:prstGeom>
        </p:spPr>
      </p:pic>
      <p:sp>
        <p:nvSpPr>
          <p:cNvPr id="24" name="Text 18"/>
          <p:cNvSpPr txBox="1"/>
          <p:nvPr/>
        </p:nvSpPr>
        <p:spPr>
          <a:xfrm>
            <a:off x="7330288" y="4224528"/>
            <a:ext cx="403844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No paired public dataset</a:t>
            </a:r>
            <a:endParaRPr lang="en-US" sz="2200" dirty="0"/>
          </a:p>
        </p:txBody>
      </p:sp>
      <p:sp>
        <p:nvSpPr>
          <p:cNvPr id="25" name="Text 19"/>
          <p:cNvSpPr txBox="1"/>
          <p:nvPr/>
        </p:nvSpPr>
        <p:spPr>
          <a:xfrm>
            <a:off x="6507328" y="5029200"/>
            <a:ext cx="1371600" cy="27432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Answer</a:t>
            </a:r>
            <a:endParaRPr lang="en-US" sz="1400" dirty="0"/>
          </a:p>
        </p:txBody>
      </p:sp>
      <p:sp>
        <p:nvSpPr>
          <p:cNvPr id="26" name="Text 20"/>
          <p:cNvSpPr txBox="1"/>
          <p:nvPr/>
        </p:nvSpPr>
        <p:spPr>
          <a:xfrm>
            <a:off x="6507328" y="5303520"/>
            <a:ext cx="4861408" cy="777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A synthetic generator with tunable modality information, plus two public MRI + EEG/MEG cohorts as the closest real test.</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Three classes, three signatures</a:t>
            </a:r>
            <a:endParaRPr lang="en-US" sz="3600" dirty="0"/>
          </a:p>
        </p:txBody>
      </p:sp>
      <p:sp>
        <p:nvSpPr>
          <p:cNvPr id="3" name="class Healthy Control"/>
          <p:cNvSpPr/>
          <p:nvPr/>
        </p:nvSpPr>
        <p:spPr>
          <a:xfrm>
            <a:off x="548640"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Healthy Control badge"/>
          <p:cNvSpPr/>
          <p:nvPr/>
        </p:nvSpPr>
        <p:spPr>
          <a:xfrm>
            <a:off x="822960" y="1645920"/>
            <a:ext cx="640080" cy="640080"/>
          </a:xfrm>
          <a:prstGeom prst="ellipse">
            <a:avLst/>
          </a:prstGeom>
          <a:solidFill>
            <a:schemeClr val="accent4"/>
          </a:solidFill>
          <a:ln/>
        </p:spPr>
        <p:txBody>
          <a:bodyPr/>
          <a:p/>
        </p:txBody>
      </p:sp>
      <p:pic>
        <p:nvPicPr>
          <p:cNvPr id="5" name="Healthy Control icon" descr="Healthy Control">    </p:cNvPr>
          <p:cNvPicPr>
            <a:picLocks noChangeAspect="1"/>
          </p:cNvPicPr>
          <p:nvPr/>
        </p:nvPicPr>
        <p:blipFill>
          <a:blip r:embed="rId1"/>
          <a:stretch>
            <a:fillRect/>
          </a:stretch>
        </p:blipFill>
        <p:spPr>
          <a:xfrm>
            <a:off x="982980" y="1805940"/>
            <a:ext cx="320040" cy="320040"/>
          </a:xfrm>
          <a:prstGeom prst="rect">
            <a:avLst/>
          </a:prstGeom>
        </p:spPr>
      </p:pic>
      <p:sp>
        <p:nvSpPr>
          <p:cNvPr id="6" name="Text 3"/>
          <p:cNvSpPr txBox="1"/>
          <p:nvPr/>
        </p:nvSpPr>
        <p:spPr>
          <a:xfrm>
            <a:off x="1645920"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Healthy Control</a:t>
            </a:r>
            <a:endParaRPr lang="en-US" sz="2000" dirty="0"/>
          </a:p>
        </p:txBody>
      </p:sp>
      <p:sp>
        <p:nvSpPr>
          <p:cNvPr id="7" name="Text 4"/>
          <p:cNvSpPr txBox="1"/>
          <p:nvPr/>
        </p:nvSpPr>
        <p:spPr>
          <a:xfrm>
            <a:off x="822960" y="2560320"/>
            <a:ext cx="2966618" cy="914400"/>
          </a:xfrm>
          <a:prstGeom prst="rect">
            <a:avLst/>
          </a:prstGeom>
          <a:noFill/>
          <a:ln/>
        </p:spPr>
        <p:txBody>
          <a:bodyPr wrap="square" lIns="0" tIns="0" rIns="0" bIns="0" rtlCol="0" anchor="ctr"/>
          <a:lstStyle/>
          <a:p>
            <a:pPr indent="0" marL="0">
              <a:buNone/>
            </a:pPr>
            <a:r>
              <a:rPr lang="en-US" sz="5400" b="1" dirty="0">
                <a:solidFill>
                  <a:schemeClr val="accent4"/>
                </a:solidFill>
                <a:latin typeface="Cambria" pitchFamily="34" charset="0"/>
                <a:ea typeface="Cambria" pitchFamily="34" charset="-122"/>
                <a:cs typeface="Cambria" pitchFamily="34" charset="-120"/>
              </a:rPr>
              <a:t>100 ms</a:t>
            </a:r>
            <a:endParaRPr lang="en-US" sz="5400" dirty="0"/>
          </a:p>
        </p:txBody>
      </p:sp>
      <p:sp>
        <p:nvSpPr>
          <p:cNvPr id="8" name="Text 5"/>
          <p:cNvSpPr txBox="1"/>
          <p:nvPr/>
        </p:nvSpPr>
        <p:spPr>
          <a:xfrm>
            <a:off x="822960"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9" name="Text 6"/>
          <p:cNvSpPr txBox="1"/>
          <p:nvPr/>
        </p:nvSpPr>
        <p:spPr>
          <a:xfrm>
            <a:off x="822960"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No volume change in the MRI block; strong P100 (amplitude 6.0).</a:t>
            </a:r>
            <a:endParaRPr lang="en-US" sz="1600" dirty="0"/>
          </a:p>
        </p:txBody>
      </p:sp>
      <p:sp>
        <p:nvSpPr>
          <p:cNvPr id="10" name="class Glaucoma"/>
          <p:cNvSpPr/>
          <p:nvPr/>
        </p:nvSpPr>
        <p:spPr>
          <a:xfrm>
            <a:off x="4338218"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1" name="Glaucoma badge"/>
          <p:cNvSpPr/>
          <p:nvPr/>
        </p:nvSpPr>
        <p:spPr>
          <a:xfrm>
            <a:off x="4612538" y="1645920"/>
            <a:ext cx="640080" cy="640080"/>
          </a:xfrm>
          <a:prstGeom prst="ellipse">
            <a:avLst/>
          </a:prstGeom>
          <a:solidFill>
            <a:schemeClr val="accent2"/>
          </a:solidFill>
          <a:ln/>
        </p:spPr>
        <p:txBody>
          <a:bodyPr/>
          <a:p/>
        </p:txBody>
      </p:sp>
      <p:pic>
        <p:nvPicPr>
          <p:cNvPr id="12" name="Glaucoma icon" descr="Glaucoma">    </p:cNvPr>
          <p:cNvPicPr>
            <a:picLocks noChangeAspect="1"/>
          </p:cNvPicPr>
          <p:nvPr/>
        </p:nvPicPr>
        <p:blipFill>
          <a:blip r:embed="rId2"/>
          <a:stretch>
            <a:fillRect/>
          </a:stretch>
        </p:blipFill>
        <p:spPr>
          <a:xfrm>
            <a:off x="4772558" y="1805940"/>
            <a:ext cx="320040" cy="320040"/>
          </a:xfrm>
          <a:prstGeom prst="rect">
            <a:avLst/>
          </a:prstGeom>
        </p:spPr>
      </p:pic>
      <p:sp>
        <p:nvSpPr>
          <p:cNvPr id="13" name="Text 9"/>
          <p:cNvSpPr txBox="1"/>
          <p:nvPr/>
        </p:nvSpPr>
        <p:spPr>
          <a:xfrm>
            <a:off x="5435498"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Glaucoma</a:t>
            </a:r>
            <a:endParaRPr lang="en-US" sz="2000" dirty="0"/>
          </a:p>
        </p:txBody>
      </p:sp>
      <p:sp>
        <p:nvSpPr>
          <p:cNvPr id="14" name="Text 10"/>
          <p:cNvSpPr txBox="1"/>
          <p:nvPr/>
        </p:nvSpPr>
        <p:spPr>
          <a:xfrm>
            <a:off x="4612538" y="2560320"/>
            <a:ext cx="2966618" cy="91440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108 ms</a:t>
            </a:r>
            <a:endParaRPr lang="en-US" sz="5400" dirty="0"/>
          </a:p>
        </p:txBody>
      </p:sp>
      <p:sp>
        <p:nvSpPr>
          <p:cNvPr id="15" name="Text 11"/>
          <p:cNvSpPr txBox="1"/>
          <p:nvPr/>
        </p:nvSpPr>
        <p:spPr>
          <a:xfrm>
            <a:off x="4612538"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16" name="Text 12"/>
          <p:cNvSpPr txBox="1"/>
          <p:nvPr/>
        </p:nvSpPr>
        <p:spPr>
          <a:xfrm>
            <a:off x="4612538"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Atrophy proxy: an octant block of the volume scaled ×0.4; P100 amplitude 2.5.</a:t>
            </a:r>
            <a:endParaRPr lang="en-US" sz="1600" dirty="0"/>
          </a:p>
        </p:txBody>
      </p:sp>
      <p:sp>
        <p:nvSpPr>
          <p:cNvPr id="17" name="class Optic Neuritis / CVI"/>
          <p:cNvSpPr/>
          <p:nvPr/>
        </p:nvSpPr>
        <p:spPr>
          <a:xfrm>
            <a:off x="8127797" y="1371600"/>
            <a:ext cx="3515258" cy="4160520"/>
          </a:xfrm>
          <a:prstGeom prst="roundRect">
            <a:avLst>
              <a:gd name="adj" fmla="val 260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8" name="Optic Neuritis / CVI badge"/>
          <p:cNvSpPr/>
          <p:nvPr/>
        </p:nvSpPr>
        <p:spPr>
          <a:xfrm>
            <a:off x="8402117" y="1645920"/>
            <a:ext cx="640080" cy="640080"/>
          </a:xfrm>
          <a:prstGeom prst="ellipse">
            <a:avLst/>
          </a:prstGeom>
          <a:solidFill>
            <a:schemeClr val="accent3"/>
          </a:solidFill>
          <a:ln/>
        </p:spPr>
        <p:txBody>
          <a:bodyPr/>
          <a:p/>
        </p:txBody>
      </p:sp>
      <p:pic>
        <p:nvPicPr>
          <p:cNvPr id="19" name="Optic Neuritis / CVI icon" descr="Optic Neuritis / CVI">    </p:cNvPr>
          <p:cNvPicPr>
            <a:picLocks noChangeAspect="1"/>
          </p:cNvPicPr>
          <p:nvPr/>
        </p:nvPicPr>
        <p:blipFill>
          <a:blip r:embed="rId3"/>
          <a:stretch>
            <a:fillRect/>
          </a:stretch>
        </p:blipFill>
        <p:spPr>
          <a:xfrm>
            <a:off x="8562137" y="1805940"/>
            <a:ext cx="320040" cy="320040"/>
          </a:xfrm>
          <a:prstGeom prst="rect">
            <a:avLst/>
          </a:prstGeom>
        </p:spPr>
      </p:pic>
      <p:sp>
        <p:nvSpPr>
          <p:cNvPr id="20" name="Text 15"/>
          <p:cNvSpPr txBox="1"/>
          <p:nvPr/>
        </p:nvSpPr>
        <p:spPr>
          <a:xfrm>
            <a:off x="9225077" y="1645920"/>
            <a:ext cx="2189378" cy="6400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Optic Neuritis / CVI</a:t>
            </a:r>
            <a:endParaRPr lang="en-US" sz="2000" dirty="0"/>
          </a:p>
        </p:txBody>
      </p:sp>
      <p:sp>
        <p:nvSpPr>
          <p:cNvPr id="21" name="Text 16"/>
          <p:cNvSpPr txBox="1"/>
          <p:nvPr/>
        </p:nvSpPr>
        <p:spPr>
          <a:xfrm>
            <a:off x="8402117" y="2560320"/>
            <a:ext cx="2966618"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140 ms</a:t>
            </a:r>
            <a:endParaRPr lang="en-US" sz="5400" dirty="0"/>
          </a:p>
        </p:txBody>
      </p:sp>
      <p:sp>
        <p:nvSpPr>
          <p:cNvPr id="22" name="Text 17"/>
          <p:cNvSpPr txBox="1"/>
          <p:nvPr/>
        </p:nvSpPr>
        <p:spPr>
          <a:xfrm>
            <a:off x="8402117" y="3474720"/>
            <a:ext cx="2966618"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P100 latency</a:t>
            </a:r>
            <a:endParaRPr lang="en-US" sz="1400" dirty="0"/>
          </a:p>
        </p:txBody>
      </p:sp>
      <p:sp>
        <p:nvSpPr>
          <p:cNvPr id="23" name="Text 18"/>
          <p:cNvSpPr txBox="1"/>
          <p:nvPr/>
        </p:nvSpPr>
        <p:spPr>
          <a:xfrm>
            <a:off x="8402117" y="4023360"/>
            <a:ext cx="2966618" cy="12801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Lesion proxy: a block scaled ×1.8; delayed P100, amplitude 4.0.</a:t>
            </a:r>
            <a:endParaRPr lang="en-US" sz="1600" dirty="0"/>
          </a:p>
        </p:txBody>
      </p:sp>
      <p:sp>
        <p:nvSpPr>
          <p:cNvPr id="24" name="Text 19"/>
          <p:cNvSpPr txBox="1"/>
          <p:nvPr/>
        </p:nvSpPr>
        <p:spPr>
          <a:xfrm>
            <a:off x="548640" y="5715000"/>
            <a:ext cx="11094415" cy="50292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Synthetic generator defaults (Study A scales them with the two informativeness knobs), chosen to follow the clinical pattern of delayed P100 in optic neuritis; they are not measurements from patients.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Two streams, one gated fusion module</a:t>
            </a:r>
            <a:endParaRPr lang="en-US" sz="3600" dirty="0"/>
          </a:p>
        </p:txBody>
      </p:sp>
      <p:sp>
        <p:nvSpPr>
          <p:cNvPr id="3" name="fig_pipeline card"/>
          <p:cNvSpPr/>
          <p:nvPr/>
        </p:nvSpPr>
        <p:spPr>
          <a:xfrm>
            <a:off x="548640" y="1325880"/>
            <a:ext cx="7635240" cy="370332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pipeline note 1"/>
          <p:cNvSpPr/>
          <p:nvPr/>
        </p:nvSpPr>
        <p:spPr>
          <a:xfrm>
            <a:off x="8458200" y="1325880"/>
            <a:ext cx="3184855" cy="1143000"/>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6" name="Queries badge"/>
          <p:cNvSpPr/>
          <p:nvPr/>
        </p:nvSpPr>
        <p:spPr>
          <a:xfrm>
            <a:off x="8659368" y="1463040"/>
            <a:ext cx="502920" cy="502920"/>
          </a:xfrm>
          <a:prstGeom prst="ellipse">
            <a:avLst/>
          </a:prstGeom>
          <a:solidFill>
            <a:schemeClr val="accent3"/>
          </a:solidFill>
          <a:ln/>
        </p:spPr>
        <p:txBody>
          <a:bodyPr/>
          <a:p/>
        </p:txBody>
      </p:sp>
      <p:pic>
        <p:nvPicPr>
          <p:cNvPr id="7" name="Queries icon" descr="Queries">    </p:cNvPr>
          <p:cNvPicPr>
            <a:picLocks noChangeAspect="1"/>
          </p:cNvPicPr>
          <p:nvPr/>
        </p:nvPicPr>
        <p:blipFill>
          <a:blip r:embed="rId2"/>
          <a:stretch>
            <a:fillRect/>
          </a:stretch>
        </p:blipFill>
        <p:spPr>
          <a:xfrm>
            <a:off x="8785098" y="1588770"/>
            <a:ext cx="251460" cy="251460"/>
          </a:xfrm>
          <a:prstGeom prst="rect">
            <a:avLst/>
          </a:prstGeom>
        </p:spPr>
      </p:pic>
      <p:sp>
        <p:nvSpPr>
          <p:cNvPr id="8" name="Text 4"/>
          <p:cNvSpPr txBox="1"/>
          <p:nvPr/>
        </p:nvSpPr>
        <p:spPr>
          <a:xfrm>
            <a:off x="9326880" y="1463040"/>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Tokens</a:t>
            </a:r>
            <a:endParaRPr lang="en-US" sz="1800" dirty="0"/>
          </a:p>
        </p:txBody>
      </p:sp>
      <p:sp>
        <p:nvSpPr>
          <p:cNvPr id="9" name="Text 5"/>
          <p:cNvSpPr txBox="1"/>
          <p:nvPr/>
        </p:nvSpPr>
        <p:spPr>
          <a:xfrm>
            <a:off x="8659368" y="2011680"/>
            <a:ext cx="2782519" cy="4114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64 + 16 tokens, d = 128</a:t>
            </a:r>
            <a:endParaRPr lang="en-US" sz="1400" dirty="0"/>
          </a:p>
        </p:txBody>
      </p:sp>
      <p:sp>
        <p:nvSpPr>
          <p:cNvPr id="10" name="pipeline note 2"/>
          <p:cNvSpPr/>
          <p:nvPr/>
        </p:nvSpPr>
        <p:spPr>
          <a:xfrm>
            <a:off x="8458200" y="2606040"/>
            <a:ext cx="3184855" cy="1143000"/>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1" name="Keys and values badge"/>
          <p:cNvSpPr/>
          <p:nvPr/>
        </p:nvSpPr>
        <p:spPr>
          <a:xfrm>
            <a:off x="8659368" y="2743200"/>
            <a:ext cx="502920" cy="502920"/>
          </a:xfrm>
          <a:prstGeom prst="ellipse">
            <a:avLst/>
          </a:prstGeom>
          <a:solidFill>
            <a:schemeClr val="accent2"/>
          </a:solidFill>
          <a:ln/>
        </p:spPr>
        <p:txBody>
          <a:bodyPr/>
          <a:p/>
        </p:txBody>
      </p:sp>
      <p:pic>
        <p:nvPicPr>
          <p:cNvPr id="12" name="Keys and values icon" descr="Keys and values">    </p:cNvPr>
          <p:cNvPicPr>
            <a:picLocks noChangeAspect="1"/>
          </p:cNvPicPr>
          <p:nvPr/>
        </p:nvPicPr>
        <p:blipFill>
          <a:blip r:embed="rId3"/>
          <a:stretch>
            <a:fillRect/>
          </a:stretch>
        </p:blipFill>
        <p:spPr>
          <a:xfrm>
            <a:off x="8785098" y="2868930"/>
            <a:ext cx="251460" cy="251460"/>
          </a:xfrm>
          <a:prstGeom prst="rect">
            <a:avLst/>
          </a:prstGeom>
        </p:spPr>
      </p:pic>
      <p:sp>
        <p:nvSpPr>
          <p:cNvPr id="13" name="Text 8"/>
          <p:cNvSpPr txBox="1"/>
          <p:nvPr/>
        </p:nvSpPr>
        <p:spPr>
          <a:xfrm>
            <a:off x="9326880" y="2743200"/>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Both directions</a:t>
            </a:r>
            <a:endParaRPr lang="en-US" sz="1800" dirty="0"/>
          </a:p>
        </p:txBody>
      </p:sp>
      <p:sp>
        <p:nvSpPr>
          <p:cNvPr id="14" name="Text 9"/>
          <p:cNvSpPr txBox="1"/>
          <p:nvPr/>
        </p:nvSpPr>
        <p:spPr>
          <a:xfrm>
            <a:off x="8659368" y="3291840"/>
            <a:ext cx="2782519" cy="4114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Each stream queries the other, gated</a:t>
            </a:r>
            <a:endParaRPr lang="en-US" sz="1400" dirty="0"/>
          </a:p>
        </p:txBody>
      </p:sp>
      <p:sp>
        <p:nvSpPr>
          <p:cNvPr id="15" name="pipeline note 3"/>
          <p:cNvSpPr/>
          <p:nvPr/>
        </p:nvSpPr>
        <p:spPr>
          <a:xfrm>
            <a:off x="8458200" y="3886200"/>
            <a:ext cx="3184855" cy="1143000"/>
          </a:xfrm>
          <a:prstGeom prst="roundRect">
            <a:avLst>
              <a:gd name="adj" fmla="val 59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6" name="Three heads badge"/>
          <p:cNvSpPr/>
          <p:nvPr/>
        </p:nvSpPr>
        <p:spPr>
          <a:xfrm>
            <a:off x="8659368" y="4023360"/>
            <a:ext cx="502920" cy="502920"/>
          </a:xfrm>
          <a:prstGeom prst="ellipse">
            <a:avLst/>
          </a:prstGeom>
          <a:solidFill>
            <a:schemeClr val="accent4"/>
          </a:solidFill>
          <a:ln/>
        </p:spPr>
        <p:txBody>
          <a:bodyPr/>
          <a:p/>
        </p:txBody>
      </p:sp>
      <p:pic>
        <p:nvPicPr>
          <p:cNvPr id="17" name="Three heads icon" descr="Three heads">    </p:cNvPr>
          <p:cNvPicPr>
            <a:picLocks noChangeAspect="1"/>
          </p:cNvPicPr>
          <p:nvPr/>
        </p:nvPicPr>
        <p:blipFill>
          <a:blip r:embed="rId4"/>
          <a:stretch>
            <a:fillRect/>
          </a:stretch>
        </p:blipFill>
        <p:spPr>
          <a:xfrm>
            <a:off x="8785098" y="4149090"/>
            <a:ext cx="251460" cy="251460"/>
          </a:xfrm>
          <a:prstGeom prst="rect">
            <a:avLst/>
          </a:prstGeom>
        </p:spPr>
      </p:pic>
      <p:sp>
        <p:nvSpPr>
          <p:cNvPr id="18" name="Text 12"/>
          <p:cNvSpPr txBox="1"/>
          <p:nvPr/>
        </p:nvSpPr>
        <p:spPr>
          <a:xfrm>
            <a:off x="9326880" y="4023360"/>
            <a:ext cx="213329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Three heads</a:t>
            </a:r>
            <a:endParaRPr lang="en-US" sz="1800" dirty="0"/>
          </a:p>
        </p:txBody>
      </p:sp>
      <p:sp>
        <p:nvSpPr>
          <p:cNvPr id="19" name="Text 13"/>
          <p:cNvSpPr txBox="1"/>
          <p:nvPr/>
        </p:nvSpPr>
        <p:spPr>
          <a:xfrm>
            <a:off x="8659368" y="4572000"/>
            <a:ext cx="2782519" cy="4114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Fused plus two auxiliary heads, λ = 0.3</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pic>
        <p:nvPicPr>
          <p:cNvPr id="26" name="fig_arch_v2" descr="CAFN data flow: MRI and signal encoders, gated bidirectional cross-attention, attention pool, fused and auxiliary heads"/>
          <p:cNvPicPr>
            <a:picLocks noChangeAspect="1"/>
          </p:cNvPicPr>
          <p:nvPr/>
        </p:nvPicPr>
        <p:blipFill>
          <a:blip r:embed="rId1"/>
          <a:stretch>
            <a:fillRect/>
          </a:stretch>
        </p:blipFill>
        <p:spPr>
          <a:xfrm>
            <a:off x="789649" y="1485900"/>
            <a:ext cx="7153220" cy="3383280"/>
          </a:xfrm>
          <a:prstGeom prst="rect">
            <a:avLst/>
          </a:prstGeom>
        </p:spPr>
      </p:pic>
      <p:sp>
        <p:nvSpPr>
          <p:cNvPr id="27" name="gate banner"/>
          <p:cNvSpPr/>
          <p:nvPr/>
        </p:nvSpPr>
        <p:spPr>
          <a:xfrm>
            <a:off x="548640" y="5212080"/>
            <a:ext cx="11094415" cy="1005840"/>
          </a:xfrm>
          <a:prstGeom prst="roundRect">
            <a:avLst>
              <a:gd name="adj" fmla="val 10526"/>
            </a:avLst>
          </a:prstGeom>
          <a:solidFill>
            <a:schemeClr val="tx2"/>
          </a:solidFill>
          <a:ln>
            <a:noFill/>
          </a:ln>
          <a:effectLst>
            <a:outerShdw sx="100000" sy="100000" kx="0" ky="0" algn="bl" rotWithShape="0" blurRad="101600" dist="25400" dir="5400000">
              <a:srgbClr val="12232B">
                <a:alpha val="12000"/>
              </a:srgbClr>
            </a:outerShdw>
          </a:effectLst>
        </p:spPr>
      </p:sp>
      <p:sp>
        <p:nvSpPr>
          <p:cNvPr id="28" name="gate banner text"/>
          <p:cNvSpPr txBox="1"/>
          <p:nvPr/>
        </p:nvSpPr>
        <p:spPr>
          <a:xfrm>
            <a:off x="914400" y="5257800"/>
            <a:ext cx="10362895" cy="914400"/>
          </a:xfrm>
          <a:prstGeom prst="rect">
            <a:avLst/>
          </a:prstGeom>
          <a:noFill/>
          <a:ln>
            <a:noFill/>
          </a:ln>
        </p:spPr>
        <p:txBody>
          <a:bodyPr wrap="square" lIns="0" tIns="0" rIns="0" bIns="0" rtlCol="0" anchor="ctr"/>
          <a:lstStyle/>
          <a:p>
            <a:pPr indent="0" marL="0">
              <a:buNone/>
            </a:pPr>
            <a:r>
              <a:rPr lang="en-US" sz="1800" dirty="0">
                <a:solidFill>
                  <a:schemeClr val="bg1"/>
                </a:solidFill>
                <a:latin typeface="Cambria" pitchFamily="34" charset="0"/>
              </a:rPr>
              <a:t>Gates start half open (σ(0) = 0.5) and the attention pool starts as mean pooling, so training begins from a neutral state and learns how much to cross-attend.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Each signal is brought to a fixed shape</a:t>
            </a:r>
            <a:endParaRPr lang="en-US" sz="3600" dirty="0"/>
          </a:p>
        </p:txBody>
      </p:sp>
      <p:sp>
        <p:nvSpPr>
          <p:cNvPr id="3" name="fig_preprocessing card"/>
          <p:cNvSpPr/>
          <p:nvPr/>
        </p:nvSpPr>
        <p:spPr>
          <a:xfrm>
            <a:off x="548640" y="1325880"/>
            <a:ext cx="11094415" cy="4526280"/>
          </a:xfrm>
          <a:prstGeom prst="roundRect">
            <a:avLst>
              <a:gd name="adj" fmla="val 202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Text 2"/>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Output tensors  MRI (1, 64, 64, 64)   ·   signal (1, 500)   ·   the Otsu mask is a stand-in, not validated skull-stripping</a:t>
            </a:r>
            <a:pPr indent="0" marL="0">
              <a:buNone/>
            </a:pP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
        <p:nvSpPr>
          <p:cNvPr id="26" name="mri label"/>
          <p:cNvSpPr txBox="1"/>
          <p:nvPr/>
        </p:nvSpPr>
        <p:spPr>
          <a:xfrm>
            <a:off x="822960" y="1463040"/>
            <a:ext cx="10000000" cy="274320"/>
          </a:xfrm>
          <a:prstGeom prst="rect">
            <a:avLst/>
          </a:prstGeom>
          <a:noFill/>
          <a:ln>
            <a:noFill/>
          </a:ln>
        </p:spPr>
        <p:txBody>
          <a:bodyPr wrap="square" lIns="0" tIns="0" rIns="0" bIns="0" rtlCol="0" anchor="ctr"/>
          <a:lstStyle/>
          <a:p>
            <a:pPr indent="0" marL="0">
              <a:buNone/>
            </a:pPr>
            <a:r>
              <a:rPr lang="en-US" sz="1600" b="1" dirty="0">
                <a:solidFill>
                  <a:schemeClr val="accent3"/>
                </a:solidFill>
                <a:latin typeface="Cambria" pitchFamily="34" charset="0"/>
              </a:rPr>
              <a:t>MRI stream (src/preprocessing/mri_transforms.py)</a:t>
            </a:r>
            <a:endParaRPr lang="en-US" sz="1600" dirty="0"/>
          </a:p>
        </p:txBody>
      </p:sp>
      <p:sp>
        <p:nvSpPr>
          <p:cNvPr id="27" name="mri 1"/>
          <p:cNvSpPr/>
          <p:nvPr/>
        </p:nvSpPr>
        <p:spPr>
          <a:xfrm>
            <a:off x="822960"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1. Load NIfTI, reorient to RAS</a:t>
            </a:r>
            <a:endParaRPr lang="en-US" sz="1200" dirty="0"/>
          </a:p>
        </p:txBody>
      </p:sp>
      <p:sp>
        <p:nvSpPr>
          <p:cNvPr id="28" name="mri arrow 1"/>
          <p:cNvSpPr/>
          <p:nvPr/>
        </p:nvSpPr>
        <p:spPr>
          <a:xfrm>
            <a:off x="2753807" y="2170280"/>
            <a:ext cx="192024" cy="140000"/>
          </a:xfrm>
          <a:prstGeom prst="rightArrow">
            <a:avLst/>
          </a:prstGeom>
          <a:solidFill>
            <a:schemeClr val="tx2"/>
          </a:solidFill>
          <a:ln>
            <a:noFill/>
          </a:ln>
        </p:spPr>
        <p:txBody>
          <a:bodyPr/>
          <a:p/>
        </p:txBody>
      </p:sp>
      <p:sp>
        <p:nvSpPr>
          <p:cNvPr id="29" name="mri 2"/>
          <p:cNvSpPr/>
          <p:nvPr/>
        </p:nvSpPr>
        <p:spPr>
          <a:xfrm>
            <a:off x="2986979"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2. Resample to 1 mm isotropic</a:t>
            </a:r>
            <a:endParaRPr lang="en-US" sz="1200" dirty="0"/>
          </a:p>
        </p:txBody>
      </p:sp>
      <p:sp>
        <p:nvSpPr>
          <p:cNvPr id="30" name="mri arrow 2"/>
          <p:cNvSpPr/>
          <p:nvPr/>
        </p:nvSpPr>
        <p:spPr>
          <a:xfrm>
            <a:off x="4917826" y="2170280"/>
            <a:ext cx="192024" cy="140000"/>
          </a:xfrm>
          <a:prstGeom prst="rightArrow">
            <a:avLst/>
          </a:prstGeom>
          <a:solidFill>
            <a:schemeClr val="tx2"/>
          </a:solidFill>
          <a:ln>
            <a:noFill/>
          </a:ln>
        </p:spPr>
        <p:txBody>
          <a:bodyPr/>
          <a:p/>
        </p:txBody>
      </p:sp>
      <p:sp>
        <p:nvSpPr>
          <p:cNvPr id="31" name="mri 3"/>
          <p:cNvSpPr/>
          <p:nvPr/>
        </p:nvSpPr>
        <p:spPr>
          <a:xfrm>
            <a:off x="5150998"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3. Otsu mask, hole filling, largest component</a:t>
            </a:r>
            <a:endParaRPr lang="en-US" sz="1200" dirty="0"/>
          </a:p>
        </p:txBody>
      </p:sp>
      <p:sp>
        <p:nvSpPr>
          <p:cNvPr id="32" name="mri arrow 3"/>
          <p:cNvSpPr/>
          <p:nvPr/>
        </p:nvSpPr>
        <p:spPr>
          <a:xfrm>
            <a:off x="7081845" y="2170280"/>
            <a:ext cx="192024" cy="140000"/>
          </a:xfrm>
          <a:prstGeom prst="rightArrow">
            <a:avLst/>
          </a:prstGeom>
          <a:solidFill>
            <a:schemeClr val="tx2"/>
          </a:solidFill>
          <a:ln>
            <a:noFill/>
          </a:ln>
        </p:spPr>
        <p:txBody>
          <a:bodyPr/>
          <a:p/>
        </p:txBody>
      </p:sp>
      <p:sp>
        <p:nvSpPr>
          <p:cNvPr id="33" name="mri 4"/>
          <p:cNvSpPr/>
          <p:nvPr/>
        </p:nvSpPr>
        <p:spPr>
          <a:xfrm>
            <a:off x="7315017"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4. Crop to foreground box, resample to 64³ (32³ for CV)</a:t>
            </a:r>
            <a:endParaRPr lang="en-US" sz="1200" dirty="0"/>
          </a:p>
        </p:txBody>
      </p:sp>
      <p:sp>
        <p:nvSpPr>
          <p:cNvPr id="34" name="mri arrow 4"/>
          <p:cNvSpPr/>
          <p:nvPr/>
        </p:nvSpPr>
        <p:spPr>
          <a:xfrm>
            <a:off x="9245864" y="2170280"/>
            <a:ext cx="192024" cy="140000"/>
          </a:xfrm>
          <a:prstGeom prst="rightArrow">
            <a:avLst/>
          </a:prstGeom>
          <a:solidFill>
            <a:schemeClr val="tx2"/>
          </a:solidFill>
          <a:ln>
            <a:noFill/>
          </a:ln>
        </p:spPr>
        <p:txBody>
          <a:bodyPr/>
          <a:p/>
        </p:txBody>
      </p:sp>
      <p:sp>
        <p:nvSpPr>
          <p:cNvPr id="35" name="mri 5"/>
          <p:cNvSpPr/>
          <p:nvPr/>
        </p:nvSpPr>
        <p:spPr>
          <a:xfrm>
            <a:off x="9479036" y="1783080"/>
            <a:ext cx="1889699" cy="914400"/>
          </a:xfrm>
          <a:prstGeom prst="roundRect">
            <a:avLst>
              <a:gd name="adj" fmla="val 8000"/>
            </a:avLst>
          </a:prstGeom>
          <a:solidFill>
            <a:schemeClr val="accent3">
              <a:lumMod val="18000"/>
              <a:lumOff val="82000"/>
            </a:schemeClr>
          </a:solidFill>
          <a:ln w="19050">
            <a:solidFill>
              <a:schemeClr val="accent3"/>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5. Foreground z-score, add channel axis</a:t>
            </a:r>
            <a:endParaRPr lang="en-US" sz="1200" dirty="0"/>
          </a:p>
        </p:txBody>
      </p:sp>
      <p:sp>
        <p:nvSpPr>
          <p:cNvPr id="36" name="vep label"/>
          <p:cNvSpPr txBox="1"/>
          <p:nvPr/>
        </p:nvSpPr>
        <p:spPr>
          <a:xfrm>
            <a:off x="822960" y="2788920"/>
            <a:ext cx="10000000" cy="27432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VEP stream (src/preprocessing/signal_cleaner.py)</a:t>
            </a:r>
            <a:endParaRPr lang="en-US" sz="1600" dirty="0"/>
          </a:p>
        </p:txBody>
      </p:sp>
      <p:sp>
        <p:nvSpPr>
          <p:cNvPr id="37" name="vep 1"/>
          <p:cNvSpPr/>
          <p:nvPr/>
        </p:nvSpPr>
        <p:spPr>
          <a:xfrm>
            <a:off x="822960"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1. Validate (1-D, finite, non-empty)</a:t>
            </a:r>
            <a:endParaRPr lang="en-US" sz="1200" dirty="0"/>
          </a:p>
        </p:txBody>
      </p:sp>
      <p:sp>
        <p:nvSpPr>
          <p:cNvPr id="38" name="vep arrow 1"/>
          <p:cNvSpPr/>
          <p:nvPr/>
        </p:nvSpPr>
        <p:spPr>
          <a:xfrm>
            <a:off x="2753807" y="3496160"/>
            <a:ext cx="192024" cy="140000"/>
          </a:xfrm>
          <a:prstGeom prst="rightArrow">
            <a:avLst/>
          </a:prstGeom>
          <a:solidFill>
            <a:schemeClr val="tx2"/>
          </a:solidFill>
          <a:ln>
            <a:noFill/>
          </a:ln>
        </p:spPr>
        <p:txBody>
          <a:bodyPr/>
          <a:p/>
        </p:txBody>
      </p:sp>
      <p:sp>
        <p:nvSpPr>
          <p:cNvPr id="39" name="vep 2"/>
          <p:cNvSpPr/>
          <p:nvPr/>
        </p:nvSpPr>
        <p:spPr>
          <a:xfrm>
            <a:off x="2986979"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2. Zero-phase band-pass, 1–100 Hz (Butterworth, 4th)</a:t>
            </a:r>
            <a:endParaRPr lang="en-US" sz="1200" dirty="0"/>
          </a:p>
        </p:txBody>
      </p:sp>
      <p:sp>
        <p:nvSpPr>
          <p:cNvPr id="40" name="vep arrow 2"/>
          <p:cNvSpPr/>
          <p:nvPr/>
        </p:nvSpPr>
        <p:spPr>
          <a:xfrm>
            <a:off x="4917826" y="3496160"/>
            <a:ext cx="192024" cy="140000"/>
          </a:xfrm>
          <a:prstGeom prst="rightArrow">
            <a:avLst/>
          </a:prstGeom>
          <a:solidFill>
            <a:schemeClr val="tx2"/>
          </a:solidFill>
          <a:ln>
            <a:noFill/>
          </a:ln>
        </p:spPr>
        <p:txBody>
          <a:bodyPr/>
          <a:p/>
        </p:txBody>
      </p:sp>
      <p:sp>
        <p:nvSpPr>
          <p:cNvPr id="41" name="vep 3"/>
          <p:cNvSpPr/>
          <p:nvPr/>
        </p:nvSpPr>
        <p:spPr>
          <a:xfrm>
            <a:off x="5150998"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3. Zero-phase 50 Hz notch (Q = 30)</a:t>
            </a:r>
            <a:endParaRPr lang="en-US" sz="1200" dirty="0"/>
          </a:p>
        </p:txBody>
      </p:sp>
      <p:sp>
        <p:nvSpPr>
          <p:cNvPr id="42" name="vep arrow 3"/>
          <p:cNvSpPr/>
          <p:nvPr/>
        </p:nvSpPr>
        <p:spPr>
          <a:xfrm>
            <a:off x="7081845" y="3496160"/>
            <a:ext cx="192024" cy="140000"/>
          </a:xfrm>
          <a:prstGeom prst="rightArrow">
            <a:avLst/>
          </a:prstGeom>
          <a:solidFill>
            <a:schemeClr val="tx2"/>
          </a:solidFill>
          <a:ln>
            <a:noFill/>
          </a:ln>
        </p:spPr>
        <p:txBody>
          <a:bodyPr/>
          <a:p/>
        </p:txBody>
      </p:sp>
      <p:sp>
        <p:nvSpPr>
          <p:cNvPr id="43" name="vep 4"/>
          <p:cNvSpPr/>
          <p:nvPr/>
        </p:nvSpPr>
        <p:spPr>
          <a:xfrm>
            <a:off x="7315017"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4. Linear resample to 500 samples</a:t>
            </a:r>
            <a:endParaRPr lang="en-US" sz="1200" dirty="0"/>
          </a:p>
        </p:txBody>
      </p:sp>
      <p:sp>
        <p:nvSpPr>
          <p:cNvPr id="44" name="vep arrow 4"/>
          <p:cNvSpPr/>
          <p:nvPr/>
        </p:nvSpPr>
        <p:spPr>
          <a:xfrm>
            <a:off x="9245864" y="3496160"/>
            <a:ext cx="192024" cy="140000"/>
          </a:xfrm>
          <a:prstGeom prst="rightArrow">
            <a:avLst/>
          </a:prstGeom>
          <a:solidFill>
            <a:schemeClr val="tx2"/>
          </a:solidFill>
          <a:ln>
            <a:noFill/>
          </a:ln>
        </p:spPr>
        <p:txBody>
          <a:bodyPr/>
          <a:p/>
        </p:txBody>
      </p:sp>
      <p:sp>
        <p:nvSpPr>
          <p:cNvPr id="45" name="vep 5"/>
          <p:cNvSpPr/>
          <p:nvPr/>
        </p:nvSpPr>
        <p:spPr>
          <a:xfrm>
            <a:off x="9479036" y="3108960"/>
            <a:ext cx="1889699" cy="914400"/>
          </a:xfrm>
          <a:prstGeom prst="roundRect">
            <a:avLst>
              <a:gd name="adj" fmla="val 8000"/>
            </a:avLst>
          </a:prstGeom>
          <a:solidFill>
            <a:schemeClr val="accent2">
              <a:lumMod val="18000"/>
              <a:lumOff val="82000"/>
            </a:schemeClr>
          </a:solidFill>
          <a:ln w="19050">
            <a:solidFill>
              <a:schemeClr val="accent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5. Z-score, add channel axis</a:t>
            </a:r>
            <a:endParaRPr lang="en-US" sz="1200" dirty="0"/>
          </a:p>
        </p:txBody>
      </p:sp>
      <p:sp>
        <p:nvSpPr>
          <p:cNvPr id="46" name="spec label"/>
          <p:cNvSpPr txBox="1"/>
          <p:nvPr/>
        </p:nvSpPr>
        <p:spPr>
          <a:xfrm>
            <a:off x="822960" y="4114800"/>
            <a:ext cx="10000000" cy="274320"/>
          </a:xfrm>
          <a:prstGeom prst="rect">
            <a:avLst/>
          </a:prstGeom>
          <a:noFill/>
          <a:ln>
            <a:noFill/>
          </a:ln>
        </p:spPr>
        <p:txBody>
          <a:bodyPr wrap="square" lIns="0" tIns="0" rIns="0" bIns="0" rtlCol="0" anchor="ctr"/>
          <a:lstStyle/>
          <a:p>
            <a:pPr indent="0" marL="0">
              <a:buNone/>
            </a:pPr>
            <a:r>
              <a:rPr lang="en-US" sz="1600" b="1" dirty="0">
                <a:solidFill>
                  <a:schemeClr val="accent4"/>
                </a:solidFill>
                <a:latin typeface="Cambria" pitchFamily="34" charset="0"/>
              </a:rPr>
              <a:t>Spectrum mode, real cohorts (resting MEG / EEG instead of a VEP)</a:t>
            </a:r>
            <a:endParaRPr lang="en-US" sz="1600" dirty="0"/>
          </a:p>
        </p:txBody>
      </p:sp>
      <p:sp>
        <p:nvSpPr>
          <p:cNvPr id="47" name="spec 1"/>
          <p:cNvSpPr/>
          <p:nvPr/>
        </p:nvSpPr>
        <p:spPr>
          <a:xfrm>
            <a:off x="822960" y="4434840"/>
            <a:ext cx="1889699" cy="91440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1. Resting MEG / EEG recording</a:t>
            </a:r>
            <a:endParaRPr lang="en-US" sz="1200" dirty="0"/>
          </a:p>
        </p:txBody>
      </p:sp>
      <p:sp>
        <p:nvSpPr>
          <p:cNvPr id="48" name="spec arrow 1"/>
          <p:cNvSpPr/>
          <p:nvPr/>
        </p:nvSpPr>
        <p:spPr>
          <a:xfrm>
            <a:off x="2753807" y="4822040"/>
            <a:ext cx="192024" cy="140000"/>
          </a:xfrm>
          <a:prstGeom prst="rightArrow">
            <a:avLst/>
          </a:prstGeom>
          <a:solidFill>
            <a:schemeClr val="tx2"/>
          </a:solidFill>
          <a:ln>
            <a:noFill/>
          </a:ln>
        </p:spPr>
        <p:txBody>
          <a:bodyPr/>
          <a:p/>
        </p:txBody>
      </p:sp>
      <p:sp>
        <p:nvSpPr>
          <p:cNvPr id="49" name="spec 2"/>
          <p:cNvSpPr/>
          <p:nvPr/>
        </p:nvSpPr>
        <p:spPr>
          <a:xfrm>
            <a:off x="2986979" y="4434840"/>
            <a:ext cx="1889699" cy="91440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2. Channel-averaged log10 Welch PSD, 1–45 Hz</a:t>
            </a:r>
            <a:endParaRPr lang="en-US" sz="1200" dirty="0"/>
          </a:p>
        </p:txBody>
      </p:sp>
      <p:sp>
        <p:nvSpPr>
          <p:cNvPr id="50" name="spec arrow 2"/>
          <p:cNvSpPr/>
          <p:nvPr/>
        </p:nvSpPr>
        <p:spPr>
          <a:xfrm>
            <a:off x="4917826" y="4822040"/>
            <a:ext cx="192024" cy="140000"/>
          </a:xfrm>
          <a:prstGeom prst="rightArrow">
            <a:avLst/>
          </a:prstGeom>
          <a:solidFill>
            <a:schemeClr val="tx2"/>
          </a:solidFill>
          <a:ln>
            <a:noFill/>
          </a:ln>
        </p:spPr>
        <p:txBody>
          <a:bodyPr/>
          <a:p/>
        </p:txBody>
      </p:sp>
      <p:sp>
        <p:nvSpPr>
          <p:cNvPr id="51" name="spec 3"/>
          <p:cNvSpPr/>
          <p:nvPr/>
        </p:nvSpPr>
        <p:spPr>
          <a:xfrm>
            <a:off x="5150998" y="4434840"/>
            <a:ext cx="1889699" cy="91440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3. Interpolate to 500 points</a:t>
            </a:r>
            <a:endParaRPr lang="en-US" sz="1200" dirty="0"/>
          </a:p>
        </p:txBody>
      </p:sp>
      <p:sp>
        <p:nvSpPr>
          <p:cNvPr id="52" name="spec arrow 3"/>
          <p:cNvSpPr/>
          <p:nvPr/>
        </p:nvSpPr>
        <p:spPr>
          <a:xfrm>
            <a:off x="7081845" y="4822040"/>
            <a:ext cx="192024" cy="140000"/>
          </a:xfrm>
          <a:prstGeom prst="rightArrow">
            <a:avLst/>
          </a:prstGeom>
          <a:solidFill>
            <a:schemeClr val="tx2"/>
          </a:solidFill>
          <a:ln>
            <a:noFill/>
          </a:ln>
        </p:spPr>
        <p:txBody>
          <a:bodyPr/>
          <a:p/>
        </p:txBody>
      </p:sp>
      <p:sp>
        <p:nvSpPr>
          <p:cNvPr id="53" name="spec 4"/>
          <p:cNvSpPr/>
          <p:nvPr/>
        </p:nvSpPr>
        <p:spPr>
          <a:xfrm>
            <a:off x="7315017" y="4434840"/>
            <a:ext cx="1889699" cy="91440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4. Z-score; no time-domain filtering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Zero-phase filtering keeps P100 in place</a:t>
            </a:r>
            <a:endParaRPr lang="en-US" sz="3600" dirty="0"/>
          </a:p>
        </p:txBody>
      </p:sp>
      <p:sp>
        <p:nvSpPr>
          <p:cNvPr id="3" name="fig_filter_wide card"/>
          <p:cNvSpPr/>
          <p:nvPr/>
        </p:nvSpPr>
        <p:spPr>
          <a:xfrm>
            <a:off x="548640" y="1325880"/>
            <a:ext cx="6903720" cy="4206240"/>
          </a:xfrm>
          <a:prstGeom prst="roundRect">
            <a:avLst>
              <a:gd name="adj" fmla="val 2174"/>
            </a:avLst>
          </a:prstGeom>
          <a:solidFill>
            <a:schemeClr val="bg1"/>
          </a:solidFill>
          <a:ln/>
          <a:effectLst>
            <a:outerShdw sx="100000" sy="100000" kx="0" ky="0" algn="bl" rotWithShape="0" blurRad="101600" dist="25400" dir="5400000">
              <a:srgbClr val="12232B">
                <a:alpha val="12000"/>
              </a:srgbClr>
            </a:outerShdw>
          </a:effectLst>
        </p:spPr>
      </p:sp>
      <p:pic>
        <p:nvPicPr>
          <p:cNvPr id="4" name="fig_filter_wide" descr="fig filter wide">    </p:cNvPr>
          <p:cNvPicPr>
            <a:picLocks noChangeAspect="1"/>
          </p:cNvPicPr>
          <p:nvPr/>
        </p:nvPicPr>
        <p:blipFill>
          <a:blip r:embed="rId1"/>
          <a:stretch>
            <a:fillRect/>
          </a:stretch>
        </p:blipFill>
        <p:spPr>
          <a:xfrm>
            <a:off x="1003802" y="1463040"/>
            <a:ext cx="5993395" cy="3364992"/>
          </a:xfrm>
          <a:prstGeom prst="rect">
            <a:avLst/>
          </a:prstGeom>
        </p:spPr>
      </p:pic>
      <p:sp>
        <p:nvSpPr>
          <p:cNvPr id="5" name="Text 2"/>
          <p:cNvSpPr txBox="1"/>
          <p:nvPr/>
        </p:nvSpPr>
        <p:spPr>
          <a:xfrm>
            <a:off x="731520" y="4919472"/>
            <a:ext cx="653796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Effective forward–backward response: 1–100 Hz Butterworth band-pass plus a 50 Hz notch (Q = 30).</a:t>
            </a:r>
            <a:endParaRPr lang="en-US" sz="1200" dirty="0"/>
          </a:p>
        </p:txBody>
      </p:sp>
      <p:sp>
        <p:nvSpPr>
          <p:cNvPr id="6" name="stat −97 dB"/>
          <p:cNvSpPr/>
          <p:nvPr/>
        </p:nvSpPr>
        <p:spPr>
          <a:xfrm>
            <a:off x="7726680" y="1325880"/>
            <a:ext cx="3916375"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7" name="Text 4"/>
          <p:cNvSpPr txBox="1"/>
          <p:nvPr/>
        </p:nvSpPr>
        <p:spPr>
          <a:xfrm>
            <a:off x="7955280" y="1458468"/>
            <a:ext cx="3459175" cy="5943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−97 dB</a:t>
            </a:r>
            <a:endParaRPr lang="en-US" sz="3600" dirty="0"/>
          </a:p>
        </p:txBody>
      </p:sp>
      <p:sp>
        <p:nvSpPr>
          <p:cNvPr id="8" name="Text 5"/>
          <p:cNvSpPr txBox="1"/>
          <p:nvPr/>
        </p:nvSpPr>
        <p:spPr>
          <a:xfrm>
            <a:off x="7955280" y="2107692"/>
            <a:ext cx="345917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response at 50 Hz in the ideal forward–backward chain</a:t>
            </a:r>
            <a:endParaRPr lang="en-US" sz="1400" dirty="0"/>
          </a:p>
        </p:txBody>
      </p:sp>
      <p:sp>
        <p:nvSpPr>
          <p:cNvPr id="9" name="stat 22 dB"/>
          <p:cNvSpPr/>
          <p:nvPr/>
        </p:nvSpPr>
        <p:spPr>
          <a:xfrm>
            <a:off x="7726680" y="2834640"/>
            <a:ext cx="3916375"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sp>
      <p:sp>
        <p:nvSpPr>
          <p:cNvPr id="10" name="Text 7"/>
          <p:cNvSpPr txBox="1"/>
          <p:nvPr/>
        </p:nvSpPr>
        <p:spPr>
          <a:xfrm>
            <a:off x="7955280" y="2967228"/>
            <a:ext cx="3459175"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22 dB</a:t>
            </a:r>
            <a:endParaRPr lang="en-US" sz="3600" dirty="0"/>
          </a:p>
        </p:txBody>
      </p:sp>
      <p:sp>
        <p:nvSpPr>
          <p:cNvPr id="11" name="Text 8"/>
          <p:cNvSpPr txBox="1"/>
          <p:nvPr/>
        </p:nvSpPr>
        <p:spPr>
          <a:xfrm>
            <a:off x="7955280" y="3616452"/>
            <a:ext cx="345917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measured mains reduction over 150 records (0.152 → 0.0125)</a:t>
            </a:r>
            <a:endParaRPr lang="en-US" sz="1400" dirty="0"/>
          </a:p>
        </p:txBody>
      </p:sp>
      <p:sp>
        <p:nvSpPr>
          <p:cNvPr id="12" name="stat 49.18–50.83 Hz"/>
          <p:cNvSpPr/>
          <p:nvPr/>
        </p:nvSpPr>
        <p:spPr>
          <a:xfrm>
            <a:off x="7726680" y="4343400"/>
            <a:ext cx="3916375" cy="1188720"/>
          </a:xfrm>
          <a:prstGeom prst="roundRect">
            <a:avLst>
              <a:gd name="adj" fmla="val 7692"/>
            </a:avLst>
          </a:prstGeom>
          <a:solidFill>
            <a:schemeClr val="bg1"/>
          </a:solidFill>
          <a:ln/>
          <a:effectLst>
            <a:outerShdw sx="100000" sy="100000" kx="0" ky="0" algn="bl" rotWithShape="0" blurRad="101600" dist="25400" dir="5400000">
              <a:srgbClr val="12232B">
                <a:alpha val="12000"/>
              </a:srgbClr>
            </a:outerShdw>
          </a:effectLst>
        </p:spPr>
      </p:sp>
      <p:sp>
        <p:nvSpPr>
          <p:cNvPr id="13" name="Text 10"/>
          <p:cNvSpPr txBox="1"/>
          <p:nvPr/>
        </p:nvSpPr>
        <p:spPr>
          <a:xfrm>
            <a:off x="7955280" y="4564888"/>
            <a:ext cx="3459175" cy="46228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49.18–50.83 Hz</a:t>
            </a:r>
            <a:endParaRPr lang="en-US" sz="2800" dirty="0"/>
          </a:p>
        </p:txBody>
      </p:sp>
      <p:sp>
        <p:nvSpPr>
          <p:cNvPr id="14" name="Text 11"/>
          <p:cNvSpPr txBox="1"/>
          <p:nvPr/>
        </p:nvSpPr>
        <p:spPr>
          <a:xfrm>
            <a:off x="7955280" y="5082032"/>
            <a:ext cx="3459175"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−6 dB notch band (width 1.65 Hz)</a:t>
            </a:r>
            <a:endParaRPr lang="en-US" sz="1400" dirty="0"/>
          </a:p>
        </p:txBody>
      </p:sp>
      <p:sp>
        <p:nvSpPr>
          <p:cNvPr id="15" name="Text 12"/>
          <p:cNvSpPr txBox="1"/>
          <p:nvPr/>
        </p:nvSpPr>
        <p:spPr>
          <a:xfrm>
            <a:off x="548640" y="5715000"/>
            <a:ext cx="11094415" cy="50292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The 22 dB figure is limited by the noise floor (0.0212 at 47 Hz), so it is a lower bound on the notch's attenuation.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 1.96 M-parameter two-stream network</a:t>
            </a:r>
            <a:endParaRPr lang="en-US" sz="3600" dirty="0"/>
          </a:p>
        </p:txBody>
      </p:sp>
      <p:sp>
        <p:nvSpPr>
          <p:cNvPr id="3" name="fig_architecture card"/>
          <p:cNvSpPr/>
          <p:nvPr/>
        </p:nvSpPr>
        <p:spPr>
          <a:xfrm>
            <a:off x="548640" y="1325880"/>
            <a:ext cx="4160520" cy="4892040"/>
          </a:xfrm>
          <a:prstGeom prst="roundRect">
            <a:avLst>
              <a:gd name="adj" fmla="val 2198"/>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component 3D residual CNN (MRI)"/>
          <p:cNvSpPr/>
          <p:nvPr/>
        </p:nvSpPr>
        <p:spPr>
          <a:xfrm>
            <a:off x="4983480" y="1325880"/>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6" name="3D residual CNN (MRI) badge"/>
          <p:cNvSpPr/>
          <p:nvPr/>
        </p:nvSpPr>
        <p:spPr>
          <a:xfrm>
            <a:off x="5184648" y="1600200"/>
            <a:ext cx="594360" cy="594360"/>
          </a:xfrm>
          <a:prstGeom prst="ellipse">
            <a:avLst/>
          </a:prstGeom>
          <a:solidFill>
            <a:schemeClr val="accent3"/>
          </a:solidFill>
          <a:ln/>
        </p:spPr>
        <p:txBody>
          <a:bodyPr/>
          <a:p/>
        </p:txBody>
      </p:sp>
      <p:pic>
        <p:nvPicPr>
          <p:cNvPr id="7" name="3D residual CNN (MRI) icon" descr="3D residual CNN (MRI)">    </p:cNvPr>
          <p:cNvPicPr>
            <a:picLocks noChangeAspect="1"/>
          </p:cNvPicPr>
          <p:nvPr/>
        </p:nvPicPr>
        <p:blipFill>
          <a:blip r:embed="rId2"/>
          <a:stretch>
            <a:fillRect/>
          </a:stretch>
        </p:blipFill>
        <p:spPr>
          <a:xfrm>
            <a:off x="5333238" y="1748790"/>
            <a:ext cx="297180" cy="297180"/>
          </a:xfrm>
          <a:prstGeom prst="rect">
            <a:avLst/>
          </a:prstGeom>
        </p:spPr>
      </p:pic>
      <p:sp>
        <p:nvSpPr>
          <p:cNvPr id="8" name="Text 4"/>
          <p:cNvSpPr txBox="1"/>
          <p:nvPr/>
        </p:nvSpPr>
        <p:spPr>
          <a:xfrm>
            <a:off x="5989320" y="1435608"/>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3D ResNet + SE (MRI)</a:t>
            </a:r>
            <a:endParaRPr lang="en-US" sz="1800" dirty="0"/>
          </a:p>
        </p:txBody>
      </p:sp>
      <p:sp>
        <p:nvSpPr>
          <p:cNvPr id="9" name="Text 5"/>
          <p:cNvSpPr txBox="1"/>
          <p:nvPr/>
        </p:nvSpPr>
        <p:spPr>
          <a:xfrm>
            <a:off x="8945575" y="1435608"/>
            <a:ext cx="2514600" cy="365760"/>
          </a:xfrm>
          <a:prstGeom prst="rect">
            <a:avLst/>
          </a:prstGeom>
          <a:noFill/>
          <a:ln/>
        </p:spPr>
        <p:txBody>
          <a:bodyPr wrap="square" lIns="0" tIns="0" rIns="0" bIns="0" rtlCol="0" anchor="ctr"/>
          <a:lstStyle/>
          <a:p>
            <a:pPr algn="r" indent="0" marL="0">
              <a:buNone/>
            </a:pPr>
            <a:r>
              <a:rPr lang="en-US" sz="1400" b="1" dirty="0">
                <a:solidFill>
                  <a:schemeClr val="accent3"/>
                </a:solidFill>
                <a:latin typeface="Calibri" pitchFamily="34" charset="0"/>
                <a:ea typeface="Calibri" pitchFamily="34" charset="-122"/>
                <a:cs typeface="Calibri" pitchFamily="34" charset="-120"/>
              </a:rPr>
              <a:t>894,504 params · 46%</a:t>
            </a:r>
            <a:endParaRPr lang="en-US" sz="1400" dirty="0"/>
          </a:p>
        </p:txBody>
      </p:sp>
      <p:sp>
        <p:nvSpPr>
          <p:cNvPr id="10" name="Text 6"/>
          <p:cNvSpPr txBox="1"/>
          <p:nvPr/>
        </p:nvSpPr>
        <p:spPr>
          <a:xfrm>
            <a:off x="5989320" y="1892808"/>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Stem plus three SE residual blocks, 16 → 128 channels; pooled to 4×4×4 = 64 tokens.</a:t>
            </a:r>
            <a:endParaRPr lang="en-US" sz="1400" dirty="0"/>
          </a:p>
        </p:txBody>
      </p:sp>
      <p:sp>
        <p:nvSpPr>
          <p:cNvPr id="11" name="component 1D CNN (VEP)"/>
          <p:cNvSpPr/>
          <p:nvPr/>
        </p:nvSpPr>
        <p:spPr>
          <a:xfrm>
            <a:off x="4983480" y="2578608"/>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2" name="1D CNN (VEP) badge"/>
          <p:cNvSpPr/>
          <p:nvPr/>
        </p:nvSpPr>
        <p:spPr>
          <a:xfrm>
            <a:off x="5184648" y="2852928"/>
            <a:ext cx="594360" cy="594360"/>
          </a:xfrm>
          <a:prstGeom prst="ellipse">
            <a:avLst/>
          </a:prstGeom>
          <a:solidFill>
            <a:schemeClr val="accent2"/>
          </a:solidFill>
          <a:ln/>
        </p:spPr>
        <p:txBody>
          <a:bodyPr/>
          <a:p/>
        </p:txBody>
      </p:sp>
      <p:pic>
        <p:nvPicPr>
          <p:cNvPr id="13" name="1D CNN (VEP) icon" descr="1D CNN (VEP)">    </p:cNvPr>
          <p:cNvPicPr>
            <a:picLocks noChangeAspect="1"/>
          </p:cNvPicPr>
          <p:nvPr/>
        </p:nvPicPr>
        <p:blipFill>
          <a:blip r:embed="rId3"/>
          <a:stretch>
            <a:fillRect/>
          </a:stretch>
        </p:blipFill>
        <p:spPr>
          <a:xfrm>
            <a:off x="5333238" y="3001518"/>
            <a:ext cx="297180" cy="297180"/>
          </a:xfrm>
          <a:prstGeom prst="rect">
            <a:avLst/>
          </a:prstGeom>
        </p:spPr>
      </p:pic>
      <p:sp>
        <p:nvSpPr>
          <p:cNvPr id="14" name="Text 9"/>
          <p:cNvSpPr txBox="1"/>
          <p:nvPr/>
        </p:nvSpPr>
        <p:spPr>
          <a:xfrm>
            <a:off x="5989320" y="2688336"/>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Multi-scale 1D CNN</a:t>
            </a:r>
            <a:endParaRPr lang="en-US" sz="1800" dirty="0"/>
          </a:p>
        </p:txBody>
      </p:sp>
      <p:sp>
        <p:nvSpPr>
          <p:cNvPr id="15" name="Text 10"/>
          <p:cNvSpPr txBox="1"/>
          <p:nvPr/>
        </p:nvSpPr>
        <p:spPr>
          <a:xfrm>
            <a:off x="8945575" y="2688336"/>
            <a:ext cx="2514600" cy="365760"/>
          </a:xfrm>
          <a:prstGeom prst="rect">
            <a:avLst/>
          </a:prstGeom>
          <a:noFill/>
          <a:ln/>
        </p:spPr>
        <p:txBody>
          <a:bodyPr wrap="square" lIns="0" tIns="0" rIns="0" bIns="0" rtlCol="0" anchor="ctr"/>
          <a:lstStyle/>
          <a:p>
            <a:pPr algn="r" indent="0" marL="0">
              <a:buNone/>
            </a:pPr>
            <a:r>
              <a:rPr lang="en-US" sz="1400" b="1" dirty="0">
                <a:solidFill>
                  <a:schemeClr val="accent2"/>
                </a:solidFill>
                <a:latin typeface="Calibri" pitchFamily="34" charset="0"/>
                <a:ea typeface="Calibri" pitchFamily="34" charset="-122"/>
                <a:cs typeface="Calibri" pitchFamily="34" charset="-120"/>
              </a:rPr>
              <a:t>785,936 params · 40%</a:t>
            </a:r>
            <a:endParaRPr lang="en-US" sz="1400" dirty="0"/>
          </a:p>
        </p:txBody>
      </p:sp>
      <p:sp>
        <p:nvSpPr>
          <p:cNvPr id="16" name="Text 11"/>
          <p:cNvSpPr txBox="1"/>
          <p:nvPr/>
        </p:nvSpPr>
        <p:spPr>
          <a:xfrm>
            <a:off x="5989320" y="3145536"/>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Strided stages with parallel kernels 3 / 9 / 19; pooled to 16 tokens.</a:t>
            </a:r>
            <a:endParaRPr lang="en-US" sz="1400" dirty="0"/>
          </a:p>
        </p:txBody>
      </p:sp>
      <p:sp>
        <p:nvSpPr>
          <p:cNvPr id="17" name="component Cross-attention fusion"/>
          <p:cNvSpPr/>
          <p:nvPr/>
        </p:nvSpPr>
        <p:spPr>
          <a:xfrm>
            <a:off x="4983480" y="3831336"/>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8" name="Cross-attention fusion badge"/>
          <p:cNvSpPr/>
          <p:nvPr/>
        </p:nvSpPr>
        <p:spPr>
          <a:xfrm>
            <a:off x="5184648" y="4105656"/>
            <a:ext cx="594360" cy="594360"/>
          </a:xfrm>
          <a:prstGeom prst="ellipse">
            <a:avLst/>
          </a:prstGeom>
          <a:solidFill>
            <a:schemeClr val="accent4"/>
          </a:solidFill>
          <a:ln/>
        </p:spPr>
        <p:txBody>
          <a:bodyPr/>
          <a:p/>
        </p:txBody>
      </p:sp>
      <p:pic>
        <p:nvPicPr>
          <p:cNvPr id="19" name="Cross-attention fusion icon" descr="Cross-attention fusion">    </p:cNvPr>
          <p:cNvPicPr>
            <a:picLocks noChangeAspect="1"/>
          </p:cNvPicPr>
          <p:nvPr/>
        </p:nvPicPr>
        <p:blipFill>
          <a:blip r:embed="rId4"/>
          <a:stretch>
            <a:fillRect/>
          </a:stretch>
        </p:blipFill>
        <p:spPr>
          <a:xfrm>
            <a:off x="5333238" y="4254246"/>
            <a:ext cx="297180" cy="297180"/>
          </a:xfrm>
          <a:prstGeom prst="rect">
            <a:avLst/>
          </a:prstGeom>
        </p:spPr>
      </p:pic>
      <p:sp>
        <p:nvSpPr>
          <p:cNvPr id="20" name="Text 14"/>
          <p:cNvSpPr txBox="1"/>
          <p:nvPr/>
        </p:nvSpPr>
        <p:spPr>
          <a:xfrm>
            <a:off x="5989320" y="3941064"/>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Gated bidirectional fusion</a:t>
            </a:r>
            <a:endParaRPr lang="en-US" sz="1800" dirty="0"/>
          </a:p>
        </p:txBody>
      </p:sp>
      <p:sp>
        <p:nvSpPr>
          <p:cNvPr id="21" name="Text 15"/>
          <p:cNvSpPr txBox="1"/>
          <p:nvPr/>
        </p:nvSpPr>
        <p:spPr>
          <a:xfrm>
            <a:off x="8945575" y="3941064"/>
            <a:ext cx="2514600" cy="365760"/>
          </a:xfrm>
          <a:prstGeom prst="rect">
            <a:avLst/>
          </a:prstGeom>
          <a:noFill/>
          <a:ln/>
        </p:spPr>
        <p:txBody>
          <a:bodyPr wrap="square" lIns="0" tIns="0" rIns="0" bIns="0" rtlCol="0" anchor="ctr"/>
          <a:lstStyle/>
          <a:p>
            <a:pPr algn="r" indent="0" marL="0">
              <a:buNone/>
            </a:pPr>
            <a:r>
              <a:rPr lang="en-US" sz="1400" b="1" dirty="0">
                <a:solidFill>
                  <a:schemeClr val="accent4"/>
                </a:solidFill>
                <a:latin typeface="Calibri" pitchFamily="34" charset="0"/>
                <a:ea typeface="Calibri" pitchFamily="34" charset="-122"/>
                <a:cs typeface="Calibri" pitchFamily="34" charset="-120"/>
              </a:rPr>
              <a:t>265,218 params · 14%</a:t>
            </a:r>
            <a:endParaRPr lang="en-US" sz="1400" dirty="0"/>
          </a:p>
        </p:txBody>
      </p:sp>
      <p:sp>
        <p:nvSpPr>
          <p:cNvPr id="22" name="Text 16"/>
          <p:cNvSpPr txBox="1"/>
          <p:nvPr/>
        </p:nvSpPr>
        <p:spPr>
          <a:xfrm>
            <a:off x="5989320" y="4398264"/>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4 heads, pre-norm, FFN in both directions; stackable blocks.</a:t>
            </a:r>
            <a:endParaRPr lang="en-US" sz="1400" dirty="0"/>
          </a:p>
        </p:txBody>
      </p:sp>
      <p:sp>
        <p:nvSpPr>
          <p:cNvPr id="23" name="component Three linear heads"/>
          <p:cNvSpPr/>
          <p:nvPr/>
        </p:nvSpPr>
        <p:spPr>
          <a:xfrm>
            <a:off x="4983480" y="5084064"/>
            <a:ext cx="6659575" cy="1143000"/>
          </a:xfrm>
          <a:prstGeom prst="roundRect">
            <a:avLst>
              <a:gd name="adj" fmla="val 8000"/>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4" name="Three linear heads badge"/>
          <p:cNvSpPr/>
          <p:nvPr/>
        </p:nvSpPr>
        <p:spPr>
          <a:xfrm>
            <a:off x="5184648" y="5358384"/>
            <a:ext cx="594360" cy="594360"/>
          </a:xfrm>
          <a:prstGeom prst="ellipse">
            <a:avLst/>
          </a:prstGeom>
          <a:solidFill>
            <a:schemeClr val="accent1"/>
          </a:solidFill>
          <a:ln/>
        </p:spPr>
        <p:txBody>
          <a:bodyPr/>
          <a:p/>
        </p:txBody>
      </p:sp>
      <p:pic>
        <p:nvPicPr>
          <p:cNvPr id="25" name="Three linear heads icon" descr="Three linear heads">    </p:cNvPr>
          <p:cNvPicPr>
            <a:picLocks noChangeAspect="1"/>
          </p:cNvPicPr>
          <p:nvPr/>
        </p:nvPicPr>
        <p:blipFill>
          <a:blip r:embed="rId5"/>
          <a:stretch>
            <a:fillRect/>
          </a:stretch>
        </p:blipFill>
        <p:spPr>
          <a:xfrm>
            <a:off x="5333238" y="5506974"/>
            <a:ext cx="297180" cy="297180"/>
          </a:xfrm>
          <a:prstGeom prst="rect">
            <a:avLst/>
          </a:prstGeom>
        </p:spPr>
      </p:pic>
      <p:sp>
        <p:nvSpPr>
          <p:cNvPr id="26" name="Text 19"/>
          <p:cNvSpPr txBox="1"/>
          <p:nvPr/>
        </p:nvSpPr>
        <p:spPr>
          <a:xfrm>
            <a:off x="5989320" y="5193792"/>
            <a:ext cx="2910535" cy="36576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Embeddings, pool, heads</a:t>
            </a:r>
            <a:endParaRPr lang="en-US" sz="1800" dirty="0"/>
          </a:p>
        </p:txBody>
      </p:sp>
      <p:sp>
        <p:nvSpPr>
          <p:cNvPr id="27" name="Text 20"/>
          <p:cNvSpPr txBox="1"/>
          <p:nvPr/>
        </p:nvSpPr>
        <p:spPr>
          <a:xfrm>
            <a:off x="8945575" y="5193792"/>
            <a:ext cx="2514600" cy="365760"/>
          </a:xfrm>
          <a:prstGeom prst="rect">
            <a:avLst/>
          </a:prstGeom>
          <a:noFill/>
          <a:ln/>
        </p:spPr>
        <p:txBody>
          <a:bodyPr wrap="square" lIns="0" tIns="0" rIns="0" bIns="0" rtlCol="0" anchor="ctr"/>
          <a:lstStyle/>
          <a:p>
            <a:pPr algn="r" indent="0" marL="0">
              <a:buNone/>
            </a:pPr>
            <a:r>
              <a:rPr lang="en-US" sz="1400" b="1" dirty="0">
                <a:solidFill>
                  <a:schemeClr val="accent1"/>
                </a:solidFill>
                <a:latin typeface="Calibri" pitchFamily="34" charset="0"/>
                <a:ea typeface="Calibri" pitchFamily="34" charset="-122"/>
                <a:cs typeface="Calibri" pitchFamily="34" charset="-120"/>
              </a:rPr>
              <a:t>9,482 params · 0.5%</a:t>
            </a:r>
            <a:endParaRPr lang="en-US" sz="1400" dirty="0"/>
          </a:p>
        </p:txBody>
      </p:sp>
      <p:sp>
        <p:nvSpPr>
          <p:cNvPr id="28" name="Text 21"/>
          <p:cNvSpPr txBox="1"/>
          <p:nvPr/>
        </p:nvSpPr>
        <p:spPr>
          <a:xfrm>
            <a:off x="5989320" y="5650992"/>
            <a:ext cx="547085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Positional embeddings (8,192), attention pool (129), three heads 128 → 3 (1,161).</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
        <p:nvSpPr>
          <p:cNvPr id="29" name="col head spatial"/>
          <p:cNvSpPr txBox="1"/>
          <p:nvPr/>
        </p:nvSpPr>
        <p:spPr>
          <a:xfrm>
            <a:off x="685800" y="1463040"/>
            <a:ext cx="1851660" cy="274320"/>
          </a:xfrm>
          <a:prstGeom prst="rect">
            <a:avLst/>
          </a:prstGeom>
          <a:noFill/>
          <a:ln>
            <a:noFill/>
          </a:ln>
        </p:spPr>
        <p:txBody>
          <a:bodyPr wrap="square" lIns="0" tIns="0" rIns="0" bIns="0" rtlCol="0" anchor="ctr"/>
          <a:lstStyle/>
          <a:p>
            <a:pPr algn="ctr" indent="0" marL="0">
              <a:buNone/>
            </a:pPr>
            <a:r>
              <a:rPr lang="en-US" sz="1400" b="1" dirty="0">
                <a:solidFill>
                  <a:schemeClr val="accent3"/>
                </a:solidFill>
                <a:latin typeface="Cambria" pitchFamily="34" charset="0"/>
              </a:rPr>
              <a:t>Spatial stream</a:t>
            </a:r>
            <a:endParaRPr lang="en-US" sz="1400" dirty="0"/>
          </a:p>
        </p:txBody>
      </p:sp>
      <p:sp>
        <p:nvSpPr>
          <p:cNvPr id="30" name="col head temporal"/>
          <p:cNvSpPr txBox="1"/>
          <p:nvPr/>
        </p:nvSpPr>
        <p:spPr>
          <a:xfrm>
            <a:off x="2720340" y="1463040"/>
            <a:ext cx="1851660" cy="274320"/>
          </a:xfrm>
          <a:prstGeom prst="rect">
            <a:avLst/>
          </a:prstGeom>
          <a:noFill/>
          <a:ln>
            <a:noFill/>
          </a:ln>
        </p:spPr>
        <p:txBody>
          <a:bodyPr wrap="square" lIns="0" tIns="0" rIns="0" bIns="0" rtlCol="0" anchor="ctr"/>
          <a:lstStyle/>
          <a:p>
            <a:pPr algn="ctr" indent="0" marL="0">
              <a:buNone/>
            </a:pPr>
            <a:r>
              <a:rPr lang="en-US" sz="1400" b="1" dirty="0">
                <a:solidFill>
                  <a:schemeClr val="accent2"/>
                </a:solidFill>
                <a:latin typeface="Cambria" pitchFamily="34" charset="0"/>
              </a:rPr>
              <a:t>Temporal stream</a:t>
            </a:r>
            <a:endParaRPr lang="en-US" sz="1400" dirty="0"/>
          </a:p>
        </p:txBody>
      </p:sp>
      <p:sp>
        <p:nvSpPr>
          <p:cNvPr id="31" name="stream S1"/>
          <p:cNvSpPr/>
          <p:nvPr/>
        </p:nvSpPr>
        <p:spPr>
          <a:xfrm>
            <a:off x="685800" y="1828800"/>
            <a:ext cx="1851660" cy="685800"/>
          </a:xfrm>
          <a:prstGeom prst="roundRect">
            <a:avLst>
              <a:gd name="adj" fmla="val 8000"/>
            </a:avLst>
          </a:prstGeom>
          <a:solidFill>
            <a:schemeClr val="accent3">
              <a:lumMod val="18000"/>
              <a:lumOff val="82000"/>
            </a:schemeClr>
          </a:solidFill>
          <a:ln w="19050">
            <a:solidFill>
              <a:schemeClr val="accent3"/>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3D T1w MRI (1, 64³)</a:t>
            </a:r>
            <a:endParaRPr lang="en-US" sz="1200" dirty="0"/>
          </a:p>
        </p:txBody>
      </p:sp>
      <p:sp>
        <p:nvSpPr>
          <p:cNvPr id="32" name="stream arrow S1"/>
          <p:cNvSpPr/>
          <p:nvPr/>
        </p:nvSpPr>
        <p:spPr>
          <a:xfrm>
            <a:off x="1541630" y="2535600"/>
            <a:ext cx="140000" cy="140000"/>
          </a:xfrm>
          <a:prstGeom prst="downArrow">
            <a:avLst/>
          </a:prstGeom>
          <a:solidFill>
            <a:schemeClr val="tx2"/>
          </a:solidFill>
          <a:ln>
            <a:noFill/>
          </a:ln>
        </p:spPr>
      </p:sp>
      <p:sp>
        <p:nvSpPr>
          <p:cNvPr id="33" name="stream T1"/>
          <p:cNvSpPr/>
          <p:nvPr/>
        </p:nvSpPr>
        <p:spPr>
          <a:xfrm>
            <a:off x="2720340" y="1828800"/>
            <a:ext cx="1851660" cy="685800"/>
          </a:xfrm>
          <a:prstGeom prst="roundRect">
            <a:avLst>
              <a:gd name="adj" fmla="val 8000"/>
            </a:avLst>
          </a:prstGeom>
          <a:solidFill>
            <a:schemeClr val="accent2">
              <a:lumMod val="18000"/>
              <a:lumOff val="82000"/>
            </a:schemeClr>
          </a:solidFill>
          <a:ln w="19050">
            <a:solidFill>
              <a:schemeClr val="accent2"/>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VEP or spectrum (1, 500)</a:t>
            </a:r>
            <a:endParaRPr lang="en-US" sz="1200" dirty="0"/>
          </a:p>
        </p:txBody>
      </p:sp>
      <p:sp>
        <p:nvSpPr>
          <p:cNvPr id="34" name="stream arrow T1"/>
          <p:cNvSpPr/>
          <p:nvPr/>
        </p:nvSpPr>
        <p:spPr>
          <a:xfrm>
            <a:off x="3576170" y="2535600"/>
            <a:ext cx="140000" cy="140000"/>
          </a:xfrm>
          <a:prstGeom prst="downArrow">
            <a:avLst/>
          </a:prstGeom>
          <a:solidFill>
            <a:schemeClr val="tx2"/>
          </a:solidFill>
          <a:ln>
            <a:noFill/>
          </a:ln>
        </p:spPr>
      </p:sp>
      <p:sp>
        <p:nvSpPr>
          <p:cNvPr id="35" name="stream S2"/>
          <p:cNvSpPr/>
          <p:nvPr/>
        </p:nvSpPr>
        <p:spPr>
          <a:xfrm>
            <a:off x="685800" y="2697480"/>
            <a:ext cx="1851660" cy="685800"/>
          </a:xfrm>
          <a:prstGeom prst="roundRect">
            <a:avLst>
              <a:gd name="adj" fmla="val 8000"/>
            </a:avLst>
          </a:prstGeom>
          <a:solidFill>
            <a:schemeClr val="accent3">
              <a:lumMod val="18000"/>
              <a:lumOff val="82000"/>
            </a:schemeClr>
          </a:solidFill>
          <a:ln w="19050">
            <a:solidFill>
              <a:schemeClr val="accent3"/>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Stem + 3 SE residual blocks, 16 → 128 ch.</a:t>
            </a:r>
            <a:endParaRPr lang="en-US" sz="1200" dirty="0"/>
          </a:p>
        </p:txBody>
      </p:sp>
      <p:sp>
        <p:nvSpPr>
          <p:cNvPr id="36" name="stream arrow S2"/>
          <p:cNvSpPr/>
          <p:nvPr/>
        </p:nvSpPr>
        <p:spPr>
          <a:xfrm>
            <a:off x="1541630" y="3404280"/>
            <a:ext cx="140000" cy="140000"/>
          </a:xfrm>
          <a:prstGeom prst="downArrow">
            <a:avLst/>
          </a:prstGeom>
          <a:solidFill>
            <a:schemeClr val="tx2"/>
          </a:solidFill>
          <a:ln>
            <a:noFill/>
          </a:ln>
        </p:spPr>
      </p:sp>
      <p:sp>
        <p:nvSpPr>
          <p:cNvPr id="37" name="stream T2"/>
          <p:cNvSpPr/>
          <p:nvPr/>
        </p:nvSpPr>
        <p:spPr>
          <a:xfrm>
            <a:off x="2720340" y="2697480"/>
            <a:ext cx="1851660" cy="685800"/>
          </a:xfrm>
          <a:prstGeom prst="roundRect">
            <a:avLst>
              <a:gd name="adj" fmla="val 8000"/>
            </a:avLst>
          </a:prstGeom>
          <a:solidFill>
            <a:schemeClr val="accent2">
              <a:lumMod val="18000"/>
              <a:lumOff val="82000"/>
            </a:schemeClr>
          </a:solidFill>
          <a:ln w="19050">
            <a:solidFill>
              <a:schemeClr val="accent2"/>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Stem + 3 strided stages, multi-scale k = 3 / 9 / 19</a:t>
            </a:r>
            <a:endParaRPr lang="en-US" sz="1200" dirty="0"/>
          </a:p>
        </p:txBody>
      </p:sp>
      <p:sp>
        <p:nvSpPr>
          <p:cNvPr id="38" name="stream arrow T2"/>
          <p:cNvSpPr/>
          <p:nvPr/>
        </p:nvSpPr>
        <p:spPr>
          <a:xfrm>
            <a:off x="3576170" y="3404280"/>
            <a:ext cx="140000" cy="140000"/>
          </a:xfrm>
          <a:prstGeom prst="downArrow">
            <a:avLst/>
          </a:prstGeom>
          <a:solidFill>
            <a:schemeClr val="tx2"/>
          </a:solidFill>
          <a:ln>
            <a:noFill/>
          </a:ln>
        </p:spPr>
      </p:sp>
      <p:sp>
        <p:nvSpPr>
          <p:cNvPr id="39" name="stream S3"/>
          <p:cNvSpPr/>
          <p:nvPr/>
        </p:nvSpPr>
        <p:spPr>
          <a:xfrm>
            <a:off x="685800" y="3566160"/>
            <a:ext cx="1851660" cy="685800"/>
          </a:xfrm>
          <a:prstGeom prst="roundRect">
            <a:avLst>
              <a:gd name="adj" fmla="val 8000"/>
            </a:avLst>
          </a:prstGeom>
          <a:solidFill>
            <a:schemeClr val="accent3">
              <a:lumMod val="18000"/>
              <a:lumOff val="82000"/>
            </a:schemeClr>
          </a:solidFill>
          <a:ln w="19050">
            <a:solidFill>
              <a:schemeClr val="accent3"/>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Pool 4×4×4 + 3D pos-emb: 64 × 128 tokens</a:t>
            </a:r>
            <a:endParaRPr lang="en-US" sz="1200" dirty="0"/>
          </a:p>
        </p:txBody>
      </p:sp>
      <p:sp>
        <p:nvSpPr>
          <p:cNvPr id="40" name="stream T3"/>
          <p:cNvSpPr/>
          <p:nvPr/>
        </p:nvSpPr>
        <p:spPr>
          <a:xfrm>
            <a:off x="2720340" y="3566160"/>
            <a:ext cx="1851660" cy="685800"/>
          </a:xfrm>
          <a:prstGeom prst="roundRect">
            <a:avLst>
              <a:gd name="adj" fmla="val 8000"/>
            </a:avLst>
          </a:prstGeom>
          <a:solidFill>
            <a:schemeClr val="accent2">
              <a:lumMod val="18000"/>
              <a:lumOff val="82000"/>
            </a:schemeClr>
          </a:solidFill>
          <a:ln w="19050">
            <a:solidFill>
              <a:schemeClr val="accent2"/>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Pool + sinusoidal enc.: 16 × 128 tokens</a:t>
            </a:r>
            <a:endParaRPr lang="en-US" sz="1200" dirty="0"/>
          </a:p>
        </p:txBody>
      </p:sp>
      <p:sp>
        <p:nvSpPr>
          <p:cNvPr id="41" name="fusion box"/>
          <p:cNvSpPr/>
          <p:nvPr/>
        </p:nvSpPr>
        <p:spPr>
          <a:xfrm>
            <a:off x="685800" y="4572000"/>
            <a:ext cx="3886200" cy="685800"/>
          </a:xfrm>
          <a:prstGeom prst="roundRect">
            <a:avLst>
              <a:gd name="adj" fmla="val 8000"/>
            </a:avLst>
          </a:prstGeom>
          <a:solidFill>
            <a:schemeClr val="accent4">
              <a:lumMod val="18000"/>
              <a:lumOff val="82000"/>
            </a:schemeClr>
          </a:solidFill>
          <a:ln w="19050">
            <a:solidFill>
              <a:schemeClr val="accent4"/>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Gated bidirectional cross-attention, then learned attention pool</a:t>
            </a:r>
            <a:endParaRPr lang="en-US" sz="1200" dirty="0"/>
          </a:p>
        </p:txBody>
      </p:sp>
      <p:sp>
        <p:nvSpPr>
          <p:cNvPr id="42" name="heads box"/>
          <p:cNvSpPr/>
          <p:nvPr/>
        </p:nvSpPr>
        <p:spPr>
          <a:xfrm>
            <a:off x="685800" y="5394960"/>
            <a:ext cx="3886200" cy="594360"/>
          </a:xfrm>
          <a:prstGeom prst="roundRect">
            <a:avLst>
              <a:gd name="adj" fmla="val 8000"/>
            </a:avLst>
          </a:prstGeom>
          <a:solidFill>
            <a:schemeClr val="tx2">
              <a:lumMod val="12000"/>
              <a:lumOff val="88000"/>
            </a:schemeClr>
          </a:solidFill>
          <a:ln w="19050">
            <a:solidFill>
              <a:schemeClr val="tx2"/>
            </a:solidFill>
          </a:ln>
        </p:spPr>
        <p:txBody>
          <a:bodyPr wrap="square" lIns="64008" tIns="32004" rIns="64008" bIns="32004" rtlCol="0" anchor="ctr"/>
          <a:lstStyle/>
          <a:p>
            <a:pPr algn="ctr" indent="0" marL="0">
              <a:buNone/>
            </a:pPr>
            <a:r>
              <a:rPr lang="en-US" sz="1200" dirty="0">
                <a:solidFill>
                  <a:schemeClr val="tx1"/>
                </a:solidFill>
                <a:latin typeface="Calibri" pitchFamily="34" charset="0"/>
              </a:rPr>
              <a:t>Fused head + 2 auxiliary heads (128 → 3)</a:t>
            </a:r>
            <a:endParaRPr lang="en-US" sz="1200" dirty="0"/>
          </a:p>
        </p:txBody>
      </p:sp>
      <p:sp>
        <p:nvSpPr>
          <p:cNvPr id="43" name="to fusion L"/>
          <p:cNvSpPr/>
          <p:nvPr/>
        </p:nvSpPr>
        <p:spPr>
          <a:xfrm>
            <a:off x="1541630" y="4318000"/>
            <a:ext cx="140000" cy="227000"/>
          </a:xfrm>
          <a:prstGeom prst="downArrow">
            <a:avLst/>
          </a:prstGeom>
          <a:solidFill>
            <a:schemeClr val="tx2"/>
          </a:solidFill>
          <a:ln>
            <a:noFill/>
          </a:ln>
        </p:spPr>
      </p:sp>
      <p:sp>
        <p:nvSpPr>
          <p:cNvPr id="44" name="to fusion R"/>
          <p:cNvSpPr/>
          <p:nvPr/>
        </p:nvSpPr>
        <p:spPr>
          <a:xfrm>
            <a:off x="3576170" y="4318000"/>
            <a:ext cx="140000" cy="227000"/>
          </a:xfrm>
          <a:prstGeom prst="downArrow">
            <a:avLst/>
          </a:prstGeom>
          <a:solidFill>
            <a:schemeClr val="tx2"/>
          </a:solidFill>
          <a:ln>
            <a:noFill/>
          </a:ln>
        </p:spPr>
      </p:sp>
      <p:sp>
        <p:nvSpPr>
          <p:cNvPr id="45" name="to heads"/>
          <p:cNvSpPr/>
          <p:nvPr/>
        </p:nvSpPr>
        <p:spPr>
          <a:xfrm>
            <a:off x="2558900" y="5290000"/>
            <a:ext cx="140000" cy="100000"/>
          </a:xfrm>
          <a:prstGeom prst="downArrow">
            <a:avLst/>
          </a:prstGeom>
          <a:solidFill>
            <a:schemeClr val="tx2"/>
          </a:solidFill>
          <a:ln>
            <a:no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Gated bidirectional cross-attention</a:t>
            </a:r>
            <a:endParaRPr lang="en-US" sz="3600" dirty="0"/>
          </a:p>
        </p:txBody>
      </p:sp>
      <p:sp>
        <p:nvSpPr>
          <p:cNvPr id="3" name="update equations card"/>
          <p:cNvSpPr/>
          <p:nvPr/>
        </p:nvSpPr>
        <p:spPr>
          <a:xfrm>
            <a:off x="548640" y="1325880"/>
            <a:ext cx="7406640" cy="3611880"/>
          </a:xfrm>
          <a:prstGeom prst="roundRect">
            <a:avLst>
              <a:gd name="adj" fmla="val 253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1" name="attn note 1"/>
          <p:cNvSpPr/>
          <p:nvPr/>
        </p:nvSpPr>
        <p:spPr>
          <a:xfrm>
            <a:off x="548640"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2" name="64 queries badge"/>
          <p:cNvSpPr/>
          <p:nvPr/>
        </p:nvSpPr>
        <p:spPr>
          <a:xfrm>
            <a:off x="749808" y="5394960"/>
            <a:ext cx="548640" cy="548640"/>
          </a:xfrm>
          <a:prstGeom prst="ellipse">
            <a:avLst/>
          </a:prstGeom>
          <a:solidFill>
            <a:schemeClr val="accent3"/>
          </a:solidFill>
          <a:ln/>
        </p:spPr>
        <p:txBody>
          <a:bodyPr/>
          <a:p/>
        </p:txBody>
      </p:sp>
      <p:pic>
        <p:nvPicPr>
          <p:cNvPr id="13" name="64 queries icon" descr="64 queries">    </p:cNvPr>
          <p:cNvPicPr>
            <a:picLocks noChangeAspect="1"/>
          </p:cNvPicPr>
          <p:nvPr/>
        </p:nvPicPr>
        <p:blipFill>
          <a:blip r:embed="rId2"/>
          <a:stretch>
            <a:fillRect/>
          </a:stretch>
        </p:blipFill>
        <p:spPr>
          <a:xfrm>
            <a:off x="886968" y="5532120"/>
            <a:ext cx="274320" cy="274320"/>
          </a:xfrm>
          <a:prstGeom prst="rect">
            <a:avLst/>
          </a:prstGeom>
        </p:spPr>
      </p:pic>
      <p:sp>
        <p:nvSpPr>
          <p:cNvPr id="14" name="Text 10"/>
          <p:cNvSpPr txBox="1"/>
          <p:nvPr/>
        </p:nvSpPr>
        <p:spPr>
          <a:xfrm>
            <a:off x="1463040"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Temporal queries</a:t>
            </a:r>
            <a:endParaRPr lang="en-US" sz="1600" dirty="0"/>
          </a:p>
        </p:txBody>
      </p:sp>
      <p:sp>
        <p:nvSpPr>
          <p:cNvPr id="15" name="Text 11"/>
          <p:cNvSpPr txBox="1"/>
          <p:nvPr/>
        </p:nvSpPr>
        <p:spPr>
          <a:xfrm>
            <a:off x="1463040"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16 temporal tokens query the 64 spatial tokens</a:t>
            </a:r>
            <a:endParaRPr lang="en-US" sz="1400" dirty="0"/>
          </a:p>
        </p:txBody>
      </p:sp>
      <p:sp>
        <p:nvSpPr>
          <p:cNvPr id="16" name="attn note 2"/>
          <p:cNvSpPr/>
          <p:nvPr/>
        </p:nvSpPr>
        <p:spPr>
          <a:xfrm>
            <a:off x="4338218"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7" name="16 keys and values badge"/>
          <p:cNvSpPr/>
          <p:nvPr/>
        </p:nvSpPr>
        <p:spPr>
          <a:xfrm>
            <a:off x="4539386" y="5394960"/>
            <a:ext cx="548640" cy="548640"/>
          </a:xfrm>
          <a:prstGeom prst="ellipse">
            <a:avLst/>
          </a:prstGeom>
          <a:solidFill>
            <a:schemeClr val="accent2"/>
          </a:solidFill>
          <a:ln/>
        </p:spPr>
        <p:txBody>
          <a:bodyPr/>
          <a:p/>
        </p:txBody>
      </p:sp>
      <p:pic>
        <p:nvPicPr>
          <p:cNvPr id="18" name="16 keys and values icon" descr="16 keys and values">    </p:cNvPr>
          <p:cNvPicPr>
            <a:picLocks noChangeAspect="1"/>
          </p:cNvPicPr>
          <p:nvPr/>
        </p:nvPicPr>
        <p:blipFill>
          <a:blip r:embed="rId3"/>
          <a:stretch>
            <a:fillRect/>
          </a:stretch>
        </p:blipFill>
        <p:spPr>
          <a:xfrm>
            <a:off x="4676546" y="5532120"/>
            <a:ext cx="274320" cy="274320"/>
          </a:xfrm>
          <a:prstGeom prst="rect">
            <a:avLst/>
          </a:prstGeom>
        </p:spPr>
      </p:pic>
      <p:sp>
        <p:nvSpPr>
          <p:cNvPr id="19" name="Text 14"/>
          <p:cNvSpPr txBox="1"/>
          <p:nvPr/>
        </p:nvSpPr>
        <p:spPr>
          <a:xfrm>
            <a:off x="5252618"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Spatial queries</a:t>
            </a:r>
            <a:endParaRPr lang="en-US" sz="1600" dirty="0"/>
          </a:p>
        </p:txBody>
      </p:sp>
      <p:sp>
        <p:nvSpPr>
          <p:cNvPr id="20" name="Text 15"/>
          <p:cNvSpPr txBox="1"/>
          <p:nvPr/>
        </p:nvSpPr>
        <p:spPr>
          <a:xfrm>
            <a:off x="5252618"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64 spatial tokens query the enriched temporal tokens</a:t>
            </a:r>
            <a:endParaRPr lang="en-US" sz="1400" dirty="0"/>
          </a:p>
        </p:txBody>
      </p:sp>
      <p:sp>
        <p:nvSpPr>
          <p:cNvPr id="21" name="attn note 3"/>
          <p:cNvSpPr/>
          <p:nvPr/>
        </p:nvSpPr>
        <p:spPr>
          <a:xfrm>
            <a:off x="8127797" y="5120640"/>
            <a:ext cx="3515258" cy="1097280"/>
          </a:xfrm>
          <a:prstGeom prst="roundRect">
            <a:avLst>
              <a:gd name="adj" fmla="val 8333"/>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2" name="Fused tokens (B, 64, 128) badge"/>
          <p:cNvSpPr/>
          <p:nvPr/>
        </p:nvSpPr>
        <p:spPr>
          <a:xfrm>
            <a:off x="8328965" y="5394960"/>
            <a:ext cx="548640" cy="548640"/>
          </a:xfrm>
          <a:prstGeom prst="ellipse">
            <a:avLst/>
          </a:prstGeom>
          <a:solidFill>
            <a:schemeClr val="accent4"/>
          </a:solidFill>
          <a:ln/>
        </p:spPr>
        <p:txBody>
          <a:bodyPr/>
          <a:p/>
        </p:txBody>
      </p:sp>
      <p:pic>
        <p:nvPicPr>
          <p:cNvPr id="23" name="Fused tokens (B, 64, 128) icon" descr="Fused tokens (B, 64, 128)">    </p:cNvPr>
          <p:cNvPicPr>
            <a:picLocks noChangeAspect="1"/>
          </p:cNvPicPr>
          <p:nvPr/>
        </p:nvPicPr>
        <p:blipFill>
          <a:blip r:embed="rId4"/>
          <a:stretch>
            <a:fillRect/>
          </a:stretch>
        </p:blipFill>
        <p:spPr>
          <a:xfrm>
            <a:off x="8466125" y="5532120"/>
            <a:ext cx="274320" cy="274320"/>
          </a:xfrm>
          <a:prstGeom prst="rect">
            <a:avLst/>
          </a:prstGeom>
        </p:spPr>
      </p:pic>
      <p:sp>
        <p:nvSpPr>
          <p:cNvPr id="24" name="Text 18"/>
          <p:cNvSpPr txBox="1"/>
          <p:nvPr/>
        </p:nvSpPr>
        <p:spPr>
          <a:xfrm>
            <a:off x="9042197" y="5257800"/>
            <a:ext cx="2417978"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Attention pool</a:t>
            </a:r>
            <a:endParaRPr lang="en-US" sz="1600" dirty="0"/>
          </a:p>
        </p:txBody>
      </p:sp>
      <p:sp>
        <p:nvSpPr>
          <p:cNvPr id="25" name="Text 19"/>
          <p:cNvSpPr txBox="1"/>
          <p:nvPr/>
        </p:nvSpPr>
        <p:spPr>
          <a:xfrm>
            <a:off x="9042197" y="5641848"/>
            <a:ext cx="2417978" cy="4572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learned pool; both attention maps returned</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
        <p:nvSpPr>
          <p:cNvPr id="26" name="eq header"/>
          <p:cNvSpPr txBox="1"/>
          <p:nvPr/>
        </p:nvSpPr>
        <p:spPr>
          <a:xfrm>
            <a:off x="822960" y="1508760"/>
            <a:ext cx="6858000" cy="320040"/>
          </a:xfrm>
          <a:prstGeom prst="rect">
            <a:avLst/>
          </a:prstGeom>
          <a:noFill/>
          <a:ln>
            <a:noFill/>
          </a:ln>
        </p:spPr>
        <p:txBody>
          <a:bodyPr wrap="square" lIns="0" tIns="0" rIns="0" bIns="0" rtlCol="0" anchor="t"/>
          <a:lstStyle/>
          <a:p>
            <a:pPr indent="0" marL="0">
              <a:buNone/>
            </a:pPr>
            <a:r>
              <a:rPr lang="en-US" sz="1400" b="1" dirty="0">
                <a:solidFill>
                  <a:schemeClr val="accent1"/>
                </a:solidFill>
                <a:latin typeface="Calibri" pitchFamily="34" charset="0"/>
              </a:rPr>
              <a:t>Each pre-norm block updates both streams, temporal first</a:t>
            </a:r>
            <a:endParaRPr lang="en-US" sz="1400" dirty="0"/>
          </a:p>
        </p:txBody>
      </p:sp>
      <p:sp>
        <p:nvSpPr>
          <p:cNvPr id="27" name="eq step 1"/>
          <p:cNvSpPr/>
          <p:nvPr/>
        </p:nvSpPr>
        <p:spPr>
          <a:xfrm>
            <a:off x="822960" y="2011680"/>
            <a:ext cx="457200" cy="457200"/>
          </a:xfrm>
          <a:prstGeom prst="ellipse">
            <a:avLst/>
          </a:prstGeom>
          <a:solidFill>
            <a:schemeClr val="accent2"/>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1</a:t>
            </a:r>
            <a:endParaRPr lang="en-US" sz="2000" dirty="0"/>
          </a:p>
        </p:txBody>
      </p:sp>
      <p:sp>
        <p:nvSpPr>
          <p:cNvPr id="28" name="eq 1"/>
          <p:cNvSpPr txBox="1"/>
          <p:nvPr/>
        </p:nvSpPr>
        <p:spPr>
          <a:xfrm>
            <a:off x="1508760" y="1965960"/>
            <a:ext cx="6309360" cy="548640"/>
          </a:xfrm>
          <a:prstGeom prst="rect">
            <a:avLst/>
          </a:prstGeom>
          <a:noFill/>
          <a:ln>
            <a:noFill/>
          </a:ln>
        </p:spPr>
        <p:txBody>
          <a:bodyPr wrap="square" lIns="0" tIns="0" rIns="0" bIns="0" rtlCol="0" anchor="ctr"/>
          <a:lstStyle/>
          <a:p>
            <a:pPr indent="0" marL="0">
              <a:buNone/>
            </a:pPr>
            <a:r>
              <a:rPr lang="en-US" sz="2600" i="1" dirty="0">
                <a:solidFill>
                  <a:schemeClr val="tx1"/>
                </a:solidFill>
                <a:latin typeface="Cambria" pitchFamily="34" charset="0"/>
              </a:rPr>
              <a:t>t′ = t + σ(g</a:t>
            </a:r>
            <a:r>
              <a:rPr lang="en-US" sz="2600" i="1" baseline="-25000" dirty="0">
                <a:solidFill>
                  <a:schemeClr val="tx1"/>
                </a:solidFill>
                <a:latin typeface="Cambria" pitchFamily="34" charset="0"/>
              </a:rPr>
              <a:t>t</a:t>
            </a:r>
            <a:r>
              <a:rPr lang="en-US" sz="2600" i="1" dirty="0">
                <a:solidFill>
                  <a:schemeClr val="tx1"/>
                </a:solidFill>
                <a:latin typeface="Cambria" pitchFamily="34" charset="0"/>
              </a:rPr>
              <a:t>) · CA(LN(t), s)</a:t>
            </a:r>
            <a:endParaRPr lang="en-US" sz="2600" dirty="0"/>
          </a:p>
        </p:txBody>
      </p:sp>
      <p:sp>
        <p:nvSpPr>
          <p:cNvPr id="29" name="eq 1 sub"/>
          <p:cNvSpPr txBox="1"/>
          <p:nvPr/>
        </p:nvSpPr>
        <p:spPr>
          <a:xfrm>
            <a:off x="1508760" y="2560320"/>
            <a:ext cx="6309360" cy="32004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then  t′ ← t′ + FFN</a:t>
            </a:r>
            <a:r>
              <a:rPr lang="en-US" sz="1400" baseline="-25000" dirty="0">
                <a:solidFill>
                  <a:schemeClr val="tx2"/>
                </a:solidFill>
                <a:latin typeface="Calibri" pitchFamily="34" charset="0"/>
              </a:rPr>
              <a:t>t</a:t>
            </a:r>
            <a:r>
              <a:rPr lang="en-US" sz="1400" dirty="0">
                <a:solidFill>
                  <a:schemeClr val="tx2"/>
                </a:solidFill>
                <a:latin typeface="Calibri" pitchFamily="34" charset="0"/>
              </a:rPr>
              <a:t>(LN(t′))      temporal tokens read the spatial tokens</a:t>
            </a:r>
            <a:endParaRPr lang="en-US" sz="1400" dirty="0"/>
          </a:p>
        </p:txBody>
      </p:sp>
      <p:sp>
        <p:nvSpPr>
          <p:cNvPr id="30" name="eq step 2"/>
          <p:cNvSpPr/>
          <p:nvPr/>
        </p:nvSpPr>
        <p:spPr>
          <a:xfrm>
            <a:off x="822960" y="3200400"/>
            <a:ext cx="457200" cy="457200"/>
          </a:xfrm>
          <a:prstGeom prst="ellipse">
            <a:avLst/>
          </a:prstGeom>
          <a:solidFill>
            <a:schemeClr val="accent3"/>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2</a:t>
            </a:r>
            <a:endParaRPr lang="en-US" sz="2000" dirty="0"/>
          </a:p>
        </p:txBody>
      </p:sp>
      <p:sp>
        <p:nvSpPr>
          <p:cNvPr id="31" name="eq 2"/>
          <p:cNvSpPr txBox="1"/>
          <p:nvPr/>
        </p:nvSpPr>
        <p:spPr>
          <a:xfrm>
            <a:off x="1508760" y="3154680"/>
            <a:ext cx="6309360" cy="548640"/>
          </a:xfrm>
          <a:prstGeom prst="rect">
            <a:avLst/>
          </a:prstGeom>
          <a:noFill/>
          <a:ln>
            <a:noFill/>
          </a:ln>
        </p:spPr>
        <p:txBody>
          <a:bodyPr wrap="square" lIns="0" tIns="0" rIns="0" bIns="0" rtlCol="0" anchor="ctr"/>
          <a:lstStyle/>
          <a:p>
            <a:pPr indent="0" marL="0">
              <a:buNone/>
            </a:pPr>
            <a:r>
              <a:rPr lang="en-US" sz="2600" i="1" dirty="0">
                <a:solidFill>
                  <a:schemeClr val="tx1"/>
                </a:solidFill>
                <a:latin typeface="Cambria" pitchFamily="34" charset="0"/>
              </a:rPr>
              <a:t>s′ = s + σ(g</a:t>
            </a:r>
            <a:r>
              <a:rPr lang="en-US" sz="2600" i="1" baseline="-25000" dirty="0">
                <a:solidFill>
                  <a:schemeClr val="tx1"/>
                </a:solidFill>
                <a:latin typeface="Cambria" pitchFamily="34" charset="0"/>
              </a:rPr>
              <a:t>s</a:t>
            </a:r>
            <a:r>
              <a:rPr lang="en-US" sz="2600" i="1" dirty="0">
                <a:solidFill>
                  <a:schemeClr val="tx1"/>
                </a:solidFill>
                <a:latin typeface="Cambria" pitchFamily="34" charset="0"/>
              </a:rPr>
              <a:t>) · CA(LN(s), t′)</a:t>
            </a:r>
            <a:endParaRPr lang="en-US" sz="2600" dirty="0"/>
          </a:p>
        </p:txBody>
      </p:sp>
      <p:sp>
        <p:nvSpPr>
          <p:cNvPr id="32" name="eq 2 sub"/>
          <p:cNvSpPr txBox="1"/>
          <p:nvPr/>
        </p:nvSpPr>
        <p:spPr>
          <a:xfrm>
            <a:off x="1508760" y="3749040"/>
            <a:ext cx="6309360" cy="32004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then  s′ ← s′ + FFN</a:t>
            </a:r>
            <a:r>
              <a:rPr lang="en-US" sz="1400" baseline="-25000" dirty="0">
                <a:solidFill>
                  <a:schemeClr val="tx2"/>
                </a:solidFill>
                <a:latin typeface="Calibri" pitchFamily="34" charset="0"/>
              </a:rPr>
              <a:t>s</a:t>
            </a:r>
            <a:r>
              <a:rPr lang="en-US" sz="1400" dirty="0">
                <a:solidFill>
                  <a:schemeClr val="tx2"/>
                </a:solidFill>
                <a:latin typeface="Calibri" pitchFamily="34" charset="0"/>
              </a:rPr>
              <a:t>(LN(s′))      spatial tokens read the enriched temporal tokens</a:t>
            </a:r>
            <a:endParaRPr lang="en-US" sz="1400" dirty="0"/>
          </a:p>
        </p:txBody>
      </p:sp>
      <p:sp>
        <p:nvSpPr>
          <p:cNvPr id="33" name="eq footnote"/>
          <p:cNvSpPr txBox="1"/>
          <p:nvPr/>
        </p:nvSpPr>
        <p:spPr>
          <a:xfrm>
            <a:off x="822960" y="4297680"/>
            <a:ext cx="6858000" cy="502920"/>
          </a:xfrm>
          <a:prstGeom prst="rect">
            <a:avLst/>
          </a:prstGeom>
          <a:noFill/>
          <a:ln>
            <a:noFill/>
          </a:ln>
        </p:spPr>
        <p:txBody>
          <a:bodyPr wrap="square" lIns="0" tIns="0" rIns="0" bIns="0" rtlCol="0" anchor="t"/>
          <a:lstStyle/>
          <a:p>
            <a:pPr indent="0" marL="0">
              <a:buNone/>
            </a:pPr>
            <a:r>
              <a:rPr lang="en-US" sz="1200" i="1" dirty="0">
                <a:solidFill>
                  <a:schemeClr val="tx2"/>
                </a:solidFill>
                <a:latin typeface="Calibri" pitchFamily="34" charset="0"/>
              </a:rPr>
              <a:t>CA = multi-head cross-attention; LN = layer norm; FFN = feed-forward; σ(g) is a learned scalar gate per direction.</a:t>
            </a:r>
            <a:endParaRPr lang="en-US" sz="1200" dirty="0"/>
          </a:p>
        </p:txBody>
      </p:sp>
      <p:sp>
        <p:nvSpPr>
          <p:cNvPr id="34" name="attention card"/>
          <p:cNvSpPr/>
          <p:nvPr/>
        </p:nvSpPr>
        <p:spPr>
          <a:xfrm>
            <a:off x="8229600" y="1325880"/>
            <a:ext cx="3413455" cy="3611880"/>
          </a:xfrm>
          <a:prstGeom prst="roundRect">
            <a:avLst>
              <a:gd name="adj" fmla="val 2679"/>
            </a:avLst>
          </a:prstGeom>
          <a:solidFill>
            <a:schemeClr val="tx2"/>
          </a:solidFill>
          <a:ln>
            <a:noFill/>
          </a:ln>
          <a:effectLst>
            <a:outerShdw sx="100000" sy="100000" kx="0" ky="0" algn="bl" rotWithShape="0" blurRad="101600" dist="25400" dir="5400000">
              <a:srgbClr val="12232B">
                <a:alpha val="12000"/>
              </a:srgbClr>
            </a:outerShdw>
          </a:effectLst>
        </p:spPr>
        <p:txBody>
          <a:bodyPr/>
          <a:p/>
        </p:txBody>
      </p:sp>
      <p:sp>
        <p:nvSpPr>
          <p:cNvPr id="35" name="attn header"/>
          <p:cNvSpPr txBox="1"/>
          <p:nvPr/>
        </p:nvSpPr>
        <p:spPr>
          <a:xfrm>
            <a:off x="8503920" y="1508760"/>
            <a:ext cx="2864815" cy="320040"/>
          </a:xfrm>
          <a:prstGeom prst="rect">
            <a:avLst/>
          </a:prstGeom>
          <a:noFill/>
          <a:ln>
            <a:noFill/>
          </a:ln>
        </p:spPr>
        <p:txBody>
          <a:bodyPr wrap="square" lIns="0" tIns="0" rIns="0" bIns="0" rtlCol="0" anchor="t"/>
          <a:lstStyle/>
          <a:p>
            <a:pPr indent="0" marL="0">
              <a:buNone/>
            </a:pPr>
            <a:r>
              <a:rPr lang="en-US" sz="1400" b="1" dirty="0">
                <a:solidFill>
                  <a:schemeClr val="accent2"/>
                </a:solidFill>
                <a:latin typeface="Calibri" pitchFamily="34" charset="0"/>
              </a:rPr>
              <a:t>Attention, per head</a:t>
            </a:r>
            <a:endParaRPr lang="en-US" sz="1400" dirty="0"/>
          </a:p>
        </p:txBody>
      </p:sp>
      <p:sp>
        <p:nvSpPr>
          <p:cNvPr id="36" name="attn eq"/>
          <p:cNvSpPr txBox="1"/>
          <p:nvPr/>
        </p:nvSpPr>
        <p:spPr>
          <a:xfrm>
            <a:off x="8503920" y="1920240"/>
            <a:ext cx="2864815" cy="457200"/>
          </a:xfrm>
          <a:prstGeom prst="rect">
            <a:avLst/>
          </a:prstGeom>
          <a:noFill/>
          <a:ln>
            <a:noFill/>
          </a:ln>
        </p:spPr>
        <p:txBody>
          <a:bodyPr wrap="square" lIns="0" tIns="0" rIns="0" bIns="0" rtlCol="0" anchor="ctr"/>
          <a:lstStyle/>
          <a:p>
            <a:pPr indent="0" marL="0">
              <a:buNone/>
            </a:pPr>
            <a:r>
              <a:rPr lang="en-US" sz="2000" i="1" dirty="0">
                <a:solidFill>
                  <a:schemeClr val="bg1"/>
                </a:solidFill>
                <a:latin typeface="Cambria" pitchFamily="34" charset="0"/>
              </a:rPr>
              <a:t>Q = X</a:t>
            </a:r>
            <a:r>
              <a:rPr lang="en-US" sz="2000" i="1" baseline="-25000" dirty="0">
                <a:solidFill>
                  <a:schemeClr val="bg1"/>
                </a:solidFill>
                <a:latin typeface="Cambria" pitchFamily="34" charset="0"/>
              </a:rPr>
              <a:t>q</a:t>
            </a:r>
            <a:r>
              <a:rPr lang="en-US" sz="2000" i="1" dirty="0">
                <a:solidFill>
                  <a:schemeClr val="bg1"/>
                </a:solidFill>
                <a:latin typeface="Cambria" pitchFamily="34" charset="0"/>
              </a:rPr>
              <a:t> W</a:t>
            </a:r>
            <a:r>
              <a:rPr lang="en-US" sz="2000" i="1" baseline="-25000" dirty="0">
                <a:solidFill>
                  <a:schemeClr val="bg1"/>
                </a:solidFill>
                <a:latin typeface="Cambria" pitchFamily="34" charset="0"/>
              </a:rPr>
              <a:t>Q</a:t>
            </a:r>
            <a:endParaRPr lang="en-US" sz="2000" dirty="0"/>
          </a:p>
        </p:txBody>
      </p:sp>
      <p:sp>
        <p:nvSpPr>
          <p:cNvPr id="37" name="attn eq"/>
          <p:cNvSpPr txBox="1"/>
          <p:nvPr/>
        </p:nvSpPr>
        <p:spPr>
          <a:xfrm>
            <a:off x="8503920" y="2468880"/>
            <a:ext cx="2864815" cy="457200"/>
          </a:xfrm>
          <a:prstGeom prst="rect">
            <a:avLst/>
          </a:prstGeom>
          <a:noFill/>
          <a:ln>
            <a:noFill/>
          </a:ln>
        </p:spPr>
        <p:txBody>
          <a:bodyPr wrap="square" lIns="0" tIns="0" rIns="0" bIns="0" rtlCol="0" anchor="ctr"/>
          <a:lstStyle/>
          <a:p>
            <a:pPr indent="0" marL="0">
              <a:buNone/>
            </a:pPr>
            <a:r>
              <a:rPr lang="en-US" sz="2000" i="1" dirty="0">
                <a:solidFill>
                  <a:schemeClr val="bg1"/>
                </a:solidFill>
                <a:latin typeface="Cambria" pitchFamily="34" charset="0"/>
              </a:rPr>
              <a:t>K = X</a:t>
            </a:r>
            <a:r>
              <a:rPr lang="en-US" sz="2000" i="1" baseline="-25000" dirty="0">
                <a:solidFill>
                  <a:schemeClr val="bg1"/>
                </a:solidFill>
                <a:latin typeface="Cambria" pitchFamily="34" charset="0"/>
              </a:rPr>
              <a:t>kv</a:t>
            </a:r>
            <a:r>
              <a:rPr lang="en-US" sz="2000" i="1" dirty="0">
                <a:solidFill>
                  <a:schemeClr val="bg1"/>
                </a:solidFill>
                <a:latin typeface="Cambria" pitchFamily="34" charset="0"/>
              </a:rPr>
              <a:t> W</a:t>
            </a:r>
            <a:r>
              <a:rPr lang="en-US" sz="2000" i="1" baseline="-25000" dirty="0">
                <a:solidFill>
                  <a:schemeClr val="bg1"/>
                </a:solidFill>
                <a:latin typeface="Cambria" pitchFamily="34" charset="0"/>
              </a:rPr>
              <a:t>K</a:t>
            </a:r>
            <a:r>
              <a:rPr lang="en-US" sz="2000" i="1" dirty="0">
                <a:solidFill>
                  <a:schemeClr val="bg1"/>
                </a:solidFill>
                <a:latin typeface="Cambria" pitchFamily="34" charset="0"/>
              </a:rPr>
              <a:t>,  V = X</a:t>
            </a:r>
            <a:r>
              <a:rPr lang="en-US" sz="2000" i="1" baseline="-25000" dirty="0">
                <a:solidFill>
                  <a:schemeClr val="bg1"/>
                </a:solidFill>
                <a:latin typeface="Cambria" pitchFamily="34" charset="0"/>
              </a:rPr>
              <a:t>kv</a:t>
            </a:r>
            <a:r>
              <a:rPr lang="en-US" sz="2000" i="1" dirty="0">
                <a:solidFill>
                  <a:schemeClr val="bg1"/>
                </a:solidFill>
                <a:latin typeface="Cambria" pitchFamily="34" charset="0"/>
              </a:rPr>
              <a:t> W</a:t>
            </a:r>
            <a:r>
              <a:rPr lang="en-US" sz="2000" i="1" baseline="-25000" dirty="0">
                <a:solidFill>
                  <a:schemeClr val="bg1"/>
                </a:solidFill>
                <a:latin typeface="Cambria" pitchFamily="34" charset="0"/>
              </a:rPr>
              <a:t>V</a:t>
            </a:r>
            <a:endParaRPr lang="en-US" sz="2000" dirty="0"/>
          </a:p>
        </p:txBody>
      </p:sp>
      <p:sp>
        <p:nvSpPr>
          <p:cNvPr id="38" name="attn eq"/>
          <p:cNvSpPr txBox="1"/>
          <p:nvPr/>
        </p:nvSpPr>
        <p:spPr>
          <a:xfrm>
            <a:off x="8503920" y="3017520"/>
            <a:ext cx="2864815" cy="457200"/>
          </a:xfrm>
          <a:prstGeom prst="rect">
            <a:avLst/>
          </a:prstGeom>
          <a:noFill/>
          <a:ln>
            <a:noFill/>
          </a:ln>
        </p:spPr>
        <p:txBody>
          <a:bodyPr wrap="square" lIns="0" tIns="0" rIns="0" bIns="0" rtlCol="0" anchor="ctr"/>
          <a:lstStyle/>
          <a:p>
            <a:pPr indent="0" marL="0">
              <a:buNone/>
            </a:pPr>
            <a:r>
              <a:rPr lang="en-US" sz="2000" i="1" dirty="0">
                <a:solidFill>
                  <a:schemeClr val="bg1"/>
                </a:solidFill>
                <a:latin typeface="Cambria" pitchFamily="34" charset="0"/>
              </a:rPr>
              <a:t>A = softmax(Q Kᵀ / √d</a:t>
            </a:r>
            <a:r>
              <a:rPr lang="en-US" sz="2000" i="1" baseline="-25000" dirty="0">
                <a:solidFill>
                  <a:schemeClr val="bg1"/>
                </a:solidFill>
                <a:latin typeface="Cambria" pitchFamily="34" charset="0"/>
              </a:rPr>
              <a:t>h</a:t>
            </a:r>
            <a:r>
              <a:rPr lang="en-US" sz="2000" i="1" dirty="0">
                <a:solidFill>
                  <a:schemeClr val="bg1"/>
                </a:solidFill>
                <a:latin typeface="Cambria" pitchFamily="34" charset="0"/>
              </a:rPr>
              <a:t>)</a:t>
            </a:r>
            <a:endParaRPr lang="en-US" sz="2000" dirty="0"/>
          </a:p>
        </p:txBody>
      </p:sp>
      <p:sp>
        <p:nvSpPr>
          <p:cNvPr id="39" name="attn text"/>
          <p:cNvSpPr txBox="1"/>
          <p:nvPr/>
        </p:nvSpPr>
        <p:spPr>
          <a:xfrm>
            <a:off x="8503920" y="3611880"/>
            <a:ext cx="2864815" cy="1143000"/>
          </a:xfrm>
          <a:prstGeom prst="rect">
            <a:avLst/>
          </a:prstGeom>
          <a:noFill/>
          <a:ln>
            <a:noFill/>
          </a:ln>
        </p:spPr>
        <p:txBody>
          <a:bodyPr wrap="square" lIns="0" tIns="0" rIns="0" bIns="0" rtlCol="0" anchor="t"/>
          <a:lstStyle/>
          <a:p>
            <a:pPr indent="0" marL="0">
              <a:buNone/>
            </a:pPr>
            <a:r>
              <a:rPr lang="en-US" sz="1400" dirty="0">
                <a:solidFill>
                  <a:schemeClr val="bg2"/>
                </a:solidFill>
                <a:latin typeface="Calibri" pitchFamily="34" charset="0"/>
              </a:rPr>
              <a:t>4 heads, d_h = d / H = 32. Gates g_s and g_t are learned scalars initialised at 0, so σ(0) = 0.5.</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One fused loss, two auxiliary heads</a:t>
            </a:r>
            <a:endParaRPr lang="en-US" sz="3600" dirty="0"/>
          </a:p>
        </p:txBody>
      </p:sp>
      <p:sp>
        <p:nvSpPr>
          <p:cNvPr id="3" name="fig_training_flow card"/>
          <p:cNvSpPr/>
          <p:nvPr/>
        </p:nvSpPr>
        <p:spPr>
          <a:xfrm>
            <a:off x="548640" y="1325880"/>
            <a:ext cx="7680960" cy="3154680"/>
          </a:xfrm>
          <a:prstGeom prst="roundRect">
            <a:avLst>
              <a:gd name="adj" fmla="val 289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loss card"/>
          <p:cNvSpPr/>
          <p:nvPr/>
        </p:nvSpPr>
        <p:spPr>
          <a:xfrm>
            <a:off x="8503920" y="1325880"/>
            <a:ext cx="3139135" cy="3154680"/>
          </a:xfrm>
          <a:prstGeom prst="roundRect">
            <a:avLst>
              <a:gd name="adj" fmla="val 2913"/>
            </a:avLst>
          </a:prstGeom>
          <a:solidFill>
            <a:schemeClr val="tx2"/>
          </a:solidFill>
          <a:ln/>
          <a:effectLst>
            <a:outerShdw sx="100000" sy="100000" kx="0" ky="0" algn="bl" rotWithShape="0" blurRad="101600" dist="25400" dir="5400000">
              <a:srgbClr val="12232B">
                <a:alpha val="12000"/>
              </a:srgbClr>
            </a:outerShdw>
          </a:effectLst>
        </p:spPr>
        <p:txBody>
          <a:bodyPr/>
          <a:p/>
        </p:txBody>
      </p:sp>
      <p:sp>
        <p:nvSpPr>
          <p:cNvPr id="6" name="Text 3"/>
          <p:cNvSpPr txBox="1"/>
          <p:nvPr/>
        </p:nvSpPr>
        <p:spPr>
          <a:xfrm>
            <a:off x="8778240" y="1508760"/>
            <a:ext cx="2590495" cy="320040"/>
          </a:xfrm>
          <a:prstGeom prst="rect">
            <a:avLst/>
          </a:prstGeom>
          <a:noFill/>
          <a:ln/>
        </p:spPr>
        <p:txBody>
          <a:bodyPr wrap="square" lIns="0" tIns="0" rIns="0" bIns="0" rtlCol="0" anchor="t"/>
          <a:lstStyle/>
          <a:p>
            <a:pPr indent="0" marL="0">
              <a:buNone/>
            </a:pPr>
            <a:r>
              <a:rPr lang="en-US" sz="1400" b="1" dirty="0">
                <a:solidFill>
                  <a:schemeClr val="accent2"/>
                </a:solidFill>
                <a:latin typeface="Calibri" pitchFamily="34" charset="0"/>
                <a:ea typeface="Calibri" pitchFamily="34" charset="-122"/>
                <a:cs typeface="Calibri" pitchFamily="34" charset="-120"/>
              </a:rPr>
              <a:t>Multi-task objective</a:t>
            </a:r>
            <a:endParaRPr lang="en-US" sz="1400" dirty="0"/>
          </a:p>
        </p:txBody>
      </p:sp>
      <p:sp>
        <p:nvSpPr>
          <p:cNvPr id="7" name="Text 4"/>
          <p:cNvSpPr txBox="1"/>
          <p:nvPr/>
        </p:nvSpPr>
        <p:spPr>
          <a:xfrm>
            <a:off x="8778240" y="1920240"/>
            <a:ext cx="2590495" cy="548640"/>
          </a:xfrm>
          <a:prstGeom prst="rect">
            <a:avLst/>
          </a:prstGeom>
          <a:noFill/>
          <a:ln/>
        </p:spPr>
        <p:txBody>
          <a:bodyPr wrap="square" lIns="0" tIns="0" rIns="0" bIns="0" rtlCol="0" anchor="ctr"/>
          <a:lstStyle/>
          <a:p>
            <a:pPr indent="0" marL="0">
              <a:buNone/>
            </a:pPr>
            <a:r>
              <a:rPr lang="en-US" sz="2400" i="1" dirty="0">
                <a:solidFill>
                  <a:schemeClr val="bg1"/>
                </a:solidFill>
                <a:latin typeface="Cambria" pitchFamily="34" charset="0"/>
                <a:ea typeface="Cambria" pitchFamily="34" charset="-122"/>
                <a:cs typeface="Cambria" pitchFamily="34" charset="-120"/>
              </a:rPr>
              <a:t>L = L</a:t>
            </a:r>
            <a:pPr indent="0" marL="0">
              <a:buNone/>
            </a:pPr>
            <a:r>
              <a:rPr lang="en-US" sz="2400" i="1" baseline="-40000" dirty="0">
                <a:solidFill>
                  <a:schemeClr val="bg1"/>
                </a:solidFill>
                <a:latin typeface="Cambria" pitchFamily="34" charset="0"/>
                <a:ea typeface="Cambria" pitchFamily="34" charset="-122"/>
                <a:cs typeface="Cambria" pitchFamily="34" charset="-120"/>
              </a:rPr>
              <a:t>f</a:t>
            </a:r>
            <a:pPr indent="0" marL="0">
              <a:buNone/>
            </a:pPr>
            <a:r>
              <a:rPr lang="en-US" sz="2400" i="1" dirty="0">
                <a:solidFill>
                  <a:schemeClr val="bg1"/>
                </a:solidFill>
                <a:latin typeface="Cambria" pitchFamily="34" charset="0"/>
                <a:ea typeface="Cambria" pitchFamily="34" charset="-122"/>
                <a:cs typeface="Cambria" pitchFamily="34" charset="-120"/>
              </a:rPr>
              <a:t> + 0.3 (L</a:t>
            </a:r>
            <a:pPr indent="0" marL="0">
              <a:buNone/>
            </a:pPr>
            <a:r>
              <a:rPr lang="en-US" sz="2400" i="1" baseline="-40000" dirty="0">
                <a:solidFill>
                  <a:schemeClr val="bg1"/>
                </a:solidFill>
                <a:latin typeface="Cambria" pitchFamily="34" charset="0"/>
                <a:ea typeface="Cambria" pitchFamily="34" charset="-122"/>
                <a:cs typeface="Cambria" pitchFamily="34" charset="-120"/>
              </a:rPr>
              <a:t>s</a:t>
            </a:r>
            <a:pPr indent="0" marL="0">
              <a:buNone/>
            </a:pPr>
            <a:r>
              <a:rPr lang="en-US" sz="2400" i="1" dirty="0">
                <a:solidFill>
                  <a:schemeClr val="bg1"/>
                </a:solidFill>
                <a:latin typeface="Cambria" pitchFamily="34" charset="0"/>
                <a:ea typeface="Cambria" pitchFamily="34" charset="-122"/>
                <a:cs typeface="Cambria" pitchFamily="34" charset="-120"/>
              </a:rPr>
              <a:t> + L</a:t>
            </a:r>
            <a:pPr indent="0" marL="0">
              <a:buNone/>
            </a:pPr>
            <a:r>
              <a:rPr lang="en-US" sz="2400" i="1" baseline="-40000" dirty="0">
                <a:solidFill>
                  <a:schemeClr val="bg1"/>
                </a:solidFill>
                <a:latin typeface="Cambria" pitchFamily="34" charset="0"/>
                <a:ea typeface="Cambria" pitchFamily="34" charset="-122"/>
                <a:cs typeface="Cambria" pitchFamily="34" charset="-120"/>
              </a:rPr>
              <a:t>t</a:t>
            </a:r>
            <a:pPr indent="0" marL="0">
              <a:buNone/>
            </a:pPr>
            <a:r>
              <a:rPr lang="en-US" sz="2400" i="1" dirty="0">
                <a:solidFill>
                  <a:schemeClr val="bg1"/>
                </a:solidFill>
                <a:latin typeface="Cambria" pitchFamily="34" charset="0"/>
                <a:ea typeface="Cambria" pitchFamily="34" charset="-122"/>
                <a:cs typeface="Cambria" pitchFamily="34" charset="-120"/>
              </a:rPr>
              <a:t>)</a:t>
            </a:r>
            <a:endParaRPr lang="en-US" sz="2400" dirty="0"/>
          </a:p>
        </p:txBody>
      </p:sp>
      <p:sp>
        <p:nvSpPr>
          <p:cNvPr id="8" name="Text 5"/>
          <p:cNvSpPr txBox="1"/>
          <p:nvPr/>
        </p:nvSpPr>
        <p:spPr>
          <a:xfrm>
            <a:off x="8778240" y="2651760"/>
            <a:ext cx="2590495" cy="1645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Cross-entropy on the fused, spatial and temporal heads. The auxiliary terms stop the fused head from ignoring one modality. Optional: class weights, label smoothing, modality dropout.</a:t>
            </a:r>
            <a:endParaRPr lang="en-US" sz="1400" dirty="0"/>
          </a:p>
        </p:txBody>
      </p:sp>
      <p:sp>
        <p:nvSpPr>
          <p:cNvPr id="9" name="config optimiser, lr 1e-3"/>
          <p:cNvSpPr/>
          <p:nvPr/>
        </p:nvSpPr>
        <p:spPr>
          <a:xfrm>
            <a:off x="548640"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ext 7"/>
          <p:cNvSpPr txBox="1"/>
          <p:nvPr/>
        </p:nvSpPr>
        <p:spPr>
          <a:xfrm>
            <a:off x="685800"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AdamW</a:t>
            </a:r>
            <a:endParaRPr lang="en-US" sz="2800" dirty="0"/>
          </a:p>
        </p:txBody>
      </p:sp>
      <p:sp>
        <p:nvSpPr>
          <p:cNvPr id="11" name="Text 8"/>
          <p:cNvSpPr txBox="1"/>
          <p:nvPr/>
        </p:nvSpPr>
        <p:spPr>
          <a:xfrm>
            <a:off x="685800"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optimiser, lr 1e-3</a:t>
            </a:r>
            <a:endParaRPr lang="en-US" sz="1400" dirty="0"/>
          </a:p>
        </p:txBody>
      </p:sp>
      <p:sp>
        <p:nvSpPr>
          <p:cNvPr id="12" name="config weight decay"/>
          <p:cNvSpPr/>
          <p:nvPr/>
        </p:nvSpPr>
        <p:spPr>
          <a:xfrm>
            <a:off x="2804099"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3" name="Text 10"/>
          <p:cNvSpPr txBox="1"/>
          <p:nvPr/>
        </p:nvSpPr>
        <p:spPr>
          <a:xfrm>
            <a:off x="2941259"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1e-4</a:t>
            </a:r>
            <a:endParaRPr lang="en-US" sz="2800" dirty="0"/>
          </a:p>
        </p:txBody>
      </p:sp>
      <p:sp>
        <p:nvSpPr>
          <p:cNvPr id="14" name="Text 11"/>
          <p:cNvSpPr txBox="1"/>
          <p:nvPr/>
        </p:nvSpPr>
        <p:spPr>
          <a:xfrm>
            <a:off x="2941259"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weight decay</a:t>
            </a:r>
            <a:endParaRPr lang="en-US" sz="1400" dirty="0"/>
          </a:p>
        </p:txBody>
      </p:sp>
      <p:sp>
        <p:nvSpPr>
          <p:cNvPr id="15" name="config batch size"/>
          <p:cNvSpPr/>
          <p:nvPr/>
        </p:nvSpPr>
        <p:spPr>
          <a:xfrm>
            <a:off x="5059558"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6" name="Text 13"/>
          <p:cNvSpPr txBox="1"/>
          <p:nvPr/>
        </p:nvSpPr>
        <p:spPr>
          <a:xfrm>
            <a:off x="5196718"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8</a:t>
            </a:r>
            <a:endParaRPr lang="en-US" sz="2800" dirty="0"/>
          </a:p>
        </p:txBody>
      </p:sp>
      <p:sp>
        <p:nvSpPr>
          <p:cNvPr id="17" name="Text 14"/>
          <p:cNvSpPr txBox="1"/>
          <p:nvPr/>
        </p:nvSpPr>
        <p:spPr>
          <a:xfrm>
            <a:off x="5196718"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batch size</a:t>
            </a:r>
            <a:endParaRPr lang="en-US" sz="1400" dirty="0"/>
          </a:p>
        </p:txBody>
      </p:sp>
      <p:sp>
        <p:nvSpPr>
          <p:cNvPr id="18" name="config epochs"/>
          <p:cNvSpPr/>
          <p:nvPr/>
        </p:nvSpPr>
        <p:spPr>
          <a:xfrm>
            <a:off x="7315017"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9" name="Text 16"/>
          <p:cNvSpPr txBox="1"/>
          <p:nvPr/>
        </p:nvSpPr>
        <p:spPr>
          <a:xfrm>
            <a:off x="7452177"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Cosine</a:t>
            </a:r>
            <a:endParaRPr lang="en-US" sz="2800" dirty="0"/>
          </a:p>
        </p:txBody>
      </p:sp>
      <p:sp>
        <p:nvSpPr>
          <p:cNvPr id="20" name="Text 17"/>
          <p:cNvSpPr txBox="1"/>
          <p:nvPr/>
        </p:nvSpPr>
        <p:spPr>
          <a:xfrm>
            <a:off x="7452177"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LR schedule, 10% warmup</a:t>
            </a:r>
            <a:endParaRPr lang="en-US" sz="1400" dirty="0"/>
          </a:p>
        </p:txBody>
      </p:sp>
      <p:sp>
        <p:nvSpPr>
          <p:cNvPr id="21" name="config split, seed 42"/>
          <p:cNvSpPr/>
          <p:nvPr/>
        </p:nvSpPr>
        <p:spPr>
          <a:xfrm>
            <a:off x="9570476" y="4709160"/>
            <a:ext cx="2072579" cy="1417320"/>
          </a:xfrm>
          <a:prstGeom prst="roundRect">
            <a:avLst>
              <a:gd name="adj" fmla="val 645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2" name="Text 19"/>
          <p:cNvSpPr txBox="1"/>
          <p:nvPr/>
        </p:nvSpPr>
        <p:spPr>
          <a:xfrm>
            <a:off x="9707636" y="4846320"/>
            <a:ext cx="1798259" cy="5943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Bal. acc.</a:t>
            </a:r>
            <a:endParaRPr lang="en-US" sz="2800" dirty="0"/>
          </a:p>
        </p:txBody>
      </p:sp>
      <p:sp>
        <p:nvSpPr>
          <p:cNvPr id="23" name="Text 20"/>
          <p:cNvSpPr txBox="1"/>
          <p:nvPr/>
        </p:nvSpPr>
        <p:spPr>
          <a:xfrm>
            <a:off x="9707636" y="5486400"/>
            <a:ext cx="1798259"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checkpoint metric (validation)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
        <p:nvSpPr>
          <p:cNvPr id="26" name="train 1"/>
          <p:cNvSpPr/>
          <p:nvPr/>
        </p:nvSpPr>
        <p:spPr>
          <a:xfrm>
            <a:off x="685800" y="1508760"/>
            <a:ext cx="108204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100" dirty="0">
                <a:solidFill>
                  <a:schemeClr val="tx1"/>
                </a:solidFill>
                <a:latin typeface="Calibri" pitchFamily="34" charset="0"/>
              </a:rPr>
              <a:t>Dataset: synthetic or real cohort</a:t>
            </a:r>
            <a:endParaRPr lang="en-US" sz="1100" dirty="0"/>
          </a:p>
        </p:txBody>
      </p:sp>
      <p:sp>
        <p:nvSpPr>
          <p:cNvPr id="27" name="train arrow 1"/>
          <p:cNvSpPr/>
          <p:nvPr/>
        </p:nvSpPr>
        <p:spPr>
          <a:xfrm>
            <a:off x="1795272" y="1918820"/>
            <a:ext cx="128015" cy="140000"/>
          </a:xfrm>
          <a:prstGeom prst="rightArrow">
            <a:avLst/>
          </a:prstGeom>
          <a:solidFill>
            <a:schemeClr val="tx2"/>
          </a:solidFill>
          <a:ln>
            <a:noFill/>
          </a:ln>
        </p:spPr>
        <p:txBody>
          <a:bodyPr/>
          <a:p/>
        </p:txBody>
      </p:sp>
      <p:sp>
        <p:nvSpPr>
          <p:cNvPr id="28" name="train 2"/>
          <p:cNvSpPr/>
          <p:nvPr/>
        </p:nvSpPr>
        <p:spPr>
          <a:xfrm>
            <a:off x="1950720" y="1508760"/>
            <a:ext cx="108204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100" dirty="0">
                <a:solidFill>
                  <a:schemeClr val="tx1"/>
                </a:solidFill>
                <a:latin typeface="Calibri" pitchFamily="34" charset="0"/>
              </a:rPr>
              <a:t>Seeded, stratified split</a:t>
            </a:r>
            <a:endParaRPr lang="en-US" sz="1100" dirty="0"/>
          </a:p>
        </p:txBody>
      </p:sp>
      <p:sp>
        <p:nvSpPr>
          <p:cNvPr id="29" name="train arrow 2"/>
          <p:cNvSpPr/>
          <p:nvPr/>
        </p:nvSpPr>
        <p:spPr>
          <a:xfrm>
            <a:off x="3060192" y="1918820"/>
            <a:ext cx="128015" cy="140000"/>
          </a:xfrm>
          <a:prstGeom prst="rightArrow">
            <a:avLst/>
          </a:prstGeom>
          <a:solidFill>
            <a:schemeClr val="tx2"/>
          </a:solidFill>
          <a:ln>
            <a:noFill/>
          </a:ln>
        </p:spPr>
        <p:txBody>
          <a:bodyPr/>
          <a:p/>
        </p:txBody>
      </p:sp>
      <p:sp>
        <p:nvSpPr>
          <p:cNvPr id="30" name="train 3"/>
          <p:cNvSpPr/>
          <p:nvPr/>
        </p:nvSpPr>
        <p:spPr>
          <a:xfrm>
            <a:off x="3215640" y="1508760"/>
            <a:ext cx="108204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100" dirty="0">
                <a:solidFill>
                  <a:schemeClr val="tx1"/>
                </a:solidFill>
                <a:latin typeface="Calibri" pitchFamily="34" charset="0"/>
              </a:rPr>
              <a:t>DataLoader, batch 8</a:t>
            </a:r>
            <a:endParaRPr lang="en-US" sz="1100" dirty="0"/>
          </a:p>
        </p:txBody>
      </p:sp>
      <p:sp>
        <p:nvSpPr>
          <p:cNvPr id="31" name="train arrow 3"/>
          <p:cNvSpPr/>
          <p:nvPr/>
        </p:nvSpPr>
        <p:spPr>
          <a:xfrm>
            <a:off x="4325112" y="1918820"/>
            <a:ext cx="128015" cy="140000"/>
          </a:xfrm>
          <a:prstGeom prst="rightArrow">
            <a:avLst/>
          </a:prstGeom>
          <a:solidFill>
            <a:schemeClr val="tx2"/>
          </a:solidFill>
          <a:ln>
            <a:noFill/>
          </a:ln>
        </p:spPr>
        <p:txBody>
          <a:bodyPr/>
          <a:p/>
        </p:txBody>
      </p:sp>
      <p:sp>
        <p:nvSpPr>
          <p:cNvPr id="32" name="train 4"/>
          <p:cNvSpPr/>
          <p:nvPr/>
        </p:nvSpPr>
        <p:spPr>
          <a:xfrm>
            <a:off x="4480560" y="1508760"/>
            <a:ext cx="1082040" cy="96012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100" dirty="0">
                <a:solidFill>
                  <a:schemeClr val="tx1"/>
                </a:solidFill>
                <a:latin typeface="Calibri" pitchFamily="34" charset="0"/>
              </a:rPr>
              <a:t>CAFN forward: fused + 2 aux logits</a:t>
            </a:r>
            <a:endParaRPr lang="en-US" sz="1100" dirty="0"/>
          </a:p>
        </p:txBody>
      </p:sp>
      <p:sp>
        <p:nvSpPr>
          <p:cNvPr id="33" name="train arrow 4"/>
          <p:cNvSpPr/>
          <p:nvPr/>
        </p:nvSpPr>
        <p:spPr>
          <a:xfrm>
            <a:off x="5590032" y="1918820"/>
            <a:ext cx="128015" cy="140000"/>
          </a:xfrm>
          <a:prstGeom prst="rightArrow">
            <a:avLst/>
          </a:prstGeom>
          <a:solidFill>
            <a:schemeClr val="tx2"/>
          </a:solidFill>
          <a:ln>
            <a:noFill/>
          </a:ln>
        </p:spPr>
        <p:txBody>
          <a:bodyPr/>
          <a:p/>
        </p:txBody>
      </p:sp>
      <p:sp>
        <p:nvSpPr>
          <p:cNvPr id="34" name="train 5"/>
          <p:cNvSpPr/>
          <p:nvPr/>
        </p:nvSpPr>
        <p:spPr>
          <a:xfrm>
            <a:off x="5745480" y="1508760"/>
            <a:ext cx="1082040" cy="960120"/>
          </a:xfrm>
          <a:prstGeom prst="roundRect">
            <a:avLst>
              <a:gd name="adj" fmla="val 8000"/>
            </a:avLst>
          </a:prstGeom>
          <a:solidFill>
            <a:schemeClr val="accent4">
              <a:lumMod val="18000"/>
              <a:lumOff val="82000"/>
            </a:schemeClr>
          </a:solidFill>
          <a:ln w="19050">
            <a:solidFill>
              <a:schemeClr val="accent4"/>
            </a:solidFill>
          </a:ln>
        </p:spPr>
        <p:txBody>
          <a:bodyPr wrap="square" lIns="91440" tIns="45720" rIns="91440" bIns="45720" rtlCol="0" anchor="ctr"/>
          <a:lstStyle/>
          <a:p>
            <a:pPr algn="ctr" indent="0" marL="0">
              <a:buNone/>
            </a:pPr>
            <a:r>
              <a:rPr lang="en-US" sz="1100" dirty="0">
                <a:solidFill>
                  <a:schemeClr val="tx1"/>
                </a:solidFill>
                <a:latin typeface="Calibri" pitchFamily="34" charset="0"/>
              </a:rPr>
              <a:t>Multi-task loss L_f + 0.3 (L_s + L_t)</a:t>
            </a:r>
            <a:endParaRPr lang="en-US" sz="1100" dirty="0"/>
          </a:p>
        </p:txBody>
      </p:sp>
      <p:sp>
        <p:nvSpPr>
          <p:cNvPr id="35" name="train arrow 5"/>
          <p:cNvSpPr/>
          <p:nvPr/>
        </p:nvSpPr>
        <p:spPr>
          <a:xfrm>
            <a:off x="6854952" y="1918820"/>
            <a:ext cx="128015" cy="140000"/>
          </a:xfrm>
          <a:prstGeom prst="rightArrow">
            <a:avLst/>
          </a:prstGeom>
          <a:solidFill>
            <a:schemeClr val="tx2"/>
          </a:solidFill>
          <a:ln>
            <a:noFill/>
          </a:ln>
        </p:spPr>
        <p:txBody>
          <a:bodyPr/>
          <a:p/>
        </p:txBody>
      </p:sp>
      <p:sp>
        <p:nvSpPr>
          <p:cNvPr id="36" name="train 6"/>
          <p:cNvSpPr/>
          <p:nvPr/>
        </p:nvSpPr>
        <p:spPr>
          <a:xfrm>
            <a:off x="7010400" y="1508760"/>
            <a:ext cx="108204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100" dirty="0">
                <a:solidFill>
                  <a:schemeClr val="tx1"/>
                </a:solidFill>
                <a:latin typeface="Calibri" pitchFamily="34" charset="0"/>
              </a:rPr>
              <a:t>Backward + AdamW update</a:t>
            </a:r>
            <a:endParaRPr lang="en-US" sz="1100" dirty="0"/>
          </a:p>
        </p:txBody>
      </p:sp>
      <p:sp>
        <p:nvSpPr>
          <p:cNvPr id="37" name="epoch note"/>
          <p:cNvSpPr txBox="1"/>
          <p:nvPr/>
        </p:nvSpPr>
        <p:spPr>
          <a:xfrm>
            <a:off x="685800" y="2514600"/>
            <a:ext cx="7406640" cy="228600"/>
          </a:xfrm>
          <a:prstGeom prst="rect">
            <a:avLst/>
          </a:prstGeom>
          <a:noFill/>
          <a:ln>
            <a:noFill/>
          </a:ln>
        </p:spPr>
        <p:txBody>
          <a:bodyPr wrap="square" lIns="0" tIns="0" rIns="0" bIns="0" rtlCol="0" anchor="ctr"/>
          <a:lstStyle/>
          <a:p>
            <a:pPr algn="ctr" indent="0" marL="0">
              <a:buNone/>
            </a:pPr>
            <a:r>
              <a:rPr lang="en-US" sz="1200" i="1" dirty="0">
                <a:solidFill>
                  <a:schemeClr val="tx2"/>
                </a:solidFill>
                <a:latin typeface="Calibri" pitchFamily="34" charset="0"/>
              </a:rPr>
              <a:t>repeat for each epoch</a:t>
            </a:r>
            <a:endParaRPr lang="en-US" sz="1200" dirty="0"/>
          </a:p>
        </p:txBody>
      </p:sp>
      <p:sp>
        <p:nvSpPr>
          <p:cNvPr id="38" name="eval 1"/>
          <p:cNvSpPr/>
          <p:nvPr/>
        </p:nvSpPr>
        <p:spPr>
          <a:xfrm>
            <a:off x="685800" y="2834640"/>
            <a:ext cx="231648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Per-epoch validation (loss, balanced accuracy)</a:t>
            </a:r>
            <a:endParaRPr lang="en-US" sz="1200" dirty="0"/>
          </a:p>
        </p:txBody>
      </p:sp>
      <p:sp>
        <p:nvSpPr>
          <p:cNvPr id="39" name="eval arrow 1"/>
          <p:cNvSpPr/>
          <p:nvPr/>
        </p:nvSpPr>
        <p:spPr>
          <a:xfrm>
            <a:off x="3036570" y="3244700"/>
            <a:ext cx="160020" cy="140000"/>
          </a:xfrm>
          <a:prstGeom prst="rightArrow">
            <a:avLst/>
          </a:prstGeom>
          <a:solidFill>
            <a:schemeClr val="tx2"/>
          </a:solidFill>
          <a:ln>
            <a:noFill/>
          </a:ln>
        </p:spPr>
        <p:txBody>
          <a:bodyPr/>
          <a:p/>
        </p:txBody>
      </p:sp>
      <p:sp>
        <p:nvSpPr>
          <p:cNvPr id="40" name="eval 2"/>
          <p:cNvSpPr/>
          <p:nvPr/>
        </p:nvSpPr>
        <p:spPr>
          <a:xfrm>
            <a:off x="3230880" y="2834640"/>
            <a:ext cx="2316480" cy="960120"/>
          </a:xfrm>
          <a:prstGeom prst="roundRect">
            <a:avLst>
              <a:gd name="adj" fmla="val 8000"/>
            </a:avLst>
          </a:prstGeom>
          <a:solidFill>
            <a:schemeClr val="tx2">
              <a:lumMod val="18000"/>
              <a:lumOff val="82000"/>
            </a:schemeClr>
          </a:solidFill>
          <a:ln w="19050">
            <a:solidFill>
              <a:schemeClr val="tx2"/>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Checkpoint: best validation balanced accuracy</a:t>
            </a:r>
            <a:endParaRPr lang="en-US" sz="1200" dirty="0"/>
          </a:p>
        </p:txBody>
      </p:sp>
      <p:sp>
        <p:nvSpPr>
          <p:cNvPr id="41" name="eval arrow 2"/>
          <p:cNvSpPr/>
          <p:nvPr/>
        </p:nvSpPr>
        <p:spPr>
          <a:xfrm>
            <a:off x="5581650" y="3244700"/>
            <a:ext cx="160020" cy="140000"/>
          </a:xfrm>
          <a:prstGeom prst="rightArrow">
            <a:avLst/>
          </a:prstGeom>
          <a:solidFill>
            <a:schemeClr val="tx2"/>
          </a:solidFill>
          <a:ln>
            <a:noFill/>
          </a:ln>
        </p:spPr>
        <p:txBody>
          <a:bodyPr/>
          <a:p/>
        </p:txBody>
      </p:sp>
      <p:sp>
        <p:nvSpPr>
          <p:cNvPr id="42" name="eval 3"/>
          <p:cNvSpPr/>
          <p:nvPr/>
        </p:nvSpPr>
        <p:spPr>
          <a:xfrm>
            <a:off x="5775960" y="2834640"/>
            <a:ext cx="2316480" cy="960120"/>
          </a:xfrm>
          <a:prstGeom prst="roundRect">
            <a:avLst>
              <a:gd name="adj" fmla="val 8000"/>
            </a:avLst>
          </a:prstGeom>
          <a:solidFill>
            <a:schemeClr val="accent5">
              <a:lumMod val="18000"/>
              <a:lumOff val="82000"/>
            </a:schemeClr>
          </a:solidFill>
          <a:ln w="19050">
            <a:solidFill>
              <a:schemeClr val="accent5"/>
            </a:solidFill>
          </a:ln>
        </p:spPr>
        <p:txBody>
          <a:bodyPr wrap="square" lIns="91440" tIns="45720" rIns="91440" bIns="45720" rtlCol="0" anchor="ctr"/>
          <a:lstStyle/>
          <a:p>
            <a:pPr algn="ctr" indent="0" marL="0">
              <a:buNone/>
            </a:pPr>
            <a:r>
              <a:rPr lang="en-US" sz="1200" dirty="0">
                <a:solidFill>
                  <a:schemeClr val="tx1"/>
                </a:solidFill>
                <a:latin typeface="Calibri" pitchFamily="34" charset="0"/>
              </a:rPr>
              <a:t>Held-out test, Grad-CAM and attention maps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Explanations are inspection aids</a:t>
            </a:r>
            <a:endParaRPr lang="en-US" sz="3600" dirty="0"/>
          </a:p>
        </p:txBody>
      </p:sp>
      <p:sp>
        <p:nvSpPr>
          <p:cNvPr id="3" name="fig_explainability card"/>
          <p:cNvSpPr/>
          <p:nvPr/>
        </p:nvSpPr>
        <p:spPr>
          <a:xfrm>
            <a:off x="548640" y="1325880"/>
            <a:ext cx="7040880" cy="3429000"/>
          </a:xfrm>
          <a:prstGeom prst="roundRect">
            <a:avLst>
              <a:gd name="adj" fmla="val 2667"/>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4" name="fig_explainability" descr="fig explainability">    </p:cNvPr>
          <p:cNvPicPr>
            <a:picLocks noChangeAspect="1"/>
          </p:cNvPicPr>
          <p:nvPr/>
        </p:nvPicPr>
        <p:blipFill>
          <a:blip r:embed="rId1"/>
          <a:stretch>
            <a:fillRect/>
          </a:stretch>
        </p:blipFill>
        <p:spPr>
          <a:xfrm>
            <a:off x="685800" y="1487350"/>
            <a:ext cx="6766560" cy="3106060"/>
          </a:xfrm>
          <a:prstGeom prst="rect">
            <a:avLst/>
          </a:prstGeom>
        </p:spPr>
      </p:pic>
      <p:sp>
        <p:nvSpPr>
          <p:cNvPr id="5" name="what they show"/>
          <p:cNvSpPr/>
          <p:nvPr/>
        </p:nvSpPr>
        <p:spPr>
          <a:xfrm>
            <a:off x="7863840" y="1325880"/>
            <a:ext cx="3779215" cy="1600200"/>
          </a:xfrm>
          <a:prstGeom prst="roundRect">
            <a:avLst>
              <a:gd name="adj" fmla="val 5714"/>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6" name="search badge"/>
          <p:cNvSpPr/>
          <p:nvPr/>
        </p:nvSpPr>
        <p:spPr>
          <a:xfrm>
            <a:off x="8065008" y="1527048"/>
            <a:ext cx="502920" cy="502920"/>
          </a:xfrm>
          <a:prstGeom prst="ellipse">
            <a:avLst/>
          </a:prstGeom>
          <a:solidFill>
            <a:schemeClr val="accent5"/>
          </a:solidFill>
          <a:ln/>
        </p:spPr>
        <p:txBody>
          <a:bodyPr/>
          <a:p/>
        </p:txBody>
      </p:sp>
      <p:pic>
        <p:nvPicPr>
          <p:cNvPr id="7" name="search icon" descr="search">    </p:cNvPr>
          <p:cNvPicPr>
            <a:picLocks noChangeAspect="1"/>
          </p:cNvPicPr>
          <p:nvPr/>
        </p:nvPicPr>
        <p:blipFill>
          <a:blip r:embed="rId2"/>
          <a:stretch>
            <a:fillRect/>
          </a:stretch>
        </p:blipFill>
        <p:spPr>
          <a:xfrm>
            <a:off x="8190738" y="1652778"/>
            <a:ext cx="251460" cy="251460"/>
          </a:xfrm>
          <a:prstGeom prst="rect">
            <a:avLst/>
          </a:prstGeom>
        </p:spPr>
      </p:pic>
      <p:sp>
        <p:nvSpPr>
          <p:cNvPr id="8" name="Text 4"/>
          <p:cNvSpPr txBox="1"/>
          <p:nvPr/>
        </p:nvSpPr>
        <p:spPr>
          <a:xfrm>
            <a:off x="8732520" y="1527048"/>
            <a:ext cx="272765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they show</a:t>
            </a:r>
            <a:endParaRPr lang="en-US" sz="1800" dirty="0"/>
          </a:p>
        </p:txBody>
      </p:sp>
      <p:sp>
        <p:nvSpPr>
          <p:cNvPr id="9" name="Text 5"/>
          <p:cNvSpPr txBox="1"/>
          <p:nvPr/>
        </p:nvSpPr>
        <p:spPr>
          <a:xfrm>
            <a:off x="8065008" y="2167128"/>
            <a:ext cx="3376879" cy="6858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Where the 3D encoder responds (Grad-CAM, Grad-CAM++) and which tokens each stream attends to, per head, in both directions.</a:t>
            </a:r>
            <a:endParaRPr lang="en-US" sz="1400" dirty="0"/>
          </a:p>
        </p:txBody>
      </p:sp>
      <p:sp>
        <p:nvSpPr>
          <p:cNvPr id="10" name="what they do not show"/>
          <p:cNvSpPr/>
          <p:nvPr/>
        </p:nvSpPr>
        <p:spPr>
          <a:xfrm>
            <a:off x="7863840" y="3108960"/>
            <a:ext cx="3779215"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1" name="warning badge"/>
          <p:cNvSpPr/>
          <p:nvPr/>
        </p:nvSpPr>
        <p:spPr>
          <a:xfrm>
            <a:off x="8065008" y="3310128"/>
            <a:ext cx="502920" cy="502920"/>
          </a:xfrm>
          <a:prstGeom prst="ellipse">
            <a:avLst/>
          </a:prstGeom>
          <a:solidFill>
            <a:schemeClr val="accent6"/>
          </a:solidFill>
          <a:ln/>
        </p:spPr>
        <p:txBody>
          <a:bodyPr/>
          <a:p/>
        </p:txBody>
      </p:sp>
      <p:pic>
        <p:nvPicPr>
          <p:cNvPr id="12" name="warning icon" descr="warning">    </p:cNvPr>
          <p:cNvPicPr>
            <a:picLocks noChangeAspect="1"/>
          </p:cNvPicPr>
          <p:nvPr/>
        </p:nvPicPr>
        <p:blipFill>
          <a:blip r:embed="rId3"/>
          <a:stretch>
            <a:fillRect/>
          </a:stretch>
        </p:blipFill>
        <p:spPr>
          <a:xfrm>
            <a:off x="8190738" y="3435858"/>
            <a:ext cx="251460" cy="251460"/>
          </a:xfrm>
          <a:prstGeom prst="rect">
            <a:avLst/>
          </a:prstGeom>
        </p:spPr>
      </p:pic>
      <p:sp>
        <p:nvSpPr>
          <p:cNvPr id="13" name="Text 8"/>
          <p:cNvSpPr txBox="1"/>
          <p:nvPr/>
        </p:nvSpPr>
        <p:spPr>
          <a:xfrm>
            <a:off x="8732520" y="3310128"/>
            <a:ext cx="2727655" cy="5029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What they do not</a:t>
            </a:r>
            <a:endParaRPr lang="en-US" sz="1800" dirty="0"/>
          </a:p>
        </p:txBody>
      </p:sp>
      <p:sp>
        <p:nvSpPr>
          <p:cNvPr id="14" name="Text 9"/>
          <p:cNvSpPr txBox="1"/>
          <p:nvPr/>
        </p:nvSpPr>
        <p:spPr>
          <a:xfrm>
            <a:off x="8065008" y="3950208"/>
            <a:ext cx="3376879"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causal or clinical explanation: attention and saliency are not automatically faithful.</a:t>
            </a:r>
            <a:endParaRPr lang="en-US" sz="1400" dirty="0"/>
          </a:p>
        </p:txBody>
      </p:sp>
      <p:sp>
        <p:nvSpPr>
          <p:cNvPr id="15" name="future sanity checks"/>
          <p:cNvSpPr/>
          <p:nvPr/>
        </p:nvSpPr>
        <p:spPr>
          <a:xfrm>
            <a:off x="548640" y="4983480"/>
            <a:ext cx="11094415" cy="1234440"/>
          </a:xfrm>
          <a:prstGeom prst="roundRect">
            <a:avLst>
              <a:gd name="adj" fmla="val 7407"/>
            </a:avLst>
          </a:prstGeom>
          <a:solidFill>
            <a:schemeClr val="tx2"/>
          </a:solidFill>
          <a:ln/>
          <a:effectLst>
            <a:outerShdw sx="100000" sy="100000" kx="0" ky="0" algn="bl" rotWithShape="0" blurRad="101600" dist="25400" dir="5400000">
              <a:srgbClr val="12232B">
                <a:alpha val="12000"/>
              </a:srgbClr>
            </a:outerShdw>
          </a:effectLst>
        </p:spPr>
        <p:txBody>
          <a:bodyPr/>
          <a:p/>
        </p:txBody>
      </p:sp>
      <p:sp>
        <p:nvSpPr>
          <p:cNvPr id="16" name="Text 11"/>
          <p:cNvSpPr txBox="1"/>
          <p:nvPr/>
        </p:nvSpPr>
        <p:spPr>
          <a:xfrm>
            <a:off x="914400" y="5074920"/>
            <a:ext cx="10362895" cy="105156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Planned: sanity checks of Grad-CAM and attention against clinician-marked regions, and tokens anchored to the VEP landmarks N75, P100 and N135.</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Synthetic data: a controlled generator</a:t>
            </a:r>
            <a:endParaRPr lang="en-US" sz="3600" dirty="0"/>
          </a:p>
        </p:txBody>
      </p:sp>
      <p:sp>
        <p:nvSpPr>
          <p:cNvPr id="3" name="fig_synthetic_mri card"/>
          <p:cNvSpPr/>
          <p:nvPr/>
        </p:nvSpPr>
        <p:spPr>
          <a:xfrm>
            <a:off x="548640" y="1325880"/>
            <a:ext cx="5486400"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4" name="fig_synthetic_mri" descr="fig synthetic mri">    </p:cNvPr>
          <p:cNvPicPr>
            <a:picLocks noChangeAspect="1"/>
          </p:cNvPicPr>
          <p:nvPr/>
        </p:nvPicPr>
        <p:blipFill>
          <a:blip r:embed="rId1"/>
          <a:stretch>
            <a:fillRect/>
          </a:stretch>
        </p:blipFill>
        <p:spPr>
          <a:xfrm>
            <a:off x="685800" y="1487370"/>
            <a:ext cx="5212080" cy="4002133"/>
          </a:xfrm>
          <a:prstGeom prst="rect">
            <a:avLst/>
          </a:prstGeom>
        </p:spPr>
      </p:pic>
      <p:sp>
        <p:nvSpPr>
          <p:cNvPr id="5" name="Text 2"/>
          <p:cNvSpPr txBox="1"/>
          <p:nvPr/>
        </p:nvSpPr>
        <p:spPr>
          <a:xfrm>
            <a:off x="731520" y="5605272"/>
            <a:ext cx="512064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MRI: N(100, 15²), 80×96×64. Glaucoma block ×0.4, Optic Neuritis/CVI block ×1.8 (dashed boxes).</a:t>
            </a:r>
            <a:endParaRPr lang="en-US" sz="1200" dirty="0"/>
          </a:p>
        </p:txBody>
      </p:sp>
      <p:sp>
        <p:nvSpPr>
          <p:cNvPr id="6" name="fig_vep_examples card"/>
          <p:cNvSpPr/>
          <p:nvPr/>
        </p:nvSpPr>
        <p:spPr>
          <a:xfrm>
            <a:off x="6309360" y="1325880"/>
            <a:ext cx="5333695"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7" name="fig_vep_examples" descr="fig vep examples">    </p:cNvPr>
          <p:cNvPicPr>
            <a:picLocks noChangeAspect="1"/>
          </p:cNvPicPr>
          <p:nvPr/>
        </p:nvPicPr>
        <p:blipFill>
          <a:blip r:embed="rId2"/>
          <a:stretch>
            <a:fillRect/>
          </a:stretch>
        </p:blipFill>
        <p:spPr>
          <a:xfrm>
            <a:off x="6627753" y="1463040"/>
            <a:ext cx="4696910" cy="4050792"/>
          </a:xfrm>
          <a:prstGeom prst="rect">
            <a:avLst/>
          </a:prstGeom>
        </p:spPr>
      </p:pic>
      <p:sp>
        <p:nvSpPr>
          <p:cNvPr id="8" name="Text 4"/>
          <p:cNvSpPr txBox="1"/>
          <p:nvPr/>
        </p:nvSpPr>
        <p:spPr>
          <a:xfrm>
            <a:off x="6492240" y="5605272"/>
            <a:ext cx="4967935"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VEP: N75–P100–N145 Gaussians plus 0.3 Hz drift, 50 Hz mains and noise (SD 0.3); raw left, conditioned right.</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P100 recovered within one sample</a:t>
            </a:r>
            <a:endParaRPr lang="en-US" sz="3600" dirty="0"/>
          </a:p>
        </p:txBody>
      </p:sp>
      <p:sp>
        <p:nvSpPr>
          <p:cNvPr id="3" name="stat 149 / 150"/>
          <p:cNvSpPr/>
          <p:nvPr/>
        </p:nvSpPr>
        <p:spPr>
          <a:xfrm>
            <a:off x="548640" y="1325880"/>
            <a:ext cx="3246120" cy="1554480"/>
          </a:xfrm>
          <a:prstGeom prst="roundRect">
            <a:avLst>
              <a:gd name="adj" fmla="val 588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Text 2"/>
          <p:cNvSpPr txBox="1"/>
          <p:nvPr/>
        </p:nvSpPr>
        <p:spPr>
          <a:xfrm>
            <a:off x="777240" y="1483868"/>
            <a:ext cx="2788920" cy="72644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149 / 150</a:t>
            </a:r>
            <a:endParaRPr lang="en-US" sz="4400" dirty="0"/>
          </a:p>
        </p:txBody>
      </p:sp>
      <p:sp>
        <p:nvSpPr>
          <p:cNvPr id="5" name="Text 3"/>
          <p:cNvSpPr txBox="1"/>
          <p:nvPr/>
        </p:nvSpPr>
        <p:spPr>
          <a:xfrm>
            <a:off x="777240" y="226517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synthetic trials within 4 ms (one sample) of the ground truth</a:t>
            </a:r>
            <a:endParaRPr lang="en-US" sz="1400" dirty="0"/>
          </a:p>
        </p:txBody>
      </p:sp>
      <p:sp>
        <p:nvSpPr>
          <p:cNvPr id="6" name="stat 8 ms"/>
          <p:cNvSpPr/>
          <p:nvPr/>
        </p:nvSpPr>
        <p:spPr>
          <a:xfrm>
            <a:off x="548640" y="3017520"/>
            <a:ext cx="3246120" cy="1554480"/>
          </a:xfrm>
          <a:prstGeom prst="roundRect">
            <a:avLst>
              <a:gd name="adj" fmla="val 588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7" name="Text 5"/>
          <p:cNvSpPr txBox="1"/>
          <p:nvPr/>
        </p:nvSpPr>
        <p:spPr>
          <a:xfrm>
            <a:off x="777240" y="3175508"/>
            <a:ext cx="2788920" cy="72644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8 ms</a:t>
            </a:r>
            <a:endParaRPr lang="en-US" sz="4400" dirty="0"/>
          </a:p>
        </p:txBody>
      </p:sp>
      <p:sp>
        <p:nvSpPr>
          <p:cNvPr id="8" name="Text 6"/>
          <p:cNvSpPr txBox="1"/>
          <p:nvPr/>
        </p:nvSpPr>
        <p:spPr>
          <a:xfrm>
            <a:off x="777240" y="395681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largest error: one Glaucoma trial</a:t>
            </a:r>
            <a:endParaRPr lang="en-US" sz="1400" dirty="0"/>
          </a:p>
        </p:txBody>
      </p:sp>
      <p:sp>
        <p:nvSpPr>
          <p:cNvPr id="9" name="stat ≤ 0.8 ms"/>
          <p:cNvSpPr/>
          <p:nvPr/>
        </p:nvSpPr>
        <p:spPr>
          <a:xfrm>
            <a:off x="548640" y="4709160"/>
            <a:ext cx="3246120" cy="1508760"/>
          </a:xfrm>
          <a:prstGeom prst="roundRect">
            <a:avLst>
              <a:gd name="adj" fmla="val 606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ext 8"/>
          <p:cNvSpPr txBox="1"/>
          <p:nvPr/>
        </p:nvSpPr>
        <p:spPr>
          <a:xfrm>
            <a:off x="777240" y="4877308"/>
            <a:ext cx="2788920" cy="6604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 0.8 ms</a:t>
            </a:r>
            <a:endParaRPr lang="en-US" sz="4000" dirty="0"/>
          </a:p>
        </p:txBody>
      </p:sp>
      <p:sp>
        <p:nvSpPr>
          <p:cNvPr id="11" name="Text 9"/>
          <p:cNvSpPr txBox="1"/>
          <p:nvPr/>
        </p:nvSpPr>
        <p:spPr>
          <a:xfrm>
            <a:off x="777240" y="5592572"/>
            <a:ext cx="278892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class-mean offset from the true latency (zero-phase)</a:t>
            </a:r>
            <a:endParaRPr lang="en-US" sz="1400" dirty="0"/>
          </a:p>
        </p:txBody>
      </p:sp>
      <p:sp>
        <p:nvSpPr>
          <p:cNvPr id="12" name="p100 table card"/>
          <p:cNvSpPr/>
          <p:nvPr/>
        </p:nvSpPr>
        <p:spPr>
          <a:xfrm>
            <a:off x="4069080" y="1325880"/>
            <a:ext cx="7573975" cy="2148840"/>
          </a:xfrm>
          <a:prstGeom prst="roundRect">
            <a:avLst>
              <a:gd name="adj" fmla="val 4255"/>
            </a:avLst>
          </a:prstGeom>
          <a:solidFill>
            <a:schemeClr val="bg1"/>
          </a:solidFill>
          <a:ln/>
          <a:effectLst>
            <a:outerShdw sx="100000" sy="100000" kx="0" ky="0" algn="bl" rotWithShape="0" blurRad="101600" dist="25400" dir="5400000">
              <a:srgbClr val="12232B">
                <a:alpha val="12000"/>
              </a:srgbClr>
            </a:outerShdw>
          </a:effectLst>
        </p:spPr>
        <p:txBody>
          <a:bodyP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251960" y="1463040"/>
          <a:ext cx="7208215" cy="914400"/>
        </p:xfrm>
        <a:graphic>
          <a:graphicData uri="http://schemas.openxmlformats.org/drawingml/2006/table">
            <a:tbl>
              <a:tblPr/>
              <a:tblGrid>
                <a:gridCol w="2167505"/>
                <a:gridCol w="806514"/>
                <a:gridCol w="1310585"/>
                <a:gridCol w="1461806"/>
                <a:gridCol w="1461806"/>
              </a:tblGrid>
              <a:tr h="393192">
                <a:tc>
                  <a:txBody>
                    <a:bodyPr/>
                    <a:lstStyle/>
                    <a:p>
                      <a:pPr algn="l" indent="0" marL="0">
                        <a:buNone/>
                      </a:pPr>
                      <a:r>
                        <a:rPr lang="en-US" sz="1400" b="1" dirty="0">
                          <a:solidFill>
                            <a:schemeClr val="bg1"/>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True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Raw</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Zero-phase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Single-pass</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Healthy Control</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101.8 ± 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100.6 ± 1.9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101.1 ± 1.8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Glaucoma</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107.4 ± 2.7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108.0 ± 2.9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108.2 ± 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Optic Neuritis / CVI</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141.3 ± 2.5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latin typeface="Calibri" pitchFamily="34" charset="0"/>
                          <a:ea typeface="Calibri" pitchFamily="34" charset="-122"/>
                          <a:cs typeface="Calibri" pitchFamily="34" charset="-120"/>
                        </a:rPr>
                        <a:t>140.8 ± 2.1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141.0 ± 2.7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4" name="Text 11"/>
          <p:cNvSpPr txBox="1"/>
          <p:nvPr/>
        </p:nvSpPr>
        <p:spPr>
          <a:xfrm>
            <a:off x="4251960" y="3108960"/>
            <a:ext cx="7208215" cy="274320"/>
          </a:xfrm>
          <a:prstGeom prst="rect">
            <a:avLst/>
          </a:prstGeom>
          <a:noFill/>
          <a:ln/>
        </p:spPr>
        <p:txBody>
          <a:bodyPr wrap="square" lIns="0" tIns="0" rIns="0" bIns="0" rtlCol="0" anchor="t"/>
          <a:lstStyle/>
          <a:p>
            <a:pPr indent="0" marL="0">
              <a:buNone/>
            </a:pPr>
            <a:r>
              <a:rPr lang="en-US" sz="1200" i="1" dirty="0">
                <a:solidFill>
                  <a:schemeClr val="tx2"/>
                </a:solidFill>
                <a:latin typeface="Calibri" pitchFamily="34" charset="0"/>
                <a:ea typeface="Calibri" pitchFamily="34" charset="-122"/>
                <a:cs typeface="Calibri" pitchFamily="34" charset="-120"/>
              </a:rPr>
              <a:t>Detected P100 latency in ms, mean ± SD, 50 trials per class at 250 Hz.</a:t>
            </a:r>
            <a:endParaRPr lang="en-US" sz="1200" dirty="0"/>
          </a:p>
        </p:txBody>
      </p:sp>
      <p:sp>
        <p:nvSpPr>
          <p:cNvPr id="15" name="fig_class_distributions card"/>
          <p:cNvSpPr/>
          <p:nvPr/>
        </p:nvSpPr>
        <p:spPr>
          <a:xfrm>
            <a:off x="4069080" y="3611880"/>
            <a:ext cx="7573975" cy="2606040"/>
          </a:xfrm>
          <a:prstGeom prst="roundRect">
            <a:avLst>
              <a:gd name="adj" fmla="val 3509"/>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16" name="fig_class_distributions" descr="fig class distributions">    </p:cNvPr>
          <p:cNvPicPr>
            <a:picLocks noChangeAspect="1"/>
          </p:cNvPicPr>
          <p:nvPr/>
        </p:nvPicPr>
        <p:blipFill>
          <a:blip r:embed="rId1"/>
          <a:stretch>
            <a:fillRect/>
          </a:stretch>
        </p:blipFill>
        <p:spPr>
          <a:xfrm>
            <a:off x="4821434" y="3749040"/>
            <a:ext cx="6069268" cy="233172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Zero-phase gain is not demonstrable</a:t>
            </a:r>
            <a:endParaRPr lang="en-US" sz="3600" dirty="0"/>
          </a:p>
        </p:txBody>
      </p:sp>
      <p:sp>
        <p:nvSpPr>
          <p:cNvPr id="3" name="fig_p100_shift card"/>
          <p:cNvSpPr/>
          <p:nvPr/>
        </p:nvSpPr>
        <p:spPr>
          <a:xfrm>
            <a:off x="548640" y="1325880"/>
            <a:ext cx="7772400" cy="3840480"/>
          </a:xfrm>
          <a:prstGeom prst="roundRect">
            <a:avLst>
              <a:gd name="adj" fmla="val 2381"/>
            </a:avLst>
          </a:prstGeom>
          <a:solidFill>
            <a:schemeClr val="bg1"/>
          </a:solidFill>
          <a:ln/>
          <a:effectLst>
            <a:outerShdw sx="100000" sy="100000" kx="0" ky="0" algn="bl" rotWithShape="0" blurRad="101600" dist="25400" dir="5400000">
              <a:srgbClr val="12232B">
                <a:alpha val="12000"/>
              </a:srgbClr>
            </a:outerShdw>
          </a:effectLst>
        </p:spPr>
      </p:sp>
      <p:pic>
        <p:nvPicPr>
          <p:cNvPr id="4" name="fig_p100_shift" descr="fig p100 shift">    </p:cNvPr>
          <p:cNvPicPr>
            <a:picLocks noChangeAspect="1"/>
          </p:cNvPicPr>
          <p:nvPr/>
        </p:nvPicPr>
        <p:blipFill>
          <a:blip r:embed="rId1"/>
          <a:stretch>
            <a:fillRect/>
          </a:stretch>
        </p:blipFill>
        <p:spPr>
          <a:xfrm>
            <a:off x="720002" y="1463040"/>
            <a:ext cx="7429676" cy="2999232"/>
          </a:xfrm>
          <a:prstGeom prst="rect">
            <a:avLst/>
          </a:prstGeom>
        </p:spPr>
      </p:pic>
      <p:sp>
        <p:nvSpPr>
          <p:cNvPr id="5" name="Text 2"/>
          <p:cNvSpPr txBox="1"/>
          <p:nvPr/>
        </p:nvSpPr>
        <p:spPr>
          <a:xfrm>
            <a:off x="731520" y="4553712"/>
            <a:ext cx="740664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Left: group delay of the single-pass filters vs the zero-phase pipeline. Right: mean P100 latency error by class.</a:t>
            </a:r>
            <a:endParaRPr lang="en-US" sz="1200" dirty="0"/>
          </a:p>
        </p:txBody>
      </p:sp>
      <p:sp>
        <p:nvSpPr>
          <p:cNvPr id="6" name="stat 6.1 / 3.1 / 2.8 ms"/>
          <p:cNvSpPr/>
          <p:nvPr/>
        </p:nvSpPr>
        <p:spPr>
          <a:xfrm>
            <a:off x="8595360" y="1325880"/>
            <a:ext cx="3047695" cy="1783080"/>
          </a:xfrm>
          <a:prstGeom prst="roundRect">
            <a:avLst>
              <a:gd name="adj" fmla="val 5128"/>
            </a:avLst>
          </a:prstGeom>
          <a:solidFill>
            <a:schemeClr val="bg1"/>
          </a:solidFill>
          <a:ln/>
          <a:effectLst>
            <a:outerShdw sx="100000" sy="100000" kx="0" ky="0" algn="bl" rotWithShape="0" blurRad="101600" dist="25400" dir="5400000">
              <a:srgbClr val="12232B">
                <a:alpha val="12000"/>
              </a:srgbClr>
            </a:outerShdw>
          </a:effectLst>
        </p:spPr>
      </p:sp>
      <p:sp>
        <p:nvSpPr>
          <p:cNvPr id="7" name="Text 4"/>
          <p:cNvSpPr txBox="1"/>
          <p:nvPr/>
        </p:nvSpPr>
        <p:spPr>
          <a:xfrm>
            <a:off x="8823960" y="1746758"/>
            <a:ext cx="2590495" cy="4292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6.1 / 3.1 / 2.8 ms</a:t>
            </a:r>
            <a:endParaRPr lang="en-US" sz="2600" dirty="0"/>
          </a:p>
        </p:txBody>
      </p:sp>
      <p:sp>
        <p:nvSpPr>
          <p:cNvPr id="8" name="Text 5"/>
          <p:cNvSpPr txBox="1"/>
          <p:nvPr/>
        </p:nvSpPr>
        <p:spPr>
          <a:xfrm>
            <a:off x="8823960" y="223088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single-pass group delay at 10 / 20 / 30 Hz</a:t>
            </a:r>
            <a:endParaRPr lang="en-US" sz="1400" dirty="0"/>
          </a:p>
        </p:txBody>
      </p:sp>
      <p:sp>
        <p:nvSpPr>
          <p:cNvPr id="9" name="stat &lt; 0.5 ms"/>
          <p:cNvSpPr/>
          <p:nvPr/>
        </p:nvSpPr>
        <p:spPr>
          <a:xfrm>
            <a:off x="8595360" y="3246120"/>
            <a:ext cx="3047695" cy="1920240"/>
          </a:xfrm>
          <a:prstGeom prst="roundRect">
            <a:avLst>
              <a:gd name="adj" fmla="val 4762"/>
            </a:avLst>
          </a:prstGeom>
          <a:solidFill>
            <a:schemeClr val="bg1"/>
          </a:solidFill>
          <a:ln/>
          <a:effectLst>
            <a:outerShdw sx="100000" sy="100000" kx="0" ky="0" algn="bl" rotWithShape="0" blurRad="101600" dist="25400" dir="5400000">
              <a:srgbClr val="12232B">
                <a:alpha val="12000"/>
              </a:srgbClr>
            </a:outerShdw>
          </a:effectLst>
        </p:spPr>
      </p:sp>
      <p:sp>
        <p:nvSpPr>
          <p:cNvPr id="10" name="Text 7"/>
          <p:cNvSpPr txBox="1"/>
          <p:nvPr/>
        </p:nvSpPr>
        <p:spPr>
          <a:xfrm>
            <a:off x="8823960" y="3538728"/>
            <a:ext cx="2590495" cy="5943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&lt; 0.5 ms</a:t>
            </a:r>
            <a:endParaRPr lang="en-US" sz="3600" dirty="0"/>
          </a:p>
        </p:txBody>
      </p:sp>
      <p:sp>
        <p:nvSpPr>
          <p:cNvPr id="11" name="Text 8"/>
          <p:cNvSpPr txBox="1"/>
          <p:nvPr/>
        </p:nvSpPr>
        <p:spPr>
          <a:xfrm>
            <a:off x="8823960" y="4187952"/>
            <a:ext cx="2590495"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difference between zero-phase and single-pass class means, below one 4 ms sample</a:t>
            </a:r>
            <a:endParaRPr lang="en-US" sz="1400" dirty="0"/>
          </a:p>
        </p:txBody>
      </p:sp>
      <p:sp>
        <p:nvSpPr>
          <p:cNvPr id="12" name="why zero-phase"/>
          <p:cNvSpPr/>
          <p:nvPr/>
        </p:nvSpPr>
        <p:spPr>
          <a:xfrm>
            <a:off x="548640" y="5349240"/>
            <a:ext cx="11094415" cy="868680"/>
          </a:xfrm>
          <a:prstGeom prst="roundRect">
            <a:avLst>
              <a:gd name="adj" fmla="val 10526"/>
            </a:avLst>
          </a:prstGeom>
          <a:solidFill>
            <a:schemeClr val="tx2"/>
          </a:solidFill>
          <a:ln/>
          <a:effectLst>
            <a:outerShdw sx="100000" sy="100000" kx="0" ky="0" algn="bl" rotWithShape="0" blurRad="101600" dist="25400" dir="5400000">
              <a:srgbClr val="12232B">
                <a:alpha val="12000"/>
              </a:srgbClr>
            </a:outerShdw>
          </a:effectLst>
        </p:spPr>
      </p:sp>
      <p:sp>
        <p:nvSpPr>
          <p:cNvPr id="13" name="Text 10"/>
          <p:cNvSpPr txBox="1"/>
          <p:nvPr/>
        </p:nvSpPr>
        <p:spPr>
          <a:xfrm>
            <a:off x="914400" y="5394960"/>
            <a:ext cx="10362895" cy="77724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So why zero-phase? Latency is the clinical quantity, and the case rests on that principle, not on an empirical gain at 250 Hz.</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Compute sits in the 3D spatial encoder</a:t>
            </a:r>
            <a:endParaRPr lang="en-US" sz="3600" dirty="0"/>
          </a:p>
        </p:txBody>
      </p:sp>
      <p:sp>
        <p:nvSpPr>
          <p:cNvPr id="3" name="fig_params card"/>
          <p:cNvSpPr/>
          <p:nvPr/>
        </p:nvSpPr>
        <p:spPr>
          <a:xfrm>
            <a:off x="548640" y="1325880"/>
            <a:ext cx="7772400" cy="3200400"/>
          </a:xfrm>
          <a:prstGeom prst="roundRect">
            <a:avLst>
              <a:gd name="adj" fmla="val 2857"/>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5" name="Text 2"/>
          <p:cNvSpPr txBox="1"/>
          <p:nvPr/>
        </p:nvSpPr>
        <p:spPr>
          <a:xfrm>
            <a:off x="731520" y="4160520"/>
            <a:ext cx="7406640" cy="320040"/>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Left: share of the 1,955,140 trainable parameters. Right: share of the 2.60 G multiply–accumulates per sample at 64³.</a:t>
            </a:r>
            <a:endParaRPr lang="en-US" sz="1200" dirty="0"/>
          </a:p>
        </p:txBody>
      </p:sp>
      <p:sp>
        <p:nvSpPr>
          <p:cNvPr id="6" name="stat 1.06 M"/>
          <p:cNvSpPr/>
          <p:nvPr/>
        </p:nvSpPr>
        <p:spPr>
          <a:xfrm>
            <a:off x="8595360" y="132588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7" name="Text 4"/>
          <p:cNvSpPr txBox="1"/>
          <p:nvPr/>
        </p:nvSpPr>
        <p:spPr>
          <a:xfrm>
            <a:off x="8823960" y="1435608"/>
            <a:ext cx="2590495" cy="52832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1,955,140</a:t>
            </a:r>
            <a:endParaRPr lang="en-US" sz="3200" dirty="0"/>
          </a:p>
        </p:txBody>
      </p:sp>
      <p:sp>
        <p:nvSpPr>
          <p:cNvPr id="8" name="Text 5"/>
          <p:cNvSpPr txBox="1"/>
          <p:nvPr/>
        </p:nvSpPr>
        <p:spPr>
          <a:xfrm>
            <a:off x="8823960" y="2018792"/>
            <a:ext cx="2590495"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trainable parameters</a:t>
            </a:r>
            <a:endParaRPr lang="en-US" sz="1400" dirty="0"/>
          </a:p>
        </p:txBody>
      </p:sp>
      <p:sp>
        <p:nvSpPr>
          <p:cNvPr id="9" name="stat 2.53 G"/>
          <p:cNvSpPr/>
          <p:nvPr/>
        </p:nvSpPr>
        <p:spPr>
          <a:xfrm>
            <a:off x="8595360" y="242316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ext 7"/>
          <p:cNvSpPr txBox="1"/>
          <p:nvPr/>
        </p:nvSpPr>
        <p:spPr>
          <a:xfrm>
            <a:off x="8823960" y="2532888"/>
            <a:ext cx="2590495" cy="5283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2.60 G</a:t>
            </a:r>
            <a:endParaRPr lang="en-US" sz="3200" dirty="0"/>
          </a:p>
        </p:txBody>
      </p:sp>
      <p:sp>
        <p:nvSpPr>
          <p:cNvPr id="11" name="Text 8"/>
          <p:cNvSpPr txBox="1"/>
          <p:nvPr/>
        </p:nvSpPr>
        <p:spPr>
          <a:xfrm>
            <a:off x="8823960" y="311607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MACs per sample at 64³</a:t>
            </a:r>
            <a:endParaRPr lang="en-US" sz="1400" dirty="0"/>
          </a:p>
        </p:txBody>
      </p:sp>
      <p:sp>
        <p:nvSpPr>
          <p:cNvPr id="12" name="stat 82%"/>
          <p:cNvSpPr/>
          <p:nvPr/>
        </p:nvSpPr>
        <p:spPr>
          <a:xfrm>
            <a:off x="8595360" y="3520440"/>
            <a:ext cx="3047695" cy="1005840"/>
          </a:xfrm>
          <a:prstGeom prst="roundRect">
            <a:avLst>
              <a:gd name="adj" fmla="val 9091"/>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3" name="Text 10"/>
          <p:cNvSpPr txBox="1"/>
          <p:nvPr/>
        </p:nvSpPr>
        <p:spPr>
          <a:xfrm>
            <a:off x="8823960" y="3630168"/>
            <a:ext cx="2590495" cy="5283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97%</a:t>
            </a:r>
            <a:endParaRPr lang="en-US" sz="3200" dirty="0"/>
          </a:p>
        </p:txBody>
      </p:sp>
      <p:sp>
        <p:nvSpPr>
          <p:cNvPr id="14" name="Text 11"/>
          <p:cNvSpPr txBox="1"/>
          <p:nvPr/>
        </p:nvSpPr>
        <p:spPr>
          <a:xfrm>
            <a:off x="8823960" y="4213352"/>
            <a:ext cx="2590495"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of MACs in the spatial encoder</a:t>
            </a:r>
            <a:endParaRPr lang="en-US" sz="1400" dirty="0"/>
          </a:p>
        </p:txBody>
      </p:sp>
      <p:sp>
        <p:nvSpPr>
          <p:cNvPr id="15" name="cost takeaway"/>
          <p:cNvSpPr/>
          <p:nvPr/>
        </p:nvSpPr>
        <p:spPr>
          <a:xfrm>
            <a:off x="548640" y="4754880"/>
            <a:ext cx="11094415" cy="1463040"/>
          </a:xfrm>
          <a:prstGeom prst="roundRect">
            <a:avLst>
              <a:gd name="adj" fmla="val 6250"/>
            </a:avLst>
          </a:prstGeom>
          <a:solidFill>
            <a:schemeClr val="tx2"/>
          </a:solidFill>
          <a:ln/>
          <a:effectLst>
            <a:outerShdw sx="100000" sy="100000" kx="0" ky="0" algn="bl" rotWithShape="0" blurRad="101600" dist="25400" dir="5400000">
              <a:srgbClr val="12232B">
                <a:alpha val="12000"/>
              </a:srgbClr>
            </a:outerShdw>
          </a:effectLst>
        </p:spPr>
        <p:txBody>
          <a:bodyPr/>
          <a:p/>
        </p:txBody>
      </p:sp>
      <p:sp>
        <p:nvSpPr>
          <p:cNvPr id="16" name="Text 13"/>
          <p:cNvSpPr txBox="1"/>
          <p:nvPr/>
        </p:nvSpPr>
        <p:spPr>
          <a:xfrm>
            <a:off x="914400" y="4800600"/>
            <a:ext cx="10362895" cy="137160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The 3D spatial encoder holds 46% of the parameters but 97% of the MACs (2.60 G at 64³, 0.39 G at 32³). The gated bidirectional fusion holds 14% of the parameters and under 0.5% of the compute, so speed-ups should target the 3D encoder.</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
        <p:nvSpPr>
          <p:cNvPr id="26" name="panel head 2"/>
          <p:cNvSpPr txBox="1"/>
          <p:nvPr/>
        </p:nvSpPr>
        <p:spPr>
          <a:xfrm>
            <a:off x="731520" y="1463040"/>
            <a:ext cx="3566160" cy="274320"/>
          </a:xfrm>
          <a:prstGeom prst="rect">
            <a:avLst/>
          </a:prstGeom>
          <a:noFill/>
          <a:ln>
            <a:noFill/>
          </a:ln>
        </p:spPr>
        <p:txBody>
          <a:bodyPr wrap="square" lIns="0" tIns="0" rIns="0" bIns="0" rtlCol="0" anchor="ctr"/>
          <a:lstStyle/>
          <a:p>
            <a:pPr indent="0" marL="0">
              <a:buNone/>
            </a:pPr>
            <a:r>
              <a:rPr lang="en-US" sz="1400" b="1" dirty="0">
                <a:solidFill>
                  <a:schemeClr val="tx1"/>
                </a:solidFill>
                <a:latin typeface="Cambria" pitchFamily="34" charset="0"/>
              </a:rPr>
              <a:t>Trainable parameters</a:t>
            </a:r>
            <a:endParaRPr lang="en-US" sz="1400" dirty="0"/>
          </a:p>
        </p:txBody>
      </p:sp>
      <p:sp>
        <p:nvSpPr>
          <p:cNvPr id="27" name="bar label 2.0"/>
          <p:cNvSpPr txBox="1"/>
          <p:nvPr/>
        </p:nvSpPr>
        <p:spPr>
          <a:xfrm>
            <a:off x="731520" y="187452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Spatial encoder  </a:t>
            </a:r>
            <a:r>
              <a:rPr lang="en-US" sz="1200" b="1" dirty="0">
                <a:solidFill>
                  <a:schemeClr val="tx1"/>
                </a:solidFill>
                <a:latin typeface="Calibri" pitchFamily="34" charset="0"/>
              </a:rPr>
              <a:t>894,504 · 46%</a:t>
            </a:r>
            <a:endParaRPr lang="en-US" sz="1200" dirty="0"/>
          </a:p>
        </p:txBody>
      </p:sp>
      <p:sp>
        <p:nvSpPr>
          <p:cNvPr id="28" name="bar 2.0"/>
          <p:cNvSpPr/>
          <p:nvPr/>
        </p:nvSpPr>
        <p:spPr>
          <a:xfrm>
            <a:off x="731520" y="2124520"/>
            <a:ext cx="1464000" cy="170000"/>
          </a:xfrm>
          <a:prstGeom prst="rect">
            <a:avLst/>
          </a:prstGeom>
          <a:solidFill>
            <a:schemeClr val="accent3"/>
          </a:solidFill>
          <a:ln>
            <a:noFill/>
          </a:ln>
        </p:spPr>
        <p:txBody>
          <a:bodyPr/>
          <a:p/>
        </p:txBody>
      </p:sp>
      <p:sp>
        <p:nvSpPr>
          <p:cNvPr id="29" name="bar label 2.1"/>
          <p:cNvSpPr txBox="1"/>
          <p:nvPr/>
        </p:nvSpPr>
        <p:spPr>
          <a:xfrm>
            <a:off x="731520" y="246888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Temporal encoder  </a:t>
            </a:r>
            <a:r>
              <a:rPr lang="en-US" sz="1200" b="1" dirty="0">
                <a:solidFill>
                  <a:schemeClr val="tx1"/>
                </a:solidFill>
                <a:latin typeface="Calibri" pitchFamily="34" charset="0"/>
              </a:rPr>
              <a:t>785,936 · 40%</a:t>
            </a:r>
            <a:endParaRPr lang="en-US" sz="1200" dirty="0"/>
          </a:p>
        </p:txBody>
      </p:sp>
      <p:sp>
        <p:nvSpPr>
          <p:cNvPr id="30" name="bar 2.1"/>
          <p:cNvSpPr/>
          <p:nvPr/>
        </p:nvSpPr>
        <p:spPr>
          <a:xfrm>
            <a:off x="731520" y="2718880"/>
            <a:ext cx="1286400" cy="170000"/>
          </a:xfrm>
          <a:prstGeom prst="rect">
            <a:avLst/>
          </a:prstGeom>
          <a:solidFill>
            <a:schemeClr val="accent2"/>
          </a:solidFill>
          <a:ln>
            <a:noFill/>
          </a:ln>
        </p:spPr>
        <p:txBody>
          <a:bodyPr/>
          <a:p/>
        </p:txBody>
      </p:sp>
      <p:sp>
        <p:nvSpPr>
          <p:cNvPr id="31" name="bar label 2.2"/>
          <p:cNvSpPr txBox="1"/>
          <p:nvPr/>
        </p:nvSpPr>
        <p:spPr>
          <a:xfrm>
            <a:off x="731520" y="306324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Gated fusion  </a:t>
            </a:r>
            <a:r>
              <a:rPr lang="en-US" sz="1200" b="1" dirty="0">
                <a:solidFill>
                  <a:schemeClr val="tx1"/>
                </a:solidFill>
                <a:latin typeface="Calibri" pitchFamily="34" charset="0"/>
              </a:rPr>
              <a:t>265,218 · 14%</a:t>
            </a:r>
            <a:endParaRPr lang="en-US" sz="1200" dirty="0"/>
          </a:p>
        </p:txBody>
      </p:sp>
      <p:sp>
        <p:nvSpPr>
          <p:cNvPr id="32" name="bar 2.2"/>
          <p:cNvSpPr/>
          <p:nvPr/>
        </p:nvSpPr>
        <p:spPr>
          <a:xfrm>
            <a:off x="731520" y="3313240"/>
            <a:ext cx="434240" cy="170000"/>
          </a:xfrm>
          <a:prstGeom prst="rect">
            <a:avLst/>
          </a:prstGeom>
          <a:solidFill>
            <a:schemeClr val="accent4"/>
          </a:solidFill>
          <a:ln>
            <a:noFill/>
          </a:ln>
        </p:spPr>
        <p:txBody>
          <a:bodyPr/>
          <a:p/>
        </p:txBody>
      </p:sp>
      <p:sp>
        <p:nvSpPr>
          <p:cNvPr id="33" name="bar label 2.3"/>
          <p:cNvSpPr txBox="1"/>
          <p:nvPr/>
        </p:nvSpPr>
        <p:spPr>
          <a:xfrm>
            <a:off x="731520" y="365760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Embeddings, pool, heads  </a:t>
            </a:r>
            <a:r>
              <a:rPr lang="en-US" sz="1200" b="1" dirty="0">
                <a:solidFill>
                  <a:schemeClr val="tx1"/>
                </a:solidFill>
                <a:latin typeface="Calibri" pitchFamily="34" charset="0"/>
              </a:rPr>
              <a:t>9,482 · 0.5%</a:t>
            </a:r>
            <a:endParaRPr lang="en-US" sz="1200" dirty="0"/>
          </a:p>
        </p:txBody>
      </p:sp>
      <p:sp>
        <p:nvSpPr>
          <p:cNvPr id="34" name="bar 2.3"/>
          <p:cNvSpPr/>
          <p:nvPr/>
        </p:nvSpPr>
        <p:spPr>
          <a:xfrm>
            <a:off x="731520" y="3907600"/>
            <a:ext cx="30000" cy="170000"/>
          </a:xfrm>
          <a:prstGeom prst="rect">
            <a:avLst/>
          </a:prstGeom>
          <a:solidFill>
            <a:schemeClr val="tx2"/>
          </a:solidFill>
          <a:ln>
            <a:noFill/>
          </a:ln>
        </p:spPr>
        <p:txBody>
          <a:bodyPr/>
          <a:p/>
        </p:txBody>
      </p:sp>
      <p:sp>
        <p:nvSpPr>
          <p:cNvPr id="35" name="panel head 4"/>
          <p:cNvSpPr txBox="1"/>
          <p:nvPr/>
        </p:nvSpPr>
        <p:spPr>
          <a:xfrm>
            <a:off x="4480560" y="1463040"/>
            <a:ext cx="3566160" cy="274320"/>
          </a:xfrm>
          <a:prstGeom prst="rect">
            <a:avLst/>
          </a:prstGeom>
          <a:noFill/>
          <a:ln>
            <a:noFill/>
          </a:ln>
        </p:spPr>
        <p:txBody>
          <a:bodyPr wrap="square" lIns="0" tIns="0" rIns="0" bIns="0" rtlCol="0" anchor="ctr"/>
          <a:lstStyle/>
          <a:p>
            <a:pPr indent="0" marL="0">
              <a:buNone/>
            </a:pPr>
            <a:r>
              <a:rPr lang="en-US" sz="1400" b="1" dirty="0">
                <a:solidFill>
                  <a:schemeClr val="tx1"/>
                </a:solidFill>
                <a:latin typeface="Cambria" pitchFamily="34" charset="0"/>
              </a:rPr>
              <a:t>MACs per sample (64³)</a:t>
            </a:r>
            <a:endParaRPr lang="en-US" sz="1400" dirty="0"/>
          </a:p>
        </p:txBody>
      </p:sp>
      <p:sp>
        <p:nvSpPr>
          <p:cNvPr id="36" name="bar label 4.0"/>
          <p:cNvSpPr txBox="1"/>
          <p:nvPr/>
        </p:nvSpPr>
        <p:spPr>
          <a:xfrm>
            <a:off x="4480560" y="187452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Spatial encoder  </a:t>
            </a:r>
            <a:r>
              <a:rPr lang="en-US" sz="1200" b="1" dirty="0">
                <a:solidFill>
                  <a:schemeClr val="tx1"/>
                </a:solidFill>
                <a:latin typeface="Calibri" pitchFamily="34" charset="0"/>
              </a:rPr>
              <a:t>2.52 G · 97%</a:t>
            </a:r>
            <a:endParaRPr lang="en-US" sz="1200" dirty="0"/>
          </a:p>
        </p:txBody>
      </p:sp>
      <p:sp>
        <p:nvSpPr>
          <p:cNvPr id="37" name="bar 4.0"/>
          <p:cNvSpPr/>
          <p:nvPr/>
        </p:nvSpPr>
        <p:spPr>
          <a:xfrm>
            <a:off x="4480560" y="2124520"/>
            <a:ext cx="3104960" cy="170000"/>
          </a:xfrm>
          <a:prstGeom prst="rect">
            <a:avLst/>
          </a:prstGeom>
          <a:solidFill>
            <a:schemeClr val="accent3"/>
          </a:solidFill>
          <a:ln>
            <a:noFill/>
          </a:ln>
        </p:spPr>
        <p:txBody>
          <a:bodyPr/>
          <a:p/>
        </p:txBody>
      </p:sp>
      <p:sp>
        <p:nvSpPr>
          <p:cNvPr id="38" name="bar label 4.1"/>
          <p:cNvSpPr txBox="1"/>
          <p:nvPr/>
        </p:nvSpPr>
        <p:spPr>
          <a:xfrm>
            <a:off x="4480560" y="246888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Temporal encoder  </a:t>
            </a:r>
            <a:r>
              <a:rPr lang="en-US" sz="1200" b="1" dirty="0">
                <a:solidFill>
                  <a:schemeClr val="tx1"/>
                </a:solidFill>
                <a:latin typeface="Calibri" pitchFamily="34" charset="0"/>
              </a:rPr>
              <a:t>0.07 G · 2.5%</a:t>
            </a:r>
            <a:endParaRPr lang="en-US" sz="1200" dirty="0"/>
          </a:p>
        </p:txBody>
      </p:sp>
      <p:sp>
        <p:nvSpPr>
          <p:cNvPr id="39" name="bar 4.1"/>
          <p:cNvSpPr/>
          <p:nvPr/>
        </p:nvSpPr>
        <p:spPr>
          <a:xfrm>
            <a:off x="4480560" y="2718880"/>
            <a:ext cx="80959" cy="170000"/>
          </a:xfrm>
          <a:prstGeom prst="rect">
            <a:avLst/>
          </a:prstGeom>
          <a:solidFill>
            <a:schemeClr val="accent2"/>
          </a:solidFill>
          <a:ln>
            <a:noFill/>
          </a:ln>
        </p:spPr>
        <p:txBody>
          <a:bodyPr/>
          <a:p/>
        </p:txBody>
      </p:sp>
      <p:sp>
        <p:nvSpPr>
          <p:cNvPr id="40" name="bar label 4.2"/>
          <p:cNvSpPr txBox="1"/>
          <p:nvPr/>
        </p:nvSpPr>
        <p:spPr>
          <a:xfrm>
            <a:off x="4480560" y="306324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Gated fusion  </a:t>
            </a:r>
            <a:r>
              <a:rPr lang="en-US" sz="1200" b="1" dirty="0">
                <a:solidFill>
                  <a:schemeClr val="tx1"/>
                </a:solidFill>
                <a:latin typeface="Calibri" pitchFamily="34" charset="0"/>
              </a:rPr>
              <a:t>0.011 G · 0.4%</a:t>
            </a:r>
            <a:endParaRPr lang="en-US" sz="1200" dirty="0"/>
          </a:p>
        </p:txBody>
      </p:sp>
      <p:sp>
        <p:nvSpPr>
          <p:cNvPr id="41" name="bar 4.2"/>
          <p:cNvSpPr/>
          <p:nvPr/>
        </p:nvSpPr>
        <p:spPr>
          <a:xfrm>
            <a:off x="4480560" y="3313240"/>
            <a:ext cx="30000" cy="170000"/>
          </a:xfrm>
          <a:prstGeom prst="rect">
            <a:avLst/>
          </a:prstGeom>
          <a:solidFill>
            <a:schemeClr val="accent4"/>
          </a:solidFill>
          <a:ln>
            <a:noFill/>
          </a:ln>
        </p:spPr>
        <p:txBody>
          <a:bodyPr/>
          <a:p/>
        </p:txBody>
      </p:sp>
      <p:sp>
        <p:nvSpPr>
          <p:cNvPr id="42" name="bar label 4.3"/>
          <p:cNvSpPr txBox="1"/>
          <p:nvPr/>
        </p:nvSpPr>
        <p:spPr>
          <a:xfrm>
            <a:off x="4480560" y="3657600"/>
            <a:ext cx="3566160" cy="228600"/>
          </a:xfrm>
          <a:prstGeom prst="rect">
            <a:avLst/>
          </a:prstGeom>
          <a:noFill/>
          <a:ln>
            <a:noFill/>
          </a:ln>
        </p:spPr>
        <p:txBody>
          <a:bodyPr wrap="square" lIns="0" tIns="0" rIns="0" bIns="0" rtlCol="0" anchor="ctr"/>
          <a:lstStyle/>
          <a:p>
            <a:pPr indent="0" marL="0">
              <a:buNone/>
            </a:pPr>
            <a:r>
              <a:rPr lang="en-US" sz="1200" dirty="0">
                <a:solidFill>
                  <a:schemeClr val="tx2"/>
                </a:solidFill>
                <a:latin typeface="Calibri" pitchFamily="34" charset="0"/>
              </a:rPr>
              <a:t>Embeddings, pool, heads  </a:t>
            </a:r>
            <a:r>
              <a:rPr lang="en-US" sz="1200" b="1" dirty="0">
                <a:solidFill>
                  <a:schemeClr val="tx1"/>
                </a:solidFill>
                <a:latin typeface="Calibri" pitchFamily="34" charset="0"/>
              </a:rPr>
              <a:t>≈ 0</a:t>
            </a:r>
            <a:endParaRPr lang="en-US" sz="1200" dirty="0"/>
          </a:p>
        </p:txBody>
      </p:sp>
      <p:sp>
        <p:nvSpPr>
          <p:cNvPr id="43" name="bar 4.3"/>
          <p:cNvSpPr/>
          <p:nvPr/>
        </p:nvSpPr>
        <p:spPr>
          <a:xfrm>
            <a:off x="4480560" y="3907600"/>
            <a:ext cx="30000" cy="170000"/>
          </a:xfrm>
          <a:prstGeom prst="rect">
            <a:avLst/>
          </a:prstGeom>
          <a:solidFill>
            <a:schemeClr val="tx2"/>
          </a:solidFill>
          <a:ln>
            <a:noFill/>
          </a:ln>
        </p:spPr>
        <p:txBody>
          <a:body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340 tests pass on two platforms</a:t>
            </a:r>
            <a:endParaRPr lang="en-US" sz="3600" dirty="0"/>
          </a:p>
        </p:txBody>
      </p:sp>
      <p:sp>
        <p:nvSpPr>
          <p:cNvPr id="3" name="stat 86"/>
          <p:cNvSpPr/>
          <p:nvPr/>
        </p:nvSpPr>
        <p:spPr>
          <a:xfrm>
            <a:off x="548640" y="132588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Text 2"/>
          <p:cNvSpPr txBox="1"/>
          <p:nvPr/>
        </p:nvSpPr>
        <p:spPr>
          <a:xfrm>
            <a:off x="777240" y="1458468"/>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340</a:t>
            </a:r>
            <a:endParaRPr lang="en-US" sz="3600" dirty="0"/>
          </a:p>
        </p:txBody>
      </p:sp>
      <p:sp>
        <p:nvSpPr>
          <p:cNvPr id="5" name="Text 3"/>
          <p:cNvSpPr txBox="1"/>
          <p:nvPr/>
        </p:nvSpPr>
        <p:spPr>
          <a:xfrm>
            <a:off x="777240" y="2107692"/>
            <a:ext cx="274320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tests, unit and integration; all pass on macOS, Python 3.14</a:t>
            </a:r>
            <a:endParaRPr lang="en-US" sz="1400" dirty="0"/>
          </a:p>
        </p:txBody>
      </p:sp>
      <p:sp>
        <p:nvSpPr>
          <p:cNvPr id="6" name="stat 95.1%"/>
          <p:cNvSpPr/>
          <p:nvPr/>
        </p:nvSpPr>
        <p:spPr>
          <a:xfrm>
            <a:off x="548640" y="283464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7" name="Text 5"/>
          <p:cNvSpPr txBox="1"/>
          <p:nvPr/>
        </p:nvSpPr>
        <p:spPr>
          <a:xfrm>
            <a:off x="777240" y="3081528"/>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Ubuntu</a:t>
            </a:r>
            <a:endParaRPr lang="en-US" sz="3600" dirty="0"/>
          </a:p>
        </p:txBody>
      </p:sp>
      <p:sp>
        <p:nvSpPr>
          <p:cNvPr id="8" name="Text 6"/>
          <p:cNvSpPr txBox="1"/>
          <p:nvPr/>
        </p:nvSpPr>
        <p:spPr>
          <a:xfrm>
            <a:off x="777240" y="3730752"/>
            <a:ext cx="2743200" cy="3200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22.04 (WSL2), Python 3.12, CUDA: one test skipped</a:t>
            </a:r>
            <a:endParaRPr lang="en-US" sz="1400" dirty="0"/>
          </a:p>
        </p:txBody>
      </p:sp>
      <p:sp>
        <p:nvSpPr>
          <p:cNvPr id="9" name="stat 8 of 12"/>
          <p:cNvSpPr/>
          <p:nvPr/>
        </p:nvSpPr>
        <p:spPr>
          <a:xfrm>
            <a:off x="548640" y="4343400"/>
            <a:ext cx="3200400" cy="1371600"/>
          </a:xfrm>
          <a:prstGeom prst="roundRect">
            <a:avLst>
              <a:gd name="adj" fmla="val 6667"/>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ext 8"/>
          <p:cNvSpPr txBox="1"/>
          <p:nvPr/>
        </p:nvSpPr>
        <p:spPr>
          <a:xfrm>
            <a:off x="777240" y="4475988"/>
            <a:ext cx="2743200" cy="59436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3 bugs</a:t>
            </a:r>
            <a:endParaRPr lang="en-US" sz="3600" dirty="0"/>
          </a:p>
        </p:txBody>
      </p:sp>
      <p:sp>
        <p:nvSpPr>
          <p:cNvPr id="11" name="Text 9"/>
          <p:cNvSpPr txBox="1"/>
          <p:nvPr/>
        </p:nvSpPr>
        <p:spPr>
          <a:xfrm>
            <a:off x="777240" y="5125212"/>
            <a:ext cx="2743200" cy="5486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latent defects exposed by the second platform, all fixed</a:t>
            </a:r>
            <a:endParaRPr lang="en-US" sz="1400" dirty="0"/>
          </a:p>
        </p:txBody>
      </p:sp>
      <p:sp>
        <p:nvSpPr>
          <p:cNvPr id="12" name="fig_tests_coverage card"/>
          <p:cNvSpPr/>
          <p:nvPr/>
        </p:nvSpPr>
        <p:spPr>
          <a:xfrm>
            <a:off x="4023360" y="1325880"/>
            <a:ext cx="7619695" cy="4389120"/>
          </a:xfrm>
          <a:prstGeom prst="roundRect">
            <a:avLst>
              <a:gd name="adj" fmla="val 2083"/>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5" name="verification caveat"/>
          <p:cNvSpPr/>
          <p:nvPr/>
        </p:nvSpPr>
        <p:spPr>
          <a:xfrm>
            <a:off x="548640" y="5852160"/>
            <a:ext cx="11094415" cy="457200"/>
          </a:xfrm>
          <a:prstGeom prst="roundRect">
            <a:avLst>
              <a:gd name="adj" fmla="val 20000"/>
            </a:avLst>
          </a:prstGeom>
          <a:solidFill>
            <a:schemeClr val="bg2"/>
          </a:solidFill>
          <a:ln/>
        </p:spPr>
        <p:txBody>
          <a:bodyPr/>
          <a:p/>
        </p:txBody>
      </p:sp>
      <p:sp>
        <p:nvSpPr>
          <p:cNvPr id="16" name="Text 13"/>
          <p:cNvSpPr txBox="1"/>
          <p:nvPr/>
        </p:nvSpPr>
        <p:spPr>
          <a:xfrm>
            <a:off x="548640" y="5852160"/>
            <a:ext cx="11094415" cy="457200"/>
          </a:xfrm>
          <a:prstGeom prst="rect">
            <a:avLst/>
          </a:prstGeom>
          <a:noFill/>
          <a:ln/>
        </p:spPr>
        <p:txBody>
          <a:bodyPr wrap="square" lIns="0" tIns="0" rIns="0" bIns="0" rtlCol="0" anchor="ctr"/>
          <a:lstStyle/>
          <a:p>
            <a:pPr indent="0" marL="0">
              <a:buNone/>
            </a:pPr>
            <a:r>
              <a:rPr lang="en-US" sz="1400" i="1" dirty="0">
                <a:solidFill>
                  <a:schemeClr val="tx2"/>
                </a:solidFill>
                <a:latin typeface="Calibri" pitchFamily="34" charset="0"/>
                <a:ea typeface="Calibri" pitchFamily="34" charset="-122"/>
                <a:cs typeface="Calibri" pitchFamily="34" charset="-120"/>
              </a:rPr>
              <a:t>The suite covers unit and integration tests, including end-to-end runs of the command-line tools, the cohort loaders and the experiment runner. Tests check behaviour, not clinical validity.</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
        <p:nvSpPr>
          <p:cNvPr id="26" name="bugs header"/>
          <p:cNvSpPr txBox="1"/>
          <p:nvPr/>
        </p:nvSpPr>
        <p:spPr>
          <a:xfrm>
            <a:off x="4251960" y="1508760"/>
            <a:ext cx="7160000" cy="36576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What the second platform exposed</a:t>
            </a:r>
            <a:endParaRPr lang="en-US" sz="2000" dirty="0"/>
          </a:p>
        </p:txBody>
      </p:sp>
      <p:sp>
        <p:nvSpPr>
          <p:cNvPr id="27" name="bug 1 badge"/>
          <p:cNvSpPr/>
          <p:nvPr/>
        </p:nvSpPr>
        <p:spPr>
          <a:xfrm>
            <a:off x="4251960" y="2148840"/>
            <a:ext cx="457200" cy="457200"/>
          </a:xfrm>
          <a:prstGeom prst="ellipse">
            <a:avLst/>
          </a:prstGeom>
          <a:solidFill>
            <a:schemeClr val="accent6"/>
          </a:solidFill>
          <a:ln>
            <a:noFill/>
          </a:ln>
        </p:spPr>
        <p:txBody>
          <a:bodyPr wrap="square" lIns="0" tIns="0" rIns="0" bIns="0" rtlCol="0" anchor="ctr"/>
          <a:lstStyle/>
          <a:p>
            <a:pPr algn="ctr" indent="0" marL="0">
              <a:buNone/>
            </a:pPr>
            <a:r>
              <a:rPr lang="en-US" sz="1800" b="1" dirty="0">
                <a:solidFill>
                  <a:schemeClr val="bg1"/>
                </a:solidFill>
                <a:latin typeface="Cambria" pitchFamily="34" charset="0"/>
              </a:rPr>
              <a:t>1</a:t>
            </a:r>
            <a:endParaRPr lang="en-US" sz="1800" dirty="0"/>
          </a:p>
        </p:txBody>
      </p:sp>
      <p:sp>
        <p:nvSpPr>
          <p:cNvPr id="28" name="bug 1"/>
          <p:cNvSpPr txBox="1"/>
          <p:nvPr/>
        </p:nvSpPr>
        <p:spPr>
          <a:xfrm>
            <a:off x="4937760" y="2125980"/>
            <a:ext cx="6477000" cy="502920"/>
          </a:xfrm>
          <a:prstGeom prst="rect">
            <a:avLst/>
          </a:prstGeom>
          <a:noFill/>
          <a:ln>
            <a:noFill/>
          </a:ln>
        </p:spPr>
        <p:txBody>
          <a:bodyPr wrap="square" lIns="0" tIns="0" rIns="0" bIns="0" rtlCol="0" anchor="ctr"/>
          <a:lstStyle/>
          <a:p>
            <a:pPr indent="0" marL="0">
              <a:buNone/>
            </a:pPr>
            <a:r>
              <a:rPr lang="en-US" sz="1600" dirty="0">
                <a:solidFill>
                  <a:schemeClr val="tx1"/>
                </a:solidFill>
                <a:latin typeface="Calibri" pitchFamily="34" charset="0"/>
              </a:rPr>
              <a:t>A type annotation in utils.py raised a NameError on Python 3.13 and earlier</a:t>
            </a:r>
            <a:endParaRPr lang="en-US" sz="1600" dirty="0"/>
          </a:p>
        </p:txBody>
      </p:sp>
      <p:sp>
        <p:nvSpPr>
          <p:cNvPr id="29" name="bug 2 badge"/>
          <p:cNvSpPr/>
          <p:nvPr/>
        </p:nvSpPr>
        <p:spPr>
          <a:xfrm>
            <a:off x="4251960" y="2926080"/>
            <a:ext cx="457200" cy="457200"/>
          </a:xfrm>
          <a:prstGeom prst="ellipse">
            <a:avLst/>
          </a:prstGeom>
          <a:solidFill>
            <a:schemeClr val="accent6"/>
          </a:solidFill>
          <a:ln>
            <a:noFill/>
          </a:ln>
        </p:spPr>
        <p:txBody>
          <a:bodyPr wrap="square" lIns="0" tIns="0" rIns="0" bIns="0" rtlCol="0" anchor="ctr"/>
          <a:lstStyle/>
          <a:p>
            <a:pPr algn="ctr" indent="0" marL="0">
              <a:buNone/>
            </a:pPr>
            <a:r>
              <a:rPr lang="en-US" sz="1800" b="1" dirty="0">
                <a:solidFill>
                  <a:schemeClr val="bg1"/>
                </a:solidFill>
                <a:latin typeface="Cambria" pitchFamily="34" charset="0"/>
              </a:rPr>
              <a:t>2</a:t>
            </a:r>
            <a:endParaRPr lang="en-US" sz="1800" dirty="0"/>
          </a:p>
        </p:txBody>
      </p:sp>
      <p:sp>
        <p:nvSpPr>
          <p:cNvPr id="30" name="bug 2"/>
          <p:cNvSpPr txBox="1"/>
          <p:nvPr/>
        </p:nvSpPr>
        <p:spPr>
          <a:xfrm>
            <a:off x="4937760" y="2903220"/>
            <a:ext cx="6477000" cy="502920"/>
          </a:xfrm>
          <a:prstGeom prst="rect">
            <a:avLst/>
          </a:prstGeom>
          <a:noFill/>
          <a:ln>
            <a:noFill/>
          </a:ln>
        </p:spPr>
        <p:txBody>
          <a:bodyPr wrap="square" lIns="0" tIns="0" rIns="0" bIns="0" rtlCol="0" anchor="ctr"/>
          <a:lstStyle/>
          <a:p>
            <a:pPr indent="0" marL="0">
              <a:buNone/>
            </a:pPr>
            <a:r>
              <a:rPr lang="en-US" sz="1600" dirty="0">
                <a:solidFill>
                  <a:schemeClr val="tx1"/>
                </a:solidFill>
                <a:latin typeface="Calibri" pitchFamily="34" charset="0"/>
              </a:rPr>
              <a:t>The --eval-only path had a device mismatch on CUDA</a:t>
            </a:r>
            <a:endParaRPr lang="en-US" sz="1600" dirty="0"/>
          </a:p>
        </p:txBody>
      </p:sp>
      <p:sp>
        <p:nvSpPr>
          <p:cNvPr id="31" name="bug 3 badge"/>
          <p:cNvSpPr/>
          <p:nvPr/>
        </p:nvSpPr>
        <p:spPr>
          <a:xfrm>
            <a:off x="4251960" y="3703320"/>
            <a:ext cx="457200" cy="457200"/>
          </a:xfrm>
          <a:prstGeom prst="ellipse">
            <a:avLst/>
          </a:prstGeom>
          <a:solidFill>
            <a:schemeClr val="accent6"/>
          </a:solidFill>
          <a:ln>
            <a:noFill/>
          </a:ln>
        </p:spPr>
        <p:txBody>
          <a:bodyPr wrap="square" lIns="0" tIns="0" rIns="0" bIns="0" rtlCol="0" anchor="ctr"/>
          <a:lstStyle/>
          <a:p>
            <a:pPr algn="ctr" indent="0" marL="0">
              <a:buNone/>
            </a:pPr>
            <a:r>
              <a:rPr lang="en-US" sz="1800" b="1" dirty="0">
                <a:solidFill>
                  <a:schemeClr val="bg1"/>
                </a:solidFill>
                <a:latin typeface="Cambria" pitchFamily="34" charset="0"/>
              </a:rPr>
              <a:t>3</a:t>
            </a:r>
            <a:endParaRPr lang="en-US" sz="1800" dirty="0"/>
          </a:p>
        </p:txBody>
      </p:sp>
      <p:sp>
        <p:nvSpPr>
          <p:cNvPr id="32" name="bug 3"/>
          <p:cNvSpPr txBox="1"/>
          <p:nvPr/>
        </p:nvSpPr>
        <p:spPr>
          <a:xfrm>
            <a:off x="4937760" y="3680460"/>
            <a:ext cx="6477000" cy="502920"/>
          </a:xfrm>
          <a:prstGeom prst="rect">
            <a:avLst/>
          </a:prstGeom>
          <a:noFill/>
          <a:ln>
            <a:noFill/>
          </a:ln>
        </p:spPr>
        <p:txBody>
          <a:bodyPr wrap="square" lIns="0" tIns="0" rIns="0" bIns="0" rtlCol="0" anchor="ctr"/>
          <a:lstStyle/>
          <a:p>
            <a:pPr indent="0" marL="0">
              <a:buNone/>
            </a:pPr>
            <a:r>
              <a:rPr lang="en-US" sz="1600" dirty="0">
                <a:solidFill>
                  <a:schemeClr val="tx1"/>
                </a:solidFill>
                <a:latin typeface="Calibri" pitchFamily="34" charset="0"/>
              </a:rPr>
              <a:t>A unit test whose assertion was mathematically vacuous</a:t>
            </a:r>
            <a:endParaRPr lang="en-US" sz="1600" dirty="0"/>
          </a:p>
        </p:txBody>
      </p:sp>
      <p:sp>
        <p:nvSpPr>
          <p:cNvPr id="33" name="also verified"/>
          <p:cNvSpPr txBox="1"/>
          <p:nvPr/>
        </p:nvSpPr>
        <p:spPr>
          <a:xfrm>
            <a:off x="4251960" y="4526280"/>
            <a:ext cx="7160000" cy="960120"/>
          </a:xfrm>
          <a:prstGeom prst="rect">
            <a:avLst/>
          </a:prstGeom>
          <a:noFill/>
          <a:ln>
            <a:noFill/>
          </a:ln>
        </p:spPr>
        <p:txBody>
          <a:bodyPr wrap="square" lIns="0" tIns="0" rIns="0" bIns="0" rtlCol="0" anchor="t"/>
          <a:lstStyle/>
          <a:p>
            <a:pPr indent="0" marL="0">
              <a:buNone/>
            </a:pPr>
            <a:r>
              <a:rPr lang="en-US" sz="1400" i="1" dirty="0">
                <a:solidFill>
                  <a:schemeClr val="tx2"/>
                </a:solidFill>
                <a:latin typeface="Calibri" pitchFamily="34" charset="0"/>
              </a:rPr>
              <a:t>Also verified: the CTF MEG and EDF readers on real recordings, and that the deterministic adaptive pooling matches PyTorch in forward and backward passes.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the synthetic studies taught us</a:t>
            </a:r>
            <a:endParaRPr lang="en-US" sz="3600" dirty="0"/>
          </a:p>
        </p:txBody>
      </p:sp>
      <p:sp>
        <p:nvSpPr>
          <p:cNvPr id="3" name="fig_token_time card"/>
          <p:cNvSpPr/>
          <p:nvPr/>
        </p:nvSpPr>
        <p:spPr>
          <a:xfrm>
            <a:off x="548640" y="1325880"/>
            <a:ext cx="7498080"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txBody>
          <a:bodyPr/>
          <a:p/>
        </p:txBody>
      </p:sp>
      <p:pic>
        <p:nvPicPr>
          <p:cNvPr id="4" name="fig_token_time" descr="fig token time">    </p:cNvPr>
          <p:cNvPicPr>
            <a:picLocks noChangeAspect="1"/>
          </p:cNvPicPr>
          <p:nvPr/>
        </p:nvPicPr>
        <p:blipFill>
          <a:blip r:embed="rId1"/>
          <a:stretch>
            <a:fillRect/>
          </a:stretch>
        </p:blipFill>
        <p:spPr>
          <a:xfrm>
            <a:off x="1502134" y="1463040"/>
            <a:ext cx="5591093" cy="2221992"/>
          </a:xfrm>
          <a:prstGeom prst="rect">
            <a:avLst/>
          </a:prstGeom>
        </p:spPr>
      </p:pic>
      <p:sp>
        <p:nvSpPr>
          <p:cNvPr id="5" name="Text 2"/>
          <p:cNvSpPr txBox="1"/>
          <p:nvPr/>
        </p:nvSpPr>
        <p:spPr>
          <a:xfrm>
            <a:off x="731520" y="3776472"/>
            <a:ext cx="7132320" cy="566928"/>
          </a:xfrm>
          <a:prstGeom prst="rect">
            <a:avLst/>
          </a:prstGeom>
          <a:noFill/>
          <a:ln/>
        </p:spPr>
        <p:txBody>
          <a:bodyPr wrap="square" lIns="0" tIns="0" rIns="0" bIns="0" rtlCol="0" anchor="ctr"/>
          <a:lstStyle/>
          <a:p>
            <a:pPr indent="0" marL="0">
              <a:buNone/>
            </a:pPr>
            <a:r>
              <a:rPr lang="en-US" sz="1200" i="1" dirty="0">
                <a:solidFill>
                  <a:schemeClr val="tx2"/>
                </a:solidFill>
                <a:latin typeface="Calibri" pitchFamily="34" charset="0"/>
                <a:ea typeface="Calibri" pitchFamily="34" charset="-122"/>
                <a:cs typeface="Calibri" pitchFamily="34" charset="-120"/>
              </a:rPr>
              <a:t>P100 at 100 ms and 108 ms both fall in token 0; 140 ms falls in token 1 (tokens span ≈125 ms).</a:t>
            </a:r>
            <a:endParaRPr lang="en-US" sz="1200" dirty="0"/>
          </a:p>
        </p:txBody>
      </p:sp>
      <p:sp>
        <p:nvSpPr>
          <p:cNvPr id="6" name="stat 0%"/>
          <p:cNvSpPr/>
          <p:nvPr/>
        </p:nvSpPr>
        <p:spPr>
          <a:xfrm>
            <a:off x="8321040" y="1325880"/>
            <a:ext cx="3322015" cy="3063240"/>
          </a:xfrm>
          <a:prstGeom prst="roundRect">
            <a:avLst>
              <a:gd name="adj" fmla="val 2985"/>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7" name="Text 4"/>
          <p:cNvSpPr txBox="1"/>
          <p:nvPr/>
        </p:nvSpPr>
        <p:spPr>
          <a:xfrm>
            <a:off x="8549640" y="2041398"/>
            <a:ext cx="2864815" cy="891540"/>
          </a:xfrm>
          <a:prstGeom prst="rect">
            <a:avLst/>
          </a:prstGeom>
          <a:noFill/>
          <a:ln/>
        </p:spPr>
        <p:txBody>
          <a:bodyPr wrap="square" lIns="0" tIns="0" rIns="0" bIns="0" rtlCol="0" anchor="ctr"/>
          <a:lstStyle/>
          <a:p>
            <a:pPr indent="0" marL="0">
              <a:buNone/>
            </a:pPr>
            <a:r>
              <a:rPr lang="en-US" sz="5400" b="1" dirty="0">
                <a:solidFill>
                  <a:schemeClr val="accent6"/>
                </a:solidFill>
                <a:latin typeface="Cambria" pitchFamily="34" charset="0"/>
                <a:ea typeface="Cambria" pitchFamily="34" charset="-122"/>
                <a:cs typeface="Cambria" pitchFamily="34" charset="-120"/>
              </a:rPr>
              <a:t>0%</a:t>
            </a:r>
            <a:endParaRPr lang="en-US" sz="5400" dirty="0"/>
          </a:p>
        </p:txBody>
      </p:sp>
      <p:sp>
        <p:nvSpPr>
          <p:cNvPr id="8" name="Text 5"/>
          <p:cNvSpPr txBox="1"/>
          <p:nvPr/>
        </p:nvSpPr>
        <p:spPr>
          <a:xfrm>
            <a:off x="8549640" y="2987802"/>
            <a:ext cx="2864815" cy="7772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of the Glaucoma atrophy block survives the 60th-percentile mask; 99.7% of the lesion block does (synthetic volumes)</a:t>
            </a:r>
            <a:endParaRPr lang="en-US" sz="1400" dirty="0"/>
          </a:p>
        </p:txBody>
      </p:sp>
      <p:sp>
        <p:nvSpPr>
          <p:cNvPr id="9" name="observation 1"/>
          <p:cNvSpPr/>
          <p:nvPr/>
        </p:nvSpPr>
        <p:spPr>
          <a:xfrm>
            <a:off x="548640"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The mask is not neutral badge"/>
          <p:cNvSpPr/>
          <p:nvPr/>
        </p:nvSpPr>
        <p:spPr>
          <a:xfrm>
            <a:off x="749808" y="4754880"/>
            <a:ext cx="457200" cy="457200"/>
          </a:xfrm>
          <a:prstGeom prst="ellipse">
            <a:avLst/>
          </a:prstGeom>
          <a:solidFill>
            <a:schemeClr val="accent6"/>
          </a:solidFill>
          <a:ln/>
        </p:spPr>
        <p:txBody>
          <a:bodyPr/>
          <a:p/>
        </p:txBody>
      </p:sp>
      <p:pic>
        <p:nvPicPr>
          <p:cNvPr id="11" name="The mask is not neutral icon" descr="The mask is not neutral">    </p:cNvPr>
          <p:cNvPicPr>
            <a:picLocks noChangeAspect="1"/>
          </p:cNvPicPr>
          <p:nvPr/>
        </p:nvPicPr>
        <p:blipFill>
          <a:blip r:embed="rId2"/>
          <a:stretch>
            <a:fillRect/>
          </a:stretch>
        </p:blipFill>
        <p:spPr>
          <a:xfrm>
            <a:off x="864108" y="4869180"/>
            <a:ext cx="228600" cy="228600"/>
          </a:xfrm>
          <a:prstGeom prst="rect">
            <a:avLst/>
          </a:prstGeom>
        </p:spPr>
      </p:pic>
      <p:sp>
        <p:nvSpPr>
          <p:cNvPr id="12" name="Text 8"/>
          <p:cNvSpPr txBox="1"/>
          <p:nvPr/>
        </p:nvSpPr>
        <p:spPr>
          <a:xfrm>
            <a:off x="1371600"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The mask is not neutral</a:t>
            </a:r>
            <a:endParaRPr lang="en-US" sz="1600" dirty="0"/>
          </a:p>
        </p:txBody>
      </p:sp>
      <p:sp>
        <p:nvSpPr>
          <p:cNvPr id="13" name="Text 9"/>
          <p:cNvSpPr txBox="1"/>
          <p:nvPr/>
        </p:nvSpPr>
        <p:spPr>
          <a:xfrm>
            <a:off x="749808"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original percentile mask zeroes exactly 60% of voxels; validated skull-stripping is still needed.</a:t>
            </a:r>
            <a:endParaRPr lang="en-US" sz="1400" dirty="0"/>
          </a:p>
        </p:txBody>
      </p:sp>
      <p:sp>
        <p:nvSpPr>
          <p:cNvPr id="14" name="observation 2"/>
          <p:cNvSpPr/>
          <p:nvPr/>
        </p:nvSpPr>
        <p:spPr>
          <a:xfrm>
            <a:off x="4338218"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5" name="Tokens are not time bins badge"/>
          <p:cNvSpPr/>
          <p:nvPr/>
        </p:nvSpPr>
        <p:spPr>
          <a:xfrm>
            <a:off x="4539386" y="4754880"/>
            <a:ext cx="457200" cy="457200"/>
          </a:xfrm>
          <a:prstGeom prst="ellipse">
            <a:avLst/>
          </a:prstGeom>
          <a:solidFill>
            <a:schemeClr val="accent2"/>
          </a:solidFill>
          <a:ln/>
        </p:spPr>
        <p:txBody>
          <a:bodyPr/>
          <a:p/>
        </p:txBody>
      </p:sp>
      <p:pic>
        <p:nvPicPr>
          <p:cNvPr id="16" name="Tokens are not time bins icon" descr="Tokens are not time bins">    </p:cNvPr>
          <p:cNvPicPr>
            <a:picLocks noChangeAspect="1"/>
          </p:cNvPicPr>
          <p:nvPr/>
        </p:nvPicPr>
        <p:blipFill>
          <a:blip r:embed="rId3"/>
          <a:stretch>
            <a:fillRect/>
          </a:stretch>
        </p:blipFill>
        <p:spPr>
          <a:xfrm>
            <a:off x="4653686" y="4869180"/>
            <a:ext cx="228600" cy="228600"/>
          </a:xfrm>
          <a:prstGeom prst="rect">
            <a:avLst/>
          </a:prstGeom>
        </p:spPr>
      </p:pic>
      <p:sp>
        <p:nvSpPr>
          <p:cNvPr id="17" name="Text 12"/>
          <p:cNvSpPr txBox="1"/>
          <p:nvPr/>
        </p:nvSpPr>
        <p:spPr>
          <a:xfrm>
            <a:off x="5161178"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Tokens are not time bins</a:t>
            </a:r>
            <a:endParaRPr lang="en-US" sz="1600" dirty="0"/>
          </a:p>
        </p:txBody>
      </p:sp>
      <p:sp>
        <p:nvSpPr>
          <p:cNvPr id="18" name="Text 13"/>
          <p:cNvSpPr txBox="1"/>
          <p:nvPr/>
        </p:nvSpPr>
        <p:spPr>
          <a:xfrm>
            <a:off x="4539386"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Do not read attention at millisecond resolution; the 16 tokens are learned, uncalibrated features.</a:t>
            </a:r>
            <a:endParaRPr lang="en-US" sz="1400" dirty="0"/>
          </a:p>
        </p:txBody>
      </p:sp>
      <p:sp>
        <p:nvSpPr>
          <p:cNvPr id="19" name="observation 3"/>
          <p:cNvSpPr/>
          <p:nvPr/>
        </p:nvSpPr>
        <p:spPr>
          <a:xfrm>
            <a:off x="8127797" y="4572000"/>
            <a:ext cx="3515258" cy="1645920"/>
          </a:xfrm>
          <a:prstGeom prst="roundRect">
            <a:avLst>
              <a:gd name="adj" fmla="val 5556"/>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0" name="Optimise early 3D stages badge"/>
          <p:cNvSpPr/>
          <p:nvPr/>
        </p:nvSpPr>
        <p:spPr>
          <a:xfrm>
            <a:off x="8328965" y="4754880"/>
            <a:ext cx="457200" cy="457200"/>
          </a:xfrm>
          <a:prstGeom prst="ellipse">
            <a:avLst/>
          </a:prstGeom>
          <a:solidFill>
            <a:schemeClr val="accent3"/>
          </a:solidFill>
          <a:ln/>
        </p:spPr>
        <p:txBody>
          <a:bodyPr/>
          <a:p/>
        </p:txBody>
      </p:sp>
      <p:pic>
        <p:nvPicPr>
          <p:cNvPr id="21" name="Optimise early 3D stages icon" descr="Optimise early 3D stages">    </p:cNvPr>
          <p:cNvPicPr>
            <a:picLocks noChangeAspect="1"/>
          </p:cNvPicPr>
          <p:nvPr/>
        </p:nvPicPr>
        <p:blipFill>
          <a:blip r:embed="rId4"/>
          <a:stretch>
            <a:fillRect/>
          </a:stretch>
        </p:blipFill>
        <p:spPr>
          <a:xfrm>
            <a:off x="8443265" y="4869180"/>
            <a:ext cx="228600" cy="228600"/>
          </a:xfrm>
          <a:prstGeom prst="rect">
            <a:avLst/>
          </a:prstGeom>
        </p:spPr>
      </p:pic>
      <p:sp>
        <p:nvSpPr>
          <p:cNvPr id="22" name="Text 16"/>
          <p:cNvSpPr txBox="1"/>
          <p:nvPr/>
        </p:nvSpPr>
        <p:spPr>
          <a:xfrm>
            <a:off x="8950757" y="4754880"/>
            <a:ext cx="2509418"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Unrestricted data is too easy</a:t>
            </a:r>
            <a:endParaRPr lang="en-US" sz="1600" dirty="0"/>
          </a:p>
        </p:txBody>
      </p:sp>
      <p:sp>
        <p:nvSpPr>
          <p:cNvPr id="23" name="Text 17"/>
          <p:cNvSpPr txBox="1"/>
          <p:nvPr/>
        </p:nvSpPr>
        <p:spPr>
          <a:xfrm>
            <a:off x="8328965" y="5321808"/>
            <a:ext cx="3112922" cy="8229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VEP-only 99.0% vs MRI-only 70.8% on the default generator: it shows the pipeline trains, not that fusion helps.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Evidence: shown and not shown</a:t>
            </a:r>
            <a:endParaRPr lang="en-US" sz="3600" dirty="0"/>
          </a:p>
        </p:txBody>
      </p:sp>
      <p:sp>
        <p:nvSpPr>
          <p:cNvPr id="3" name="Verified card"/>
          <p:cNvSpPr/>
          <p:nvPr/>
        </p:nvSpPr>
        <p:spPr>
          <a:xfrm>
            <a:off x="548640" y="1325880"/>
            <a:ext cx="5410048"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Verified badge"/>
          <p:cNvSpPr/>
          <p:nvPr/>
        </p:nvSpPr>
        <p:spPr>
          <a:xfrm>
            <a:off x="822960" y="1554480"/>
            <a:ext cx="594360" cy="594360"/>
          </a:xfrm>
          <a:prstGeom prst="ellipse">
            <a:avLst/>
          </a:prstGeom>
          <a:solidFill>
            <a:schemeClr val="accent4"/>
          </a:solidFill>
          <a:ln/>
        </p:spPr>
        <p:txBody>
          <a:bodyPr/>
          <a:p/>
        </p:txBody>
      </p:sp>
      <p:pic>
        <p:nvPicPr>
          <p:cNvPr id="5" name="Verified icon" descr="Verified">    </p:cNvPr>
          <p:cNvPicPr>
            <a:picLocks noChangeAspect="1"/>
          </p:cNvPicPr>
          <p:nvPr/>
        </p:nvPicPr>
        <p:blipFill>
          <a:blip r:embed="rId1"/>
          <a:stretch>
            <a:fillRect/>
          </a:stretch>
        </p:blipFill>
        <p:spPr>
          <a:xfrm>
            <a:off x="971550" y="1703070"/>
            <a:ext cx="297180" cy="297180"/>
          </a:xfrm>
          <a:prstGeom prst="rect">
            <a:avLst/>
          </a:prstGeom>
        </p:spPr>
      </p:pic>
      <p:sp>
        <p:nvSpPr>
          <p:cNvPr id="6" name="Text 3"/>
          <p:cNvSpPr txBox="1"/>
          <p:nvPr/>
        </p:nvSpPr>
        <p:spPr>
          <a:xfrm>
            <a:off x="1645920" y="1554480"/>
            <a:ext cx="4038448" cy="594360"/>
          </a:xfrm>
          <a:prstGeom prst="rect">
            <a:avLst/>
          </a:prstGeom>
          <a:noFill/>
          <a:ln/>
        </p:spPr>
        <p:txBody>
          <a:bodyPr wrap="square" lIns="0" tIns="0" rIns="0" bIns="0" rtlCol="0" anchor="ctr"/>
          <a:lstStyle/>
          <a:p>
            <a:pPr indent="0" marL="0">
              <a:buNone/>
            </a:pPr>
            <a:r>
              <a:rPr lang="en-US" sz="2400" b="1" dirty="0">
                <a:solidFill>
                  <a:schemeClr val="accent4"/>
                </a:solidFill>
                <a:latin typeface="Cambria" pitchFamily="34" charset="0"/>
                <a:ea typeface="Cambria" pitchFamily="34" charset="-122"/>
                <a:cs typeface="Cambria" pitchFamily="34" charset="-120"/>
              </a:rPr>
              <a:t>Verified</a:t>
            </a:r>
            <a:endParaRPr lang="en-US" sz="2400" dirty="0"/>
          </a:p>
        </p:txBody>
      </p:sp>
      <p:sp>
        <p:nvSpPr>
          <p:cNvPr id="7" name="Text 4"/>
          <p:cNvSpPr txBox="1"/>
          <p:nvPr/>
        </p:nvSpPr>
        <p:spPr>
          <a:xfrm>
            <a:off x="868680" y="2423160"/>
            <a:ext cx="4769968" cy="3611880"/>
          </a:xfrm>
          <a:prstGeom prst="rect">
            <a:avLst/>
          </a:prstGeom>
          <a:noFill/>
          <a:ln/>
        </p:spPr>
        <p:txBody>
          <a:bodyPr wrap="square" lIns="0" tIns="0" rIns="0" bIns="0" rtlCol="0" anchor="t"/>
          <a:lstStyle/>
          <a:p>
            <a:pPr marL="285750" indent="-285750">
              <a:spcAft>
                <a:spcPts val="800"/>
              </a:spcAft>
              <a:buSzPct val="100000"/>
              <a:buChar char="•"/>
            </a:pPr>
            <a:r>
              <a:rPr lang="en-US" sz="1500" dirty="0">
                <a:solidFill>
                  <a:schemeClr val="tx1"/>
                </a:solidFill>
                <a:latin typeface="Calibri" pitchFamily="34" charset="0"/>
              </a:rPr>
              <a:t>Synthetic: fusion beats the better single modality by 10.7 points (p &lt; 0.001, 5 paired seeds)</a:t>
            </a:r>
            <a:endParaRPr lang="en-US" sz="1500" dirty="0"/>
          </a:p>
          <a:p>
            <a:pPr marL="285750" indent="-285750">
              <a:spcAft>
                <a:spcPts val="800"/>
              </a:spcAft>
              <a:buSzPct val="100000"/>
              <a:buChar char="•"/>
            </a:pPr>
            <a:r>
              <a:rPr lang="en-US" sz="1500" dirty="0">
                <a:solidFill>
                  <a:schemeClr val="tx1"/>
                </a:solidFill>
                <a:latin typeface="Calibri" pitchFamily="34" charset="0"/>
              </a:rPr>
              <a:t>Conditioning keeps P100 within 4 ms in 149 of 150 synthetic trials; 22 dB mains reduction</a:t>
            </a:r>
            <a:endParaRPr lang="en-US" sz="1500" dirty="0"/>
          </a:p>
          <a:p>
            <a:pPr marL="285750" indent="-285750">
              <a:spcAft>
                <a:spcPts val="800"/>
              </a:spcAft>
              <a:buSzPct val="100000"/>
              <a:buChar char="•"/>
            </a:pPr>
            <a:r>
              <a:rPr lang="en-US" sz="1500" dirty="0">
                <a:solidFill>
                  <a:schemeClr val="tx1"/>
                </a:solidFill>
                <a:latin typeface="Calibri" pitchFamily="34" charset="0"/>
              </a:rPr>
              <a:t>1,955,140 parameters, 2.60 G MACs; 340 tests pass on two platforms</a:t>
            </a:r>
            <a:endParaRPr lang="en-US" sz="1500" dirty="0"/>
          </a:p>
          <a:p>
            <a:pPr marL="285750" indent="-285750">
              <a:spcAft>
                <a:spcPts val="800"/>
              </a:spcAft>
              <a:buSzPct val="100000"/>
              <a:buChar char="•"/>
            </a:pPr>
            <a:r>
              <a:rPr lang="en-US" sz="1500" dirty="0">
                <a:solidFill>
                  <a:schemeClr val="tx1"/>
                </a:solidFill>
                <a:latin typeface="Calibri" pitchFamily="34" charset="0"/>
              </a:rPr>
              <a:t>One-command, seeded, deterministic pipeline on two public real cohorts</a:t>
            </a:r>
            <a:endParaRPr lang="en-US" sz="1500" dirty="0"/>
          </a:p>
          <a:p>
            <a:pPr marL="285750" indent="-285750">
              <a:spcAft>
                <a:spcPts val="800"/>
              </a:spcAft>
              <a:buSzPct val="100000"/>
              <a:buChar char="•"/>
            </a:pPr>
            <a:r>
              <a:rPr lang="en-US" sz="1500" dirty="0">
                <a:solidFill>
                  <a:schemeClr val="tx1"/>
                </a:solidFill>
                <a:latin typeface="Calibri" pitchFamily="34" charset="0"/>
              </a:rPr>
              <a:t>Real cohorts: only a weak spectral signal (band-power AUC 0.57, Bonferroni p = 0.025); fused networks at chance</a:t>
            </a:r>
            <a:endParaRPr lang="en-US" sz="1500" dirty="0"/>
          </a:p>
        </p:txBody>
      </p:sp>
      <p:sp>
        <p:nvSpPr>
          <p:cNvPr id="8" name="Not shown card"/>
          <p:cNvSpPr/>
          <p:nvPr/>
        </p:nvSpPr>
        <p:spPr>
          <a:xfrm>
            <a:off x="6233008" y="1325880"/>
            <a:ext cx="5410048"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9" name="Not shown badge"/>
          <p:cNvSpPr/>
          <p:nvPr/>
        </p:nvSpPr>
        <p:spPr>
          <a:xfrm>
            <a:off x="6507328" y="1554480"/>
            <a:ext cx="594360" cy="594360"/>
          </a:xfrm>
          <a:prstGeom prst="ellipse">
            <a:avLst/>
          </a:prstGeom>
          <a:solidFill>
            <a:schemeClr val="accent6"/>
          </a:solidFill>
          <a:ln/>
        </p:spPr>
        <p:txBody>
          <a:bodyPr/>
          <a:p/>
        </p:txBody>
      </p:sp>
      <p:pic>
        <p:nvPicPr>
          <p:cNvPr id="10" name="Not shown icon" descr="Not shown">    </p:cNvPr>
          <p:cNvPicPr>
            <a:picLocks noChangeAspect="1"/>
          </p:cNvPicPr>
          <p:nvPr/>
        </p:nvPicPr>
        <p:blipFill>
          <a:blip r:embed="rId2"/>
          <a:stretch>
            <a:fillRect/>
          </a:stretch>
        </p:blipFill>
        <p:spPr>
          <a:xfrm>
            <a:off x="6655918" y="1703070"/>
            <a:ext cx="297180" cy="297180"/>
          </a:xfrm>
          <a:prstGeom prst="rect">
            <a:avLst/>
          </a:prstGeom>
        </p:spPr>
      </p:pic>
      <p:sp>
        <p:nvSpPr>
          <p:cNvPr id="11" name="Text 7"/>
          <p:cNvSpPr txBox="1"/>
          <p:nvPr/>
        </p:nvSpPr>
        <p:spPr>
          <a:xfrm>
            <a:off x="7330288" y="1554480"/>
            <a:ext cx="4038448" cy="594360"/>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Not shown</a:t>
            </a:r>
            <a:endParaRPr lang="en-US" sz="2400" dirty="0"/>
          </a:p>
        </p:txBody>
      </p:sp>
      <p:sp>
        <p:nvSpPr>
          <p:cNvPr id="12" name="Text 8"/>
          <p:cNvSpPr txBox="1"/>
          <p:nvPr/>
        </p:nvSpPr>
        <p:spPr>
          <a:xfrm>
            <a:off x="6553048" y="2423160"/>
            <a:ext cx="4769968" cy="3611880"/>
          </a:xfrm>
          <a:prstGeom prst="rect">
            <a:avLst/>
          </a:prstGeom>
          <a:noFill/>
          <a:ln/>
        </p:spPr>
        <p:txBody>
          <a:bodyPr wrap="square" lIns="0" tIns="0" rIns="0" bIns="0" rtlCol="0" anchor="t"/>
          <a:lstStyle/>
          <a:p>
            <a:pPr marL="285750" indent="-285750">
              <a:spcAft>
                <a:spcPts val="800"/>
              </a:spcAft>
              <a:buSzPct val="100000"/>
              <a:buChar char="•"/>
            </a:pPr>
            <a:r>
              <a:rPr lang="en-US" sz="1500" dirty="0">
                <a:solidFill>
                  <a:schemeClr val="tx1"/>
                </a:solidFill>
                <a:latin typeface="Calibri" pitchFamily="34" charset="0"/>
              </a:rPr>
              <a:t>Diagnosis of glaucoma, optic neuritis or CVI: no eye-disease data were available</a:t>
            </a:r>
            <a:endParaRPr lang="en-US" sz="1500" dirty="0"/>
          </a:p>
          <a:p>
            <a:pPr marL="285750" indent="-285750">
              <a:spcAft>
                <a:spcPts val="800"/>
              </a:spcAft>
              <a:buSzPct val="100000"/>
              <a:buChar char="•"/>
            </a:pPr>
            <a:r>
              <a:rPr lang="en-US" sz="1500" dirty="0">
                <a:solidFill>
                  <a:schemeClr val="tx1"/>
                </a:solidFill>
                <a:latin typeface="Calibri" pitchFamily="34" charset="0"/>
              </a:rPr>
              <a:t>That cross-attention beats concatenation or sum (78.1% vs 77.5% and 79.6%), or that any single component matters (0 of 7 ablations reliable)</a:t>
            </a:r>
            <a:endParaRPr lang="en-US" sz="1500" dirty="0"/>
          </a:p>
          <a:p>
            <a:pPr marL="285750" indent="-285750">
              <a:spcAft>
                <a:spcPts val="800"/>
              </a:spcAft>
              <a:buSzPct val="100000"/>
              <a:buChar char="•"/>
            </a:pPr>
            <a:r>
              <a:rPr lang="en-US" sz="1500" dirty="0">
                <a:solidFill>
                  <a:schemeClr val="tx1"/>
                </a:solidFill>
                <a:latin typeface="Calibri" pitchFamily="34" charset="0"/>
              </a:rPr>
              <a:t>A benefit of fusion on real data, or generalisation across cohorts (classical LODO AUC 0.40–0.63)</a:t>
            </a:r>
            <a:endParaRPr lang="en-US" sz="1500" dirty="0"/>
          </a:p>
          <a:p>
            <a:pPr marL="285750" indent="-285750">
              <a:spcAft>
                <a:spcPts val="800"/>
              </a:spcAft>
              <a:buSzPct val="100000"/>
              <a:buChar char="•"/>
            </a:pPr>
            <a:r>
              <a:rPr lang="en-US" sz="1500" dirty="0">
                <a:solidFill>
                  <a:schemeClr val="tx1"/>
                </a:solidFill>
                <a:latin typeface="Calibri" pitchFamily="34" charset="0"/>
              </a:rPr>
              <a:t>Clinical accuracy or state-of-the-art performance</a:t>
            </a:r>
            <a:endParaRPr lang="en-US" sz="1500" dirty="0"/>
          </a:p>
          <a:p>
            <a:pPr marL="285750" indent="-285750">
              <a:spcAft>
                <a:spcPts val="800"/>
              </a:spcAft>
              <a:buSzPct val="100000"/>
              <a:buChar char="•"/>
            </a:pPr>
            <a:r>
              <a:rPr lang="en-US" sz="1500" dirty="0">
                <a:solidFill>
                  <a:schemeClr val="tx1"/>
                </a:solidFill>
                <a:latin typeface="Calibri" pitchFamily="34" charset="0"/>
              </a:rPr>
              <a:t>Validated skull-stripping, or faithful explanations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is done, what is next</a:t>
            </a:r>
            <a:endParaRPr lang="en-US" sz="3600" dirty="0"/>
          </a:p>
        </p:txBody>
      </p:sp>
      <p:sp>
        <p:nvSpPr>
          <p:cNvPr id="3" name="step 1"/>
          <p:cNvSpPr/>
          <p:nvPr/>
        </p:nvSpPr>
        <p:spPr>
          <a:xfrm>
            <a:off x="548640"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Train properly badge"/>
          <p:cNvSpPr/>
          <p:nvPr/>
        </p:nvSpPr>
        <p:spPr>
          <a:xfrm>
            <a:off x="1219170" y="1645920"/>
            <a:ext cx="731520" cy="731520"/>
          </a:xfrm>
          <a:prstGeom prst="ellipse">
            <a:avLst/>
          </a:prstGeom>
          <a:solidFill>
            <a:schemeClr val="accent1"/>
          </a:solidFill>
          <a:ln/>
        </p:spPr>
        <p:txBody>
          <a:bodyPr/>
          <a:p/>
        </p:txBody>
      </p:sp>
      <p:pic>
        <p:nvPicPr>
          <p:cNvPr id="5" name="Train properly icon" descr="Train properly">    </p:cNvPr>
          <p:cNvPicPr>
            <a:picLocks noChangeAspect="1"/>
          </p:cNvPicPr>
          <p:nvPr/>
        </p:nvPicPr>
        <p:blipFill>
          <a:blip r:embed="rId1"/>
          <a:stretch>
            <a:fillRect/>
          </a:stretch>
        </p:blipFill>
        <p:spPr>
          <a:xfrm>
            <a:off x="1402050" y="1828800"/>
            <a:ext cx="365760" cy="365760"/>
          </a:xfrm>
          <a:prstGeom prst="rect">
            <a:avLst/>
          </a:prstGeom>
        </p:spPr>
      </p:pic>
      <p:sp>
        <p:nvSpPr>
          <p:cNvPr id="6" name="Text 3"/>
          <p:cNvSpPr txBox="1"/>
          <p:nvPr/>
        </p:nvSpPr>
        <p:spPr>
          <a:xfrm>
            <a:off x="731520"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4"/>
                </a:solidFill>
                <a:latin typeface="Cambria" pitchFamily="34" charset="0"/>
                <a:ea typeface="Cambria" pitchFamily="34" charset="-122"/>
                <a:cs typeface="Cambria" pitchFamily="34" charset="-120"/>
              </a:rPr>
              <a:t>Done</a:t>
            </a:r>
            <a:endParaRPr lang="en-US" sz="4000" dirty="0"/>
          </a:p>
        </p:txBody>
      </p:sp>
      <p:sp>
        <p:nvSpPr>
          <p:cNvPr id="7" name="Text 4"/>
          <p:cNvSpPr txBox="1"/>
          <p:nvPr/>
        </p:nvSpPr>
        <p:spPr>
          <a:xfrm>
            <a:off x="731520"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Real-cohort protocol</a:t>
            </a:r>
            <a:endParaRPr lang="en-US" sz="1800" dirty="0"/>
          </a:p>
        </p:txBody>
      </p:sp>
      <p:sp>
        <p:nvSpPr>
          <p:cNvPr id="8" name="Text 5"/>
          <p:cNvSpPr txBox="1"/>
          <p:nvPr/>
        </p:nvSpPr>
        <p:spPr>
          <a:xfrm>
            <a:off x="749808"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Pooled and leave-one-cohort-out models, repeated CV and permutation tests on two public cohorts.</a:t>
            </a:r>
            <a:endParaRPr lang="en-US" sz="1600" dirty="0"/>
          </a:p>
        </p:txBody>
      </p:sp>
      <p:sp>
        <p:nvSpPr>
          <p:cNvPr id="9" name="step 2"/>
          <p:cNvSpPr/>
          <p:nvPr/>
        </p:nvSpPr>
        <p:spPr>
          <a:xfrm>
            <a:off x="2804099"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0" name="Add baselines badge"/>
          <p:cNvSpPr/>
          <p:nvPr/>
        </p:nvSpPr>
        <p:spPr>
          <a:xfrm>
            <a:off x="3474629" y="1645920"/>
            <a:ext cx="731520" cy="731520"/>
          </a:xfrm>
          <a:prstGeom prst="ellipse">
            <a:avLst/>
          </a:prstGeom>
          <a:solidFill>
            <a:schemeClr val="accent3"/>
          </a:solidFill>
          <a:ln/>
        </p:spPr>
        <p:txBody>
          <a:bodyPr/>
          <a:p/>
        </p:txBody>
      </p:sp>
      <p:pic>
        <p:nvPicPr>
          <p:cNvPr id="11" name="Add baselines icon" descr="Add baselines">    </p:cNvPr>
          <p:cNvPicPr>
            <a:picLocks noChangeAspect="1"/>
          </p:cNvPicPr>
          <p:nvPr/>
        </p:nvPicPr>
        <p:blipFill>
          <a:blip r:embed="rId2"/>
          <a:stretch>
            <a:fillRect/>
          </a:stretch>
        </p:blipFill>
        <p:spPr>
          <a:xfrm>
            <a:off x="3657509" y="1828800"/>
            <a:ext cx="365760" cy="365760"/>
          </a:xfrm>
          <a:prstGeom prst="rect">
            <a:avLst/>
          </a:prstGeom>
        </p:spPr>
      </p:pic>
      <p:sp>
        <p:nvSpPr>
          <p:cNvPr id="12" name="Text 8"/>
          <p:cNvSpPr txBox="1"/>
          <p:nvPr/>
        </p:nvSpPr>
        <p:spPr>
          <a:xfrm>
            <a:off x="2986979"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4"/>
                </a:solidFill>
                <a:latin typeface="Cambria" pitchFamily="34" charset="0"/>
                <a:ea typeface="Cambria" pitchFamily="34" charset="-122"/>
                <a:cs typeface="Cambria" pitchFamily="34" charset="-120"/>
              </a:rPr>
              <a:t>Done</a:t>
            </a:r>
            <a:endParaRPr lang="en-US" sz="4000" dirty="0"/>
          </a:p>
        </p:txBody>
      </p:sp>
      <p:sp>
        <p:nvSpPr>
          <p:cNvPr id="13" name="Text 9"/>
          <p:cNvSpPr txBox="1"/>
          <p:nvPr/>
        </p:nvSpPr>
        <p:spPr>
          <a:xfrm>
            <a:off x="2986979"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Baselines and ablation</a:t>
            </a:r>
            <a:endParaRPr lang="en-US" sz="1800" dirty="0"/>
          </a:p>
        </p:txBody>
      </p:sp>
      <p:sp>
        <p:nvSpPr>
          <p:cNvPr id="14" name="Text 10"/>
          <p:cNvSpPr txBox="1"/>
          <p:nvPr/>
        </p:nvSpPr>
        <p:spPr>
          <a:xfrm>
            <a:off x="3005267"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Concatenation, sum and unimodal baselines, ablation and sweep on the synthetic benchmark.</a:t>
            </a:r>
            <a:endParaRPr lang="en-US" sz="1600" dirty="0"/>
          </a:p>
        </p:txBody>
      </p:sp>
      <p:sp>
        <p:nvSpPr>
          <p:cNvPr id="15" name="step 3"/>
          <p:cNvSpPr/>
          <p:nvPr/>
        </p:nvSpPr>
        <p:spPr>
          <a:xfrm>
            <a:off x="5059558"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16" name="Validate masking badge"/>
          <p:cNvSpPr/>
          <p:nvPr/>
        </p:nvSpPr>
        <p:spPr>
          <a:xfrm>
            <a:off x="5730088" y="1645920"/>
            <a:ext cx="731520" cy="731520"/>
          </a:xfrm>
          <a:prstGeom prst="ellipse">
            <a:avLst/>
          </a:prstGeom>
          <a:solidFill>
            <a:schemeClr val="accent2"/>
          </a:solidFill>
          <a:ln/>
        </p:spPr>
        <p:txBody>
          <a:bodyPr/>
          <a:p/>
        </p:txBody>
      </p:sp>
      <p:pic>
        <p:nvPicPr>
          <p:cNvPr id="17" name="Validate masking icon" descr="Validate masking">    </p:cNvPr>
          <p:cNvPicPr>
            <a:picLocks noChangeAspect="1"/>
          </p:cNvPicPr>
          <p:nvPr/>
        </p:nvPicPr>
        <p:blipFill>
          <a:blip r:embed="rId3"/>
          <a:stretch>
            <a:fillRect/>
          </a:stretch>
        </p:blipFill>
        <p:spPr>
          <a:xfrm>
            <a:off x="5912968" y="1828800"/>
            <a:ext cx="365760" cy="365760"/>
          </a:xfrm>
          <a:prstGeom prst="rect">
            <a:avLst/>
          </a:prstGeom>
        </p:spPr>
      </p:pic>
      <p:sp>
        <p:nvSpPr>
          <p:cNvPr id="18" name="Text 13"/>
          <p:cNvSpPr txBox="1"/>
          <p:nvPr/>
        </p:nvSpPr>
        <p:spPr>
          <a:xfrm>
            <a:off x="5242438"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Next</a:t>
            </a:r>
            <a:endParaRPr lang="en-US" sz="4000" dirty="0"/>
          </a:p>
        </p:txBody>
      </p:sp>
      <p:sp>
        <p:nvSpPr>
          <p:cNvPr id="19" name="Text 14"/>
          <p:cNvSpPr txBox="1"/>
          <p:nvPr/>
        </p:nvSpPr>
        <p:spPr>
          <a:xfrm>
            <a:off x="5242438"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Skull-stripping</a:t>
            </a:r>
            <a:endParaRPr lang="en-US" sz="1800" dirty="0"/>
          </a:p>
        </p:txBody>
      </p:sp>
      <p:sp>
        <p:nvSpPr>
          <p:cNvPr id="20" name="Text 15"/>
          <p:cNvSpPr txBox="1"/>
          <p:nvPr/>
        </p:nvSpPr>
        <p:spPr>
          <a:xfrm>
            <a:off x="5260726"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Replace the Otsu mask with validated skull-stripping, for example HD-BET or SynthStrip.</a:t>
            </a:r>
            <a:endParaRPr lang="en-US" sz="1600" dirty="0"/>
          </a:p>
        </p:txBody>
      </p:sp>
      <p:sp>
        <p:nvSpPr>
          <p:cNvPr id="21" name="step 4"/>
          <p:cNvSpPr/>
          <p:nvPr/>
        </p:nvSpPr>
        <p:spPr>
          <a:xfrm>
            <a:off x="7315017"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2" name="Check explanations badge"/>
          <p:cNvSpPr/>
          <p:nvPr/>
        </p:nvSpPr>
        <p:spPr>
          <a:xfrm>
            <a:off x="7985547" y="1645920"/>
            <a:ext cx="731520" cy="731520"/>
          </a:xfrm>
          <a:prstGeom prst="ellipse">
            <a:avLst/>
          </a:prstGeom>
          <a:solidFill>
            <a:schemeClr val="accent5"/>
          </a:solidFill>
          <a:ln/>
        </p:spPr>
        <p:txBody>
          <a:bodyPr/>
          <a:p/>
        </p:txBody>
      </p:sp>
      <p:pic>
        <p:nvPicPr>
          <p:cNvPr id="23" name="Check explanations icon" descr="Check explanations">    </p:cNvPr>
          <p:cNvPicPr>
            <a:picLocks noChangeAspect="1"/>
          </p:cNvPicPr>
          <p:nvPr/>
        </p:nvPicPr>
        <p:blipFill>
          <a:blip r:embed="rId4"/>
          <a:stretch>
            <a:fillRect/>
          </a:stretch>
        </p:blipFill>
        <p:spPr>
          <a:xfrm>
            <a:off x="8168427" y="1828800"/>
            <a:ext cx="365760" cy="365760"/>
          </a:xfrm>
          <a:prstGeom prst="rect">
            <a:avLst/>
          </a:prstGeom>
        </p:spPr>
      </p:pic>
      <p:sp>
        <p:nvSpPr>
          <p:cNvPr id="24" name="Text 18"/>
          <p:cNvSpPr txBox="1"/>
          <p:nvPr/>
        </p:nvSpPr>
        <p:spPr>
          <a:xfrm>
            <a:off x="7497897"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Next</a:t>
            </a:r>
            <a:endParaRPr lang="en-US" sz="4000" dirty="0"/>
          </a:p>
        </p:txBody>
      </p:sp>
      <p:sp>
        <p:nvSpPr>
          <p:cNvPr id="25" name="Text 19"/>
          <p:cNvSpPr txBox="1"/>
          <p:nvPr/>
        </p:nvSpPr>
        <p:spPr>
          <a:xfrm>
            <a:off x="7497897"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Check explanations</a:t>
            </a:r>
            <a:endParaRPr lang="en-US" sz="1800" dirty="0"/>
          </a:p>
        </p:txBody>
      </p:sp>
      <p:sp>
        <p:nvSpPr>
          <p:cNvPr id="26" name="Text 20"/>
          <p:cNvSpPr txBox="1"/>
          <p:nvPr/>
        </p:nvSpPr>
        <p:spPr>
          <a:xfrm>
            <a:off x="7516185"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Compare Grad-CAM and attention with clinician-marked regions.</a:t>
            </a:r>
            <a:endParaRPr lang="en-US" sz="1600" dirty="0"/>
          </a:p>
        </p:txBody>
      </p:sp>
      <p:sp>
        <p:nvSpPr>
          <p:cNvPr id="27" name="step 5"/>
          <p:cNvSpPr/>
          <p:nvPr/>
        </p:nvSpPr>
        <p:spPr>
          <a:xfrm>
            <a:off x="9570476" y="1371600"/>
            <a:ext cx="2072579" cy="4754880"/>
          </a:xfrm>
          <a:prstGeom prst="roundRect">
            <a:avLst>
              <a:gd name="adj" fmla="val 4412"/>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28" name="Ground the tokens badge"/>
          <p:cNvSpPr/>
          <p:nvPr/>
        </p:nvSpPr>
        <p:spPr>
          <a:xfrm>
            <a:off x="10241006" y="1645920"/>
            <a:ext cx="731520" cy="731520"/>
          </a:xfrm>
          <a:prstGeom prst="ellipse">
            <a:avLst/>
          </a:prstGeom>
          <a:solidFill>
            <a:schemeClr val="accent4"/>
          </a:solidFill>
          <a:ln/>
        </p:spPr>
        <p:txBody>
          <a:bodyPr/>
          <a:p/>
        </p:txBody>
      </p:sp>
      <p:pic>
        <p:nvPicPr>
          <p:cNvPr id="29" name="Ground the tokens icon" descr="Ground the tokens">    </p:cNvPr>
          <p:cNvPicPr>
            <a:picLocks noChangeAspect="1"/>
          </p:cNvPicPr>
          <p:nvPr/>
        </p:nvPicPr>
        <p:blipFill>
          <a:blip r:embed="rId5"/>
          <a:stretch>
            <a:fillRect/>
          </a:stretch>
        </p:blipFill>
        <p:spPr>
          <a:xfrm>
            <a:off x="10423886" y="1828800"/>
            <a:ext cx="365760" cy="365760"/>
          </a:xfrm>
          <a:prstGeom prst="rect">
            <a:avLst/>
          </a:prstGeom>
        </p:spPr>
      </p:pic>
      <p:sp>
        <p:nvSpPr>
          <p:cNvPr id="30" name="Text 23"/>
          <p:cNvSpPr txBox="1"/>
          <p:nvPr/>
        </p:nvSpPr>
        <p:spPr>
          <a:xfrm>
            <a:off x="9753356" y="2560320"/>
            <a:ext cx="1706819" cy="64008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Next</a:t>
            </a:r>
            <a:endParaRPr lang="en-US" sz="4000" dirty="0"/>
          </a:p>
        </p:txBody>
      </p:sp>
      <p:sp>
        <p:nvSpPr>
          <p:cNvPr id="31" name="Text 24"/>
          <p:cNvSpPr txBox="1"/>
          <p:nvPr/>
        </p:nvSpPr>
        <p:spPr>
          <a:xfrm>
            <a:off x="9753356" y="3291840"/>
            <a:ext cx="1706819" cy="64008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Paired MRI + VEP cohort</a:t>
            </a:r>
            <a:endParaRPr lang="en-US" sz="1800" dirty="0"/>
          </a:p>
        </p:txBody>
      </p:sp>
      <p:sp>
        <p:nvSpPr>
          <p:cNvPr id="32" name="Text 25"/>
          <p:cNvSpPr txBox="1"/>
          <p:nvPr/>
        </p:nvSpPr>
        <p:spPr>
          <a:xfrm>
            <a:off x="9771644" y="4023360"/>
            <a:ext cx="1670243" cy="19202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Find or collect a labelled cohort with paired MRI and VEP for visual-pathway disorders.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A tested foundation, not a diagnostic claim</a:t>
            </a:r>
            <a:endParaRPr lang="en-US" sz="3600" dirty="0"/>
          </a:p>
        </p:txBody>
      </p:sp>
      <p:sp>
        <p:nvSpPr>
          <p:cNvPr id="3" name="key number 1"/>
          <p:cNvSpPr/>
          <p:nvPr/>
        </p:nvSpPr>
        <p:spPr>
          <a:xfrm>
            <a:off x="548640" y="1554480"/>
            <a:ext cx="2602154" cy="2011680"/>
          </a:xfrm>
          <a:prstGeom prst="roundRect">
            <a:avLst>
              <a:gd name="adj" fmla="val 4545"/>
            </a:avLst>
          </a:prstGeom>
          <a:solidFill>
            <a:schemeClr val="tx2"/>
          </a:solidFill>
          <a:ln/>
        </p:spPr>
        <p:txBody>
          <a:bodyPr/>
          <a:p/>
        </p:txBody>
      </p:sp>
      <p:sp>
        <p:nvSpPr>
          <p:cNvPr id="4" name="Text 2"/>
          <p:cNvSpPr txBox="1"/>
          <p:nvPr/>
        </p:nvSpPr>
        <p:spPr>
          <a:xfrm>
            <a:off x="731520"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149/150</a:t>
            </a:r>
            <a:endParaRPr lang="en-US" sz="4000" dirty="0"/>
          </a:p>
        </p:txBody>
      </p:sp>
      <p:sp>
        <p:nvSpPr>
          <p:cNvPr id="5" name="Text 3"/>
          <p:cNvSpPr txBox="1"/>
          <p:nvPr/>
        </p:nvSpPr>
        <p:spPr>
          <a:xfrm>
            <a:off x="731520"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synthetic P100 trials within one sample</a:t>
            </a:r>
            <a:endParaRPr lang="en-US" sz="1600" dirty="0"/>
          </a:p>
        </p:txBody>
      </p:sp>
      <p:sp>
        <p:nvSpPr>
          <p:cNvPr id="6" name="key number 2"/>
          <p:cNvSpPr/>
          <p:nvPr/>
        </p:nvSpPr>
        <p:spPr>
          <a:xfrm>
            <a:off x="3379394" y="1554480"/>
            <a:ext cx="2602154" cy="2011680"/>
          </a:xfrm>
          <a:prstGeom prst="roundRect">
            <a:avLst>
              <a:gd name="adj" fmla="val 4545"/>
            </a:avLst>
          </a:prstGeom>
          <a:solidFill>
            <a:schemeClr val="tx2"/>
          </a:solidFill>
          <a:ln/>
        </p:spPr>
        <p:txBody>
          <a:bodyPr/>
          <a:p/>
        </p:txBody>
      </p:sp>
      <p:sp>
        <p:nvSpPr>
          <p:cNvPr id="7" name="Text 5"/>
          <p:cNvSpPr txBox="1"/>
          <p:nvPr/>
        </p:nvSpPr>
        <p:spPr>
          <a:xfrm>
            <a:off x="3562274"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+10.7 pts</a:t>
            </a:r>
            <a:endParaRPr lang="en-US" sz="4000" dirty="0"/>
          </a:p>
        </p:txBody>
      </p:sp>
      <p:sp>
        <p:nvSpPr>
          <p:cNvPr id="8" name="Text 6"/>
          <p:cNvSpPr txBox="1"/>
          <p:nvPr/>
        </p:nvSpPr>
        <p:spPr>
          <a:xfrm>
            <a:off x="3562274"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synthetic: fusion over the better single modality</a:t>
            </a:r>
            <a:endParaRPr lang="en-US" sz="1600" dirty="0"/>
          </a:p>
        </p:txBody>
      </p:sp>
      <p:sp>
        <p:nvSpPr>
          <p:cNvPr id="9" name="key number 3"/>
          <p:cNvSpPr/>
          <p:nvPr/>
        </p:nvSpPr>
        <p:spPr>
          <a:xfrm>
            <a:off x="6210148" y="1554480"/>
            <a:ext cx="2602154" cy="2011680"/>
          </a:xfrm>
          <a:prstGeom prst="roundRect">
            <a:avLst>
              <a:gd name="adj" fmla="val 4545"/>
            </a:avLst>
          </a:prstGeom>
          <a:solidFill>
            <a:schemeClr val="tx2"/>
          </a:solidFill>
          <a:ln/>
        </p:spPr>
        <p:txBody>
          <a:bodyPr/>
          <a:p/>
        </p:txBody>
      </p:sp>
      <p:sp>
        <p:nvSpPr>
          <p:cNvPr id="10" name="Text 8"/>
          <p:cNvSpPr txBox="1"/>
          <p:nvPr/>
        </p:nvSpPr>
        <p:spPr>
          <a:xfrm>
            <a:off x="6393028"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1.96 M</a:t>
            </a:r>
            <a:endParaRPr lang="en-US" sz="4000" dirty="0"/>
          </a:p>
        </p:txBody>
      </p:sp>
      <p:sp>
        <p:nvSpPr>
          <p:cNvPr id="11" name="Text 9"/>
          <p:cNvSpPr txBox="1"/>
          <p:nvPr/>
        </p:nvSpPr>
        <p:spPr>
          <a:xfrm>
            <a:off x="6393028"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parameters, 2.60 G MACs at 64³</a:t>
            </a:r>
            <a:endParaRPr lang="en-US" sz="1600" dirty="0"/>
          </a:p>
        </p:txBody>
      </p:sp>
      <p:sp>
        <p:nvSpPr>
          <p:cNvPr id="12" name="key number 4"/>
          <p:cNvSpPr/>
          <p:nvPr/>
        </p:nvSpPr>
        <p:spPr>
          <a:xfrm>
            <a:off x="9040901" y="1554480"/>
            <a:ext cx="2602154" cy="2011680"/>
          </a:xfrm>
          <a:prstGeom prst="roundRect">
            <a:avLst>
              <a:gd name="adj" fmla="val 4545"/>
            </a:avLst>
          </a:prstGeom>
          <a:solidFill>
            <a:schemeClr val="tx2"/>
          </a:solidFill>
          <a:ln/>
        </p:spPr>
        <p:txBody>
          <a:bodyPr/>
          <a:p/>
        </p:txBody>
      </p:sp>
      <p:sp>
        <p:nvSpPr>
          <p:cNvPr id="13" name="Text 11"/>
          <p:cNvSpPr txBox="1"/>
          <p:nvPr/>
        </p:nvSpPr>
        <p:spPr>
          <a:xfrm>
            <a:off x="9223781" y="1691640"/>
            <a:ext cx="2236394" cy="9144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 50%</a:t>
            </a:r>
            <a:endParaRPr lang="en-US" sz="4000" dirty="0"/>
          </a:p>
        </p:txBody>
      </p:sp>
      <p:sp>
        <p:nvSpPr>
          <p:cNvPr id="14" name="Text 12"/>
          <p:cNvSpPr txBox="1"/>
          <p:nvPr/>
        </p:nvSpPr>
        <p:spPr>
          <a:xfrm>
            <a:off x="9223781" y="2651760"/>
            <a:ext cx="2236394" cy="777240"/>
          </a:xfrm>
          <a:prstGeom prst="rect">
            <a:avLst/>
          </a:prstGeom>
          <a:noFill/>
          <a:ln/>
        </p:spPr>
        <p:txBody>
          <a:bodyPr wrap="square" lIns="0" tIns="0" rIns="0" bIns="0" rtlCol="0" anchor="t"/>
          <a:lstStyle/>
          <a:p>
            <a:pPr indent="0" marL="0">
              <a:buNone/>
            </a:pPr>
            <a:r>
              <a:rPr lang="en-US" sz="1600" dirty="0">
                <a:solidFill>
                  <a:schemeClr val="bg1"/>
                </a:solidFill>
                <a:latin typeface="Calibri" pitchFamily="34" charset="0"/>
                <a:ea typeface="Calibri" pitchFamily="34" charset="-122"/>
                <a:cs typeface="Calibri" pitchFamily="34" charset="-120"/>
              </a:rPr>
              <a:t>CAFN test accuracy on the real cohorts: chance level</a:t>
            </a:r>
            <a:endParaRPr lang="en-US" sz="1600" dirty="0"/>
          </a:p>
        </p:txBody>
      </p:sp>
      <p:sp>
        <p:nvSpPr>
          <p:cNvPr id="15" name="Text 13"/>
          <p:cNvSpPr txBox="1"/>
          <p:nvPr/>
        </p:nvSpPr>
        <p:spPr>
          <a:xfrm>
            <a:off x="548640" y="3931920"/>
            <a:ext cx="11094415" cy="1097280"/>
          </a:xfrm>
          <a:prstGeom prst="rect">
            <a:avLst/>
          </a:prstGeom>
          <a:noFill/>
          <a:ln/>
        </p:spPr>
        <p:txBody>
          <a:bodyPr wrap="square" lIns="0" tIns="0" rIns="0" bIns="0" rtlCol="0" anchor="t"/>
          <a:lstStyle/>
          <a:p>
            <a:pPr indent="0" marL="0">
              <a:buNone/>
            </a:pPr>
            <a:r>
              <a:rPr lang="en-US" sz="2000" dirty="0">
                <a:solidFill>
                  <a:schemeClr val="bg1"/>
                </a:solidFill>
                <a:latin typeface="Cambria" pitchFamily="34" charset="0"/>
                <a:ea typeface="Cambria" pitchFamily="34" charset="-122"/>
                <a:cs typeface="Cambria" pitchFamily="34" charset="-120"/>
              </a:rPr>
              <a:t>CAFN is a gated bidirectional cross-attention network for 3D MRI and a 1D signal. Fusion beats the better single modality in a controlled synthetic benchmark, but cross-attention is not shown to beat simpler fusion, and on the real cohorts it is at chance. No diagnostic accuracy is claimed.</a:t>
            </a:r>
            <a:endParaRPr lang="en-US" sz="2000" dirty="0"/>
          </a:p>
        </p:txBody>
      </p:sp>
      <p:sp>
        <p:nvSpPr>
          <p:cNvPr id="16" name="questions pill"/>
          <p:cNvSpPr/>
          <p:nvPr/>
        </p:nvSpPr>
        <p:spPr>
          <a:xfrm>
            <a:off x="548640" y="5303520"/>
            <a:ext cx="3840480" cy="777240"/>
          </a:xfrm>
          <a:prstGeom prst="roundRect">
            <a:avLst>
              <a:gd name="adj" fmla="val 49412"/>
            </a:avLst>
          </a:prstGeom>
          <a:solidFill>
            <a:schemeClr val="accent2"/>
          </a:solidFill>
          <a:ln/>
        </p:spPr>
        <p:txBody>
          <a:bodyPr/>
          <a:p/>
        </p:txBody>
      </p:sp>
      <p:sp>
        <p:nvSpPr>
          <p:cNvPr id="17" name="Text 15"/>
          <p:cNvSpPr txBox="1"/>
          <p:nvPr/>
        </p:nvSpPr>
        <p:spPr>
          <a:xfrm>
            <a:off x="548640" y="5303520"/>
            <a:ext cx="3840480" cy="777240"/>
          </a:xfrm>
          <a:prstGeom prst="rect">
            <a:avLst/>
          </a:prstGeom>
          <a:noFill/>
          <a:ln/>
        </p:spPr>
        <p:txBody>
          <a:bodyPr wrap="square" lIns="0" tIns="0" rIns="0" bIns="0"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Thank you · Questions?</a:t>
            </a:r>
            <a:endParaRPr lang="en-US" sz="2200" dirty="0"/>
          </a:p>
        </p:txBody>
      </p:sp>
      <p:sp>
        <p:nvSpPr>
          <p:cNvPr id="18" name="Text 16"/>
          <p:cNvSpPr txBox="1"/>
          <p:nvPr/>
        </p:nvSpPr>
        <p:spPr>
          <a:xfrm>
            <a:off x="4754880" y="5303520"/>
            <a:ext cx="6888175" cy="777240"/>
          </a:xfrm>
          <a:prstGeom prst="rect">
            <a:avLst/>
          </a:prstGeom>
          <a:noFill/>
          <a:ln/>
        </p:spPr>
        <p:txBody>
          <a:bodyPr wrap="square" lIns="0" tIns="0" rIns="0" bIns="0" rtlCol="0" anchor="ctr"/>
          <a:lstStyle/>
          <a:p>
            <a:pPr indent="0" marL="0">
              <a:buNone/>
            </a:pPr>
            <a:r>
              <a:rPr lang="en-US" sz="1800" dirty="0">
                <a:solidFill>
                  <a:schemeClr val="bg2"/>
                </a:solidFill>
                <a:latin typeface="Calibri" pitchFamily="34" charset="0"/>
                <a:ea typeface="Calibri" pitchFamily="34" charset="-122"/>
                <a:cs typeface="Calibri" pitchFamily="34" charset="-120"/>
              </a:rPr>
              <a:t>Code: github.com/Mishthijainn/NeuroImaging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31</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Selected references</a:t>
            </a:r>
            <a:endParaRPr lang="en-US" sz="3600" dirty="0"/>
          </a:p>
        </p:txBody>
      </p:sp>
      <p:sp>
        <p:nvSpPr>
          <p:cNvPr id="3" name="references card"/>
          <p:cNvSpPr/>
          <p:nvPr/>
        </p:nvSpPr>
        <p:spPr>
          <a:xfrm>
            <a:off x="548640" y="1325880"/>
            <a:ext cx="11094415" cy="4892040"/>
          </a:xfrm>
          <a:prstGeom prst="roundRect">
            <a:avLst>
              <a:gd name="adj" fmla="val 1869"/>
            </a:avLst>
          </a:prstGeom>
          <a:solidFill>
            <a:schemeClr val="bg1"/>
          </a:solidFill>
          <a:ln/>
          <a:effectLst>
            <a:outerShdw sx="100000" sy="100000" kx="0" ky="0" algn="bl" rotWithShape="0" blurRad="101600" dist="25400" dir="5400000">
              <a:srgbClr val="12232B">
                <a:alpha val="12000"/>
              </a:srgbClr>
            </a:outerShdw>
          </a:effectLst>
        </p:spPr>
        <p:txBody>
          <a:bodyPr/>
          <a:p/>
        </p:txBody>
      </p:sp>
      <p:sp>
        <p:nvSpPr>
          <p:cNvPr id="4" name="book badge"/>
          <p:cNvSpPr/>
          <p:nvPr/>
        </p:nvSpPr>
        <p:spPr>
          <a:xfrm>
            <a:off x="822960" y="1508760"/>
            <a:ext cx="548640" cy="548640"/>
          </a:xfrm>
          <a:prstGeom prst="ellipse">
            <a:avLst/>
          </a:prstGeom>
          <a:solidFill>
            <a:schemeClr val="accent1"/>
          </a:solidFill>
          <a:ln/>
        </p:spPr>
        <p:txBody>
          <a:bodyPr/>
          <a:p/>
        </p:txBody>
      </p:sp>
      <p:pic>
        <p:nvPicPr>
          <p:cNvPr id="5" name="book icon" descr="book">    </p:cNvPr>
          <p:cNvPicPr>
            <a:picLocks noChangeAspect="1"/>
          </p:cNvPicPr>
          <p:nvPr/>
        </p:nvPicPr>
        <p:blipFill>
          <a:blip r:embed="rId1"/>
          <a:stretch>
            <a:fillRect/>
          </a:stretch>
        </p:blipFill>
        <p:spPr>
          <a:xfrm>
            <a:off x="960120" y="1645920"/>
            <a:ext cx="274320" cy="274320"/>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
        <p:nvSpPr>
          <p:cNvPr id="26" name="refs col 1"/>
          <p:cNvSpPr txBox="1"/>
          <p:nvPr/>
        </p:nvSpPr>
        <p:spPr>
          <a:xfrm>
            <a:off x="1554480" y="1508760"/>
            <a:ext cx="4754880" cy="4572000"/>
          </a:xfrm>
          <a:prstGeom prst="rect">
            <a:avLst/>
          </a:prstGeom>
          <a:noFill/>
          <a:ln>
            <a:noFill/>
          </a:ln>
        </p:spPr>
        <p:txBody>
          <a:bodyPr wrap="square" lIns="0" tIns="0" rIns="0" bIns="0" rtlCol="0" anchor="t"/>
          <a:lstStyle/>
          <a:p>
            <a:pPr indent="0" marL="0">
              <a:spcAft>
                <a:spcPts val="800"/>
              </a:spcAft>
              <a:buNone/>
            </a:pPr>
            <a:r>
              <a:rPr lang="en-US" sz="1300" dirty="0">
                <a:solidFill>
                  <a:schemeClr val="tx1"/>
                </a:solidFill>
                <a:latin typeface="Calibri" pitchFamily="34" charset="0"/>
              </a:rPr>
              <a:t>[1]  Tham Y-C. et al., “Global prevalence of glaucoma and projections of glaucoma burden through 2040,” Ophthalmology, 2014.</a:t>
            </a:r>
            <a:endParaRPr lang="en-US" sz="1300" dirty="0"/>
          </a:p>
          <a:p>
            <a:pPr indent="0" marL="0">
              <a:spcAft>
                <a:spcPts val="800"/>
              </a:spcAft>
              <a:buNone/>
            </a:pPr>
            <a:r>
              <a:rPr lang="en-US" sz="1300" dirty="0">
                <a:solidFill>
                  <a:schemeClr val="tx1"/>
                </a:solidFill>
                <a:latin typeface="Calibri" pitchFamily="34" charset="0"/>
              </a:rPr>
              <a:t>[2]  Halliday A.M., McDonald W.I., Mushin J., “Delayed visual evoked response in optic neuritis,” Lancet, 1972.</a:t>
            </a:r>
            <a:endParaRPr lang="en-US" sz="1300" dirty="0"/>
          </a:p>
          <a:p>
            <a:pPr indent="0" marL="0">
              <a:spcAft>
                <a:spcPts val="800"/>
              </a:spcAft>
              <a:buNone/>
            </a:pPr>
            <a:r>
              <a:rPr lang="en-US" sz="1300" dirty="0">
                <a:solidFill>
                  <a:schemeClr val="tx1"/>
                </a:solidFill>
                <a:latin typeface="Calibri" pitchFamily="34" charset="0"/>
              </a:rPr>
              <a:t>[3]  Odom J.V. et al., “ISCEV standard for clinical visual evoked potentials (2016 update),” Doc. Ophthalmol., 2016.</a:t>
            </a:r>
            <a:endParaRPr lang="en-US" sz="1300" dirty="0"/>
          </a:p>
          <a:p>
            <a:pPr indent="0" marL="0">
              <a:spcAft>
                <a:spcPts val="800"/>
              </a:spcAft>
              <a:buNone/>
            </a:pPr>
            <a:r>
              <a:rPr lang="en-US" sz="1300" dirty="0">
                <a:solidFill>
                  <a:schemeClr val="tx1"/>
                </a:solidFill>
                <a:latin typeface="Calibri" pitchFamily="34" charset="0"/>
              </a:rPr>
              <a:t>[4]  He K. et al., “Deep residual learning for image recognition,” CVPR, 2016.</a:t>
            </a:r>
            <a:endParaRPr lang="en-US" sz="1300" dirty="0"/>
          </a:p>
          <a:p>
            <a:pPr indent="0" marL="0">
              <a:spcAft>
                <a:spcPts val="800"/>
              </a:spcAft>
              <a:buNone/>
            </a:pPr>
            <a:r>
              <a:rPr lang="en-US" sz="1300" dirty="0">
                <a:solidFill>
                  <a:schemeClr val="tx1"/>
                </a:solidFill>
                <a:latin typeface="Calibri" pitchFamily="34" charset="0"/>
              </a:rPr>
              <a:t>[5]  Çiçek Ö. et al., “3D U-Net: learning dense volumetric segmentation from sparse annotation,” MICCAI, 2016.</a:t>
            </a:r>
            <a:endParaRPr lang="en-US" sz="1300" dirty="0"/>
          </a:p>
          <a:p>
            <a:pPr indent="0" marL="0">
              <a:spcAft>
                <a:spcPts val="800"/>
              </a:spcAft>
              <a:buNone/>
            </a:pPr>
            <a:r>
              <a:rPr lang="en-US" sz="1300" dirty="0">
                <a:solidFill>
                  <a:schemeClr val="tx1"/>
                </a:solidFill>
                <a:latin typeface="Calibri" pitchFamily="34" charset="0"/>
              </a:rPr>
              <a:t>[6]  Cardoso M.J. et al., “MONAI: an open-source framework for deep learning in healthcare,” arXiv:2211.02701, 2022.</a:t>
            </a:r>
            <a:endParaRPr lang="en-US" sz="1300" dirty="0"/>
          </a:p>
          <a:p>
            <a:pPr indent="0" marL="0">
              <a:spcAft>
                <a:spcPts val="800"/>
              </a:spcAft>
              <a:buNone/>
            </a:pPr>
            <a:r>
              <a:rPr lang="en-US" sz="1300" dirty="0">
                <a:solidFill>
                  <a:schemeClr val="tx1"/>
                </a:solidFill>
                <a:latin typeface="Calibri" pitchFamily="34" charset="0"/>
              </a:rPr>
              <a:t>[7]  Vaswani A. et al., “Attention is all you need,” NeurIPS, 2017.</a:t>
            </a:r>
            <a:endParaRPr lang="en-US" sz="1300" dirty="0"/>
          </a:p>
          <a:p>
            <a:pPr indent="0" marL="0">
              <a:spcAft>
                <a:spcPts val="800"/>
              </a:spcAft>
              <a:buNone/>
            </a:pPr>
            <a:r>
              <a:rPr lang="en-US" sz="1300" dirty="0">
                <a:solidFill>
                  <a:schemeClr val="tx1"/>
                </a:solidFill>
                <a:latin typeface="Calibri" pitchFamily="34" charset="0"/>
              </a:rPr>
              <a:t>[8]  Tsai Y-H.H. et al., “Multimodal transformer for unaligned multimodal language sequences,” ACL, 2019.</a:t>
            </a:r>
            <a:endParaRPr lang="en-US" sz="1300" dirty="0"/>
          </a:p>
        </p:txBody>
      </p:sp>
      <p:sp>
        <p:nvSpPr>
          <p:cNvPr id="27" name="refs col 2"/>
          <p:cNvSpPr txBox="1"/>
          <p:nvPr/>
        </p:nvSpPr>
        <p:spPr>
          <a:xfrm>
            <a:off x="6537960" y="1508760"/>
            <a:ext cx="4754880" cy="4572000"/>
          </a:xfrm>
          <a:prstGeom prst="rect">
            <a:avLst/>
          </a:prstGeom>
          <a:noFill/>
          <a:ln>
            <a:noFill/>
          </a:ln>
        </p:spPr>
        <p:txBody>
          <a:bodyPr wrap="square" lIns="0" tIns="0" rIns="0" bIns="0" rtlCol="0" anchor="t"/>
          <a:lstStyle/>
          <a:p>
            <a:pPr indent="0" marL="0">
              <a:spcAft>
                <a:spcPts val="800"/>
              </a:spcAft>
              <a:buNone/>
            </a:pPr>
            <a:r>
              <a:rPr lang="en-US" sz="1300" dirty="0">
                <a:solidFill>
                  <a:schemeClr val="tx1"/>
                </a:solidFill>
                <a:latin typeface="Calibri" pitchFamily="34" charset="0"/>
              </a:rPr>
              <a:t>[9]  Selvaraju R.R. et al., “Grad-CAM: visual explanations from deep networks via gradient-based localization,” ICCV, 2017.</a:t>
            </a:r>
            <a:endParaRPr lang="en-US" sz="1300" dirty="0"/>
          </a:p>
          <a:p>
            <a:pPr indent="0" marL="0">
              <a:spcAft>
                <a:spcPts val="800"/>
              </a:spcAft>
              <a:buNone/>
            </a:pPr>
            <a:r>
              <a:rPr lang="en-US" sz="1300" dirty="0">
                <a:solidFill>
                  <a:schemeClr val="tx1"/>
                </a:solidFill>
                <a:latin typeface="Calibri" pitchFamily="34" charset="0"/>
              </a:rPr>
              <a:t>[10]  Jain S., Wallace B.C., “Attention is not explanation,” NAACL-HLT, 2019; Wiegreffe S., Pinter Y., “Attention is not not explanation,” EMNLP-IJCNLP, 2019.</a:t>
            </a:r>
            <a:endParaRPr lang="en-US" sz="1300" dirty="0"/>
          </a:p>
          <a:p>
            <a:pPr indent="0" marL="0">
              <a:spcAft>
                <a:spcPts val="800"/>
              </a:spcAft>
              <a:buNone/>
            </a:pPr>
            <a:r>
              <a:rPr lang="en-US" sz="1300" dirty="0">
                <a:solidFill>
                  <a:schemeClr val="tx1"/>
                </a:solidFill>
                <a:latin typeface="Calibri" pitchFamily="34" charset="0"/>
              </a:rPr>
              <a:t>[11]  Adebayo J. et al., “Sanity checks for saliency maps,” NeurIPS, 2018.</a:t>
            </a:r>
            <a:endParaRPr lang="en-US" sz="1300" dirty="0"/>
          </a:p>
          <a:p>
            <a:pPr indent="0" marL="0">
              <a:spcAft>
                <a:spcPts val="800"/>
              </a:spcAft>
              <a:buNone/>
            </a:pPr>
            <a:r>
              <a:rPr lang="en-US" sz="1300" dirty="0">
                <a:solidFill>
                  <a:schemeClr val="tx1"/>
                </a:solidFill>
                <a:latin typeface="Calibri" pitchFamily="34" charset="0"/>
              </a:rPr>
              <a:t>[12]  Zhou Z. et al., “An interpretable cross-attentive multi-modal MRI fusion framework for schizophrenia diagnosis,” arXiv:2404.00144, 2024.</a:t>
            </a:r>
            <a:endParaRPr lang="en-US" sz="1300" dirty="0"/>
          </a:p>
          <a:p>
            <a:pPr indent="0" marL="0">
              <a:spcAft>
                <a:spcPts val="800"/>
              </a:spcAft>
              <a:buNone/>
            </a:pPr>
            <a:r>
              <a:rPr lang="en-US" sz="1300" dirty="0">
                <a:solidFill>
                  <a:schemeClr val="tx1"/>
                </a:solidFill>
                <a:latin typeface="Calibri" pitchFamily="34" charset="0"/>
              </a:rPr>
              <a:t>[13]  Dhar J. et al., “Multimodal fusion learning with dual attention for medical imaging,” WACV, 2025, arXiv:2412.01248.</a:t>
            </a:r>
            <a:endParaRPr lang="en-US" sz="1300" dirty="0"/>
          </a:p>
          <a:p>
            <a:pPr indent="0" marL="0">
              <a:spcAft>
                <a:spcPts val="800"/>
              </a:spcAft>
              <a:buNone/>
            </a:pPr>
            <a:r>
              <a:rPr lang="en-US" sz="1300" dirty="0">
                <a:solidFill>
                  <a:schemeClr val="tx1"/>
                </a:solidFill>
                <a:latin typeface="Calibri" pitchFamily="34" charset="0"/>
              </a:rPr>
              <a:t>[14]  Hu J., Shen L., Sun G., “Squeeze-and-excitation networks,” CVPR, 2018.</a:t>
            </a:r>
            <a:endParaRPr lang="en-US" sz="1300" dirty="0"/>
          </a:p>
          <a:p>
            <a:pPr indent="0" marL="0">
              <a:spcAft>
                <a:spcPts val="800"/>
              </a:spcAft>
              <a:buNone/>
            </a:pPr>
            <a:r>
              <a:rPr lang="en-US" sz="1300" dirty="0">
                <a:solidFill>
                  <a:schemeClr val="tx1"/>
                </a:solidFill>
                <a:latin typeface="Calibri" pitchFamily="34" charset="0"/>
              </a:rPr>
              <a:t>[15]  Liuzzi L. et al., “Mood induction in MDD and healthy adolescents,” OpenNeuro ds003568, v1.0.1.</a:t>
            </a:r>
            <a:endParaRPr lang="en-US" sz="1300" dirty="0"/>
          </a:p>
          <a:p>
            <a:pPr indent="0" marL="0">
              <a:spcAft>
                <a:spcPts val="800"/>
              </a:spcAft>
              <a:buNone/>
            </a:pPr>
            <a:r>
              <a:rPr lang="en-US" sz="1300" dirty="0">
                <a:solidFill>
                  <a:schemeClr val="tx1"/>
                </a:solidFill>
                <a:latin typeface="Calibri" pitchFamily="34" charset="0"/>
              </a:rPr>
              <a:t>[16]  Li L. et al., “Structural MRI, resting-state fMRI, and PSG/EEG dataset of zoster-associated neuralgia,” OpenNeuro ds007181, v1.0.1.</a:t>
            </a:r>
            <a:endParaRPr lang="en-US" sz="13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is new in this project</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
        <p:nvSpPr>
          <p:cNvPr id="26" name="contribution 1"/>
          <p:cNvSpPr/>
          <p:nvPr/>
        </p:nvSpPr>
        <p:spPr>
          <a:xfrm>
            <a:off x="548640" y="1325880"/>
            <a:ext cx="5410048" cy="201168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Architecture badge"/>
          <p:cNvSpPr/>
          <p:nvPr/>
        </p:nvSpPr>
        <p:spPr>
          <a:xfrm>
            <a:off x="822960" y="1554480"/>
            <a:ext cx="548640" cy="548640"/>
          </a:xfrm>
          <a:prstGeom prst="ellipse">
            <a:avLst/>
          </a:prstGeom>
          <a:solidFill>
            <a:schemeClr val="accent1"/>
          </a:solidFill>
          <a:ln>
            <a:noFill/>
          </a:ln>
        </p:spPr>
      </p:sp>
      <p:pic>
        <p:nvPicPr>
          <p:cNvPr id="28" name="Architecture icon" descr="Architecture icon"/>
          <p:cNvPicPr>
            <a:picLocks noChangeAspect="1"/>
          </p:cNvPicPr>
          <p:nvPr/>
        </p:nvPicPr>
        <p:blipFill>
          <a:blip r:embed="rId2"/>
          <a:stretch>
            <a:fillRect/>
          </a:stretch>
        </p:blipFill>
        <p:spPr>
          <a:xfrm>
            <a:off x="960120" y="1691640"/>
            <a:ext cx="274320" cy="274320"/>
          </a:xfrm>
          <a:prstGeom prst="rect">
            <a:avLst/>
          </a:prstGeom>
        </p:spPr>
      </p:pic>
      <p:sp>
        <p:nvSpPr>
          <p:cNvPr id="29" name="contribution 1 title"/>
          <p:cNvSpPr txBox="1"/>
          <p:nvPr/>
        </p:nvSpPr>
        <p:spPr>
          <a:xfrm>
            <a:off x="1554480" y="155448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1  Architecture</a:t>
            </a:r>
            <a:endParaRPr lang="en-US" sz="2000" dirty="0"/>
          </a:p>
        </p:txBody>
      </p:sp>
      <p:sp>
        <p:nvSpPr>
          <p:cNvPr id="30" name="contribution 1 text"/>
          <p:cNvSpPr txBox="1"/>
          <p:nvPr/>
        </p:nvSpPr>
        <p:spPr>
          <a:xfrm>
            <a:off x="822960" y="2194560"/>
            <a:ext cx="4861408" cy="105156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Gated bidirectional cross-attention couples an SE 3D residual encoder and a multi-scale 1D encoder, with learned attention pooling, positional embeddings and two auxiliary heads. Deterministic pooling makes GPU training reproducible.</a:t>
            </a:r>
            <a:endParaRPr lang="en-US" sz="1400" dirty="0"/>
          </a:p>
        </p:txBody>
      </p:sp>
      <p:sp>
        <p:nvSpPr>
          <p:cNvPr id="31" name="contribution 2"/>
          <p:cNvSpPr/>
          <p:nvPr/>
        </p:nvSpPr>
        <p:spPr>
          <a:xfrm>
            <a:off x="6233008" y="1325880"/>
            <a:ext cx="5410048" cy="201168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32" name="When fusion helps badge"/>
          <p:cNvSpPr/>
          <p:nvPr/>
        </p:nvSpPr>
        <p:spPr>
          <a:xfrm>
            <a:off x="6507328" y="1554480"/>
            <a:ext cx="548640" cy="548640"/>
          </a:xfrm>
          <a:prstGeom prst="ellipse">
            <a:avLst/>
          </a:prstGeom>
          <a:solidFill>
            <a:schemeClr val="accent3"/>
          </a:solidFill>
          <a:ln>
            <a:noFill/>
          </a:ln>
        </p:spPr>
      </p:sp>
      <p:pic>
        <p:nvPicPr>
          <p:cNvPr id="33" name="When fusion helps icon" descr="When fusion helps icon"/>
          <p:cNvPicPr>
            <a:picLocks noChangeAspect="1"/>
          </p:cNvPicPr>
          <p:nvPr/>
        </p:nvPicPr>
        <p:blipFill>
          <a:blip r:embed="rId3"/>
          <a:stretch>
            <a:fillRect/>
          </a:stretch>
        </p:blipFill>
        <p:spPr>
          <a:xfrm>
            <a:off x="6644488" y="1691640"/>
            <a:ext cx="274320" cy="274320"/>
          </a:xfrm>
          <a:prstGeom prst="rect">
            <a:avLst/>
          </a:prstGeom>
        </p:spPr>
      </p:pic>
      <p:sp>
        <p:nvSpPr>
          <p:cNvPr id="34" name="contribution 2 title"/>
          <p:cNvSpPr txBox="1"/>
          <p:nvPr/>
        </p:nvSpPr>
        <p:spPr>
          <a:xfrm>
            <a:off x="7238848" y="155448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2  When fusion helps</a:t>
            </a:r>
            <a:endParaRPr lang="en-US" sz="2000" dirty="0"/>
          </a:p>
        </p:txBody>
      </p:sp>
      <p:sp>
        <p:nvSpPr>
          <p:cNvPr id="35" name="contribution 2 text"/>
          <p:cNvSpPr txBox="1"/>
          <p:nvPr/>
        </p:nvSpPr>
        <p:spPr>
          <a:xfrm>
            <a:off x="6507328" y="2194560"/>
            <a:ext cx="4861408" cy="105156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A synthetic generator with independent knobs for the information in each modality: like-for-like comparison with concatenation, sum and unimodal models, a component ablation and an informativeness sweep, over several seeds.</a:t>
            </a:r>
            <a:endParaRPr lang="en-US" sz="1400" dirty="0"/>
          </a:p>
        </p:txBody>
      </p:sp>
      <p:sp>
        <p:nvSpPr>
          <p:cNvPr id="36" name="contribution 3"/>
          <p:cNvSpPr/>
          <p:nvPr/>
        </p:nvSpPr>
        <p:spPr>
          <a:xfrm>
            <a:off x="548640" y="3520440"/>
            <a:ext cx="5410048" cy="201168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Reproducible real data badge"/>
          <p:cNvSpPr/>
          <p:nvPr/>
        </p:nvSpPr>
        <p:spPr>
          <a:xfrm>
            <a:off x="822960" y="3749040"/>
            <a:ext cx="548640" cy="548640"/>
          </a:xfrm>
          <a:prstGeom prst="ellipse">
            <a:avLst/>
          </a:prstGeom>
          <a:solidFill>
            <a:schemeClr val="accent4"/>
          </a:solidFill>
          <a:ln>
            <a:noFill/>
          </a:ln>
        </p:spPr>
      </p:sp>
      <p:pic>
        <p:nvPicPr>
          <p:cNvPr id="38" name="Reproducible real data icon" descr="Reproducible real data icon"/>
          <p:cNvPicPr>
            <a:picLocks noChangeAspect="1"/>
          </p:cNvPicPr>
          <p:nvPr/>
        </p:nvPicPr>
        <p:blipFill>
          <a:blip r:embed="rId4"/>
          <a:stretch>
            <a:fillRect/>
          </a:stretch>
        </p:blipFill>
        <p:spPr>
          <a:xfrm>
            <a:off x="960120" y="3886200"/>
            <a:ext cx="274320" cy="274320"/>
          </a:xfrm>
          <a:prstGeom prst="rect">
            <a:avLst/>
          </a:prstGeom>
        </p:spPr>
      </p:pic>
      <p:sp>
        <p:nvSpPr>
          <p:cNvPr id="39" name="contribution 3 title"/>
          <p:cNvSpPr txBox="1"/>
          <p:nvPr/>
        </p:nvSpPr>
        <p:spPr>
          <a:xfrm>
            <a:off x="1554480" y="374904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3  Reproducible real data</a:t>
            </a:r>
            <a:endParaRPr lang="en-US" sz="2000" dirty="0"/>
          </a:p>
        </p:txBody>
      </p:sp>
      <p:sp>
        <p:nvSpPr>
          <p:cNvPr id="40" name="contribution 3 text"/>
          <p:cNvSpPr txBox="1"/>
          <p:nvPr/>
        </p:nvSpPr>
        <p:spPr>
          <a:xfrm>
            <a:off x="822960" y="4389120"/>
            <a:ext cx="4861408" cy="105156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One command downloads two public OpenNeuro cohorts, preprocesses, trains and tests: pooled and leave-one-cohort-out models, repeated CV, bootstrap intervals, permutation tests, classical baselines, one fixed seed.</a:t>
            </a:r>
            <a:endParaRPr lang="en-US" sz="1400" dirty="0"/>
          </a:p>
        </p:txBody>
      </p:sp>
      <p:sp>
        <p:nvSpPr>
          <p:cNvPr id="41" name="contribution 4"/>
          <p:cNvSpPr/>
          <p:nvPr/>
        </p:nvSpPr>
        <p:spPr>
          <a:xfrm>
            <a:off x="6233008" y="3520440"/>
            <a:ext cx="5410048" cy="201168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42" name="Candid findings badge"/>
          <p:cNvSpPr/>
          <p:nvPr/>
        </p:nvSpPr>
        <p:spPr>
          <a:xfrm>
            <a:off x="6507328" y="3749040"/>
            <a:ext cx="548640" cy="548640"/>
          </a:xfrm>
          <a:prstGeom prst="ellipse">
            <a:avLst/>
          </a:prstGeom>
          <a:solidFill>
            <a:schemeClr val="accent2"/>
          </a:solidFill>
          <a:ln>
            <a:noFill/>
          </a:ln>
        </p:spPr>
      </p:sp>
      <p:pic>
        <p:nvPicPr>
          <p:cNvPr id="43" name="Candid findings icon" descr="Candid findings icon"/>
          <p:cNvPicPr>
            <a:picLocks noChangeAspect="1"/>
          </p:cNvPicPr>
          <p:nvPr/>
        </p:nvPicPr>
        <p:blipFill>
          <a:blip r:embed="rId5"/>
          <a:stretch>
            <a:fillRect/>
          </a:stretch>
        </p:blipFill>
        <p:spPr>
          <a:xfrm>
            <a:off x="6644488" y="3886200"/>
            <a:ext cx="274320" cy="274320"/>
          </a:xfrm>
          <a:prstGeom prst="rect">
            <a:avLst/>
          </a:prstGeom>
        </p:spPr>
      </p:pic>
      <p:sp>
        <p:nvSpPr>
          <p:cNvPr id="44" name="contribution 4 title"/>
          <p:cNvSpPr txBox="1"/>
          <p:nvPr/>
        </p:nvSpPr>
        <p:spPr>
          <a:xfrm>
            <a:off x="7238848" y="374904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4  Candid findings</a:t>
            </a:r>
            <a:endParaRPr lang="en-US" sz="2000" dirty="0"/>
          </a:p>
        </p:txBody>
      </p:sp>
      <p:sp>
        <p:nvSpPr>
          <p:cNvPr id="45" name="contribution 4 text"/>
          <p:cNvSpPr txBox="1"/>
          <p:nvPr/>
        </p:nvSpPr>
        <p:spPr>
          <a:xfrm>
            <a:off x="6507328" y="4389120"/>
            <a:ext cx="4861408" cy="105156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We report where the design helps and where it does not. On the real cohorts the signal is at most weak and does not transfer between cohorts, and we list the pitfalls we found along the way.</a:t>
            </a:r>
            <a:endParaRPr lang="en-US" sz="1400" dirty="0"/>
          </a:p>
        </p:txBody>
      </p:sp>
      <p:sp>
        <p:nvSpPr>
          <p:cNvPr id="46" name="not claimed banner"/>
          <p:cNvSpPr/>
          <p:nvPr/>
        </p:nvSpPr>
        <p:spPr>
          <a:xfrm>
            <a:off x="548640" y="5669280"/>
            <a:ext cx="11094415" cy="548640"/>
          </a:xfrm>
          <a:prstGeom prst="roundRect">
            <a:avLst>
              <a:gd name="adj" fmla="val 18000"/>
            </a:avLst>
          </a:prstGeom>
          <a:solidFill>
            <a:schemeClr val="tx2"/>
          </a:solidFill>
          <a:ln>
            <a:noFill/>
          </a:ln>
          <a:effectLst>
            <a:outerShdw sx="100000" sy="100000" kx="0" ky="0" algn="bl" rotWithShape="0" blurRad="101600" dist="25400" dir="5400000">
              <a:srgbClr val="12232B">
                <a:alpha val="12000"/>
              </a:srgbClr>
            </a:outerShdw>
          </a:effectLst>
        </p:spPr>
      </p:sp>
      <p:sp>
        <p:nvSpPr>
          <p:cNvPr id="47" name="not claimed banner text"/>
          <p:cNvSpPr txBox="1"/>
          <p:nvPr/>
        </p:nvSpPr>
        <p:spPr>
          <a:xfrm>
            <a:off x="822960" y="5715000"/>
            <a:ext cx="10545775" cy="45720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Not claimed: </a:t>
            </a:r>
            <a:r>
              <a:rPr lang="en-US" sz="1600" dirty="0">
                <a:solidFill>
                  <a:schemeClr val="bg1"/>
                </a:solidFill>
                <a:latin typeface="Cambria" pitchFamily="34" charset="0"/>
              </a:rPr>
              <a:t>clinical accuracy, glaucoma or optic-neuritis diagnosis, cross-cohort generalisation, state of the art.</a:t>
            </a:r>
            <a:endParaRPr lang="en-US" sz="16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Baselines from the literature</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
        <p:nvSpPr>
          <p:cNvPr id="26" name="baseline Concatenation"/>
          <p:cNvSpPr/>
          <p:nvPr/>
        </p:nvSpPr>
        <p:spPr>
          <a:xfrm>
            <a:off x="548640" y="1325880"/>
            <a:ext cx="210915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baseline Concatenation title"/>
          <p:cNvSpPr txBox="1"/>
          <p:nvPr/>
        </p:nvSpPr>
        <p:spPr>
          <a:xfrm>
            <a:off x="685800" y="1444752"/>
            <a:ext cx="1834835" cy="320040"/>
          </a:xfrm>
          <a:prstGeom prst="rect">
            <a:avLst/>
          </a:prstGeom>
          <a:noFill/>
          <a:ln>
            <a:noFill/>
          </a:ln>
        </p:spPr>
        <p:txBody>
          <a:bodyPr wrap="square" lIns="0" tIns="0" rIns="0" bIns="0" rtlCol="0" anchor="ctr"/>
          <a:lstStyle/>
          <a:p>
            <a:pPr indent="0" marL="0">
              <a:buNone/>
            </a:pPr>
            <a:r>
              <a:rPr lang="en-US" sz="1600" b="1" dirty="0">
                <a:solidFill>
                  <a:schemeClr val="tx2"/>
                </a:solidFill>
                <a:latin typeface="Cambria" pitchFamily="34" charset="0"/>
              </a:rPr>
              <a:t>Concatenation</a:t>
            </a:r>
            <a:endParaRPr lang="en-US" sz="1600" dirty="0"/>
          </a:p>
        </p:txBody>
      </p:sp>
      <p:sp>
        <p:nvSpPr>
          <p:cNvPr id="28" name="baseline Concatenation text"/>
          <p:cNvSpPr txBox="1"/>
          <p:nvPr/>
        </p:nvSpPr>
        <p:spPr>
          <a:xfrm>
            <a:off x="685800" y="1828800"/>
            <a:ext cx="1834835" cy="731520"/>
          </a:xfrm>
          <a:prstGeom prst="rect">
            <a:avLst/>
          </a:prstGeom>
          <a:noFill/>
          <a:ln>
            <a:noFill/>
          </a:ln>
        </p:spPr>
        <p:txBody>
          <a:bodyPr wrap="square" lIns="0" tIns="0" rIns="0" bIns="0" rtlCol="0" anchor="t"/>
          <a:lstStyle/>
          <a:p>
            <a:pPr indent="0" marL="0">
              <a:buNone/>
            </a:pPr>
            <a:r>
              <a:rPr lang="en-US" sz="1200" dirty="0">
                <a:solidFill>
                  <a:schemeClr val="tx2"/>
                </a:solidFill>
                <a:latin typeface="Calibri" pitchFamily="34" charset="0"/>
              </a:rPr>
              <a:t>Mean-pooled streams concatenated and projected</a:t>
            </a:r>
            <a:endParaRPr lang="en-US" sz="1200" dirty="0"/>
          </a:p>
        </p:txBody>
      </p:sp>
      <p:sp>
        <p:nvSpPr>
          <p:cNvPr id="29" name="baseline Element-wise sum"/>
          <p:cNvSpPr/>
          <p:nvPr/>
        </p:nvSpPr>
        <p:spPr>
          <a:xfrm>
            <a:off x="2794955" y="1325880"/>
            <a:ext cx="210915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0" name="baseline Element-wise sum title"/>
          <p:cNvSpPr txBox="1"/>
          <p:nvPr/>
        </p:nvSpPr>
        <p:spPr>
          <a:xfrm>
            <a:off x="2932115" y="1444752"/>
            <a:ext cx="1834835" cy="320040"/>
          </a:xfrm>
          <a:prstGeom prst="rect">
            <a:avLst/>
          </a:prstGeom>
          <a:noFill/>
          <a:ln>
            <a:noFill/>
          </a:ln>
        </p:spPr>
        <p:txBody>
          <a:bodyPr wrap="square" lIns="0" tIns="0" rIns="0" bIns="0" rtlCol="0" anchor="ctr"/>
          <a:lstStyle/>
          <a:p>
            <a:pPr indent="0" marL="0">
              <a:buNone/>
            </a:pPr>
            <a:r>
              <a:rPr lang="en-US" sz="1600" b="1" dirty="0">
                <a:solidFill>
                  <a:schemeClr val="tx2"/>
                </a:solidFill>
                <a:latin typeface="Cambria" pitchFamily="34" charset="0"/>
              </a:rPr>
              <a:t>Element-wise sum</a:t>
            </a:r>
            <a:endParaRPr lang="en-US" sz="1600" dirty="0"/>
          </a:p>
        </p:txBody>
      </p:sp>
      <p:sp>
        <p:nvSpPr>
          <p:cNvPr id="31" name="baseline Element-wise sum text"/>
          <p:cNvSpPr txBox="1"/>
          <p:nvPr/>
        </p:nvSpPr>
        <p:spPr>
          <a:xfrm>
            <a:off x="2932115" y="1828800"/>
            <a:ext cx="1834835" cy="731520"/>
          </a:xfrm>
          <a:prstGeom prst="rect">
            <a:avLst/>
          </a:prstGeom>
          <a:noFill/>
          <a:ln>
            <a:noFill/>
          </a:ln>
        </p:spPr>
        <p:txBody>
          <a:bodyPr wrap="square" lIns="0" tIns="0" rIns="0" bIns="0" rtlCol="0" anchor="t"/>
          <a:lstStyle/>
          <a:p>
            <a:pPr indent="0" marL="0">
              <a:buNone/>
            </a:pPr>
            <a:r>
              <a:rPr lang="en-US" sz="1200" dirty="0">
                <a:solidFill>
                  <a:schemeClr val="tx2"/>
                </a:solidFill>
                <a:latin typeface="Calibri" pitchFamily="34" charset="0"/>
              </a:rPr>
              <a:t>Pooled stream features added element-wise</a:t>
            </a:r>
            <a:endParaRPr lang="en-US" sz="1200" dirty="0"/>
          </a:p>
        </p:txBody>
      </p:sp>
      <p:sp>
        <p:nvSpPr>
          <p:cNvPr id="32" name="baseline Unimodal"/>
          <p:cNvSpPr/>
          <p:nvPr/>
        </p:nvSpPr>
        <p:spPr>
          <a:xfrm>
            <a:off x="5041270" y="1325880"/>
            <a:ext cx="210915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3" name="baseline Unimodal title"/>
          <p:cNvSpPr txBox="1"/>
          <p:nvPr/>
        </p:nvSpPr>
        <p:spPr>
          <a:xfrm>
            <a:off x="5178430" y="1444752"/>
            <a:ext cx="1834835" cy="320040"/>
          </a:xfrm>
          <a:prstGeom prst="rect">
            <a:avLst/>
          </a:prstGeom>
          <a:noFill/>
          <a:ln>
            <a:noFill/>
          </a:ln>
        </p:spPr>
        <p:txBody>
          <a:bodyPr wrap="square" lIns="0" tIns="0" rIns="0" bIns="0" rtlCol="0" anchor="ctr"/>
          <a:lstStyle/>
          <a:p>
            <a:pPr indent="0" marL="0">
              <a:buNone/>
            </a:pPr>
            <a:r>
              <a:rPr lang="en-US" sz="1600" b="1" dirty="0">
                <a:solidFill>
                  <a:schemeClr val="tx2"/>
                </a:solidFill>
                <a:latin typeface="Cambria" pitchFamily="34" charset="0"/>
              </a:rPr>
              <a:t>Unimodal</a:t>
            </a:r>
            <a:endParaRPr lang="en-US" sz="1600" dirty="0"/>
          </a:p>
        </p:txBody>
      </p:sp>
      <p:sp>
        <p:nvSpPr>
          <p:cNvPr id="34" name="baseline Unimodal text"/>
          <p:cNvSpPr txBox="1"/>
          <p:nvPr/>
        </p:nvSpPr>
        <p:spPr>
          <a:xfrm>
            <a:off x="5178430" y="1828800"/>
            <a:ext cx="1834835" cy="731520"/>
          </a:xfrm>
          <a:prstGeom prst="rect">
            <a:avLst/>
          </a:prstGeom>
          <a:noFill/>
          <a:ln>
            <a:noFill/>
          </a:ln>
        </p:spPr>
        <p:txBody>
          <a:bodyPr wrap="square" lIns="0" tIns="0" rIns="0" bIns="0" rtlCol="0" anchor="t"/>
          <a:lstStyle/>
          <a:p>
            <a:pPr indent="0" marL="0">
              <a:buNone/>
            </a:pPr>
            <a:r>
              <a:rPr lang="en-US" sz="1200" dirty="0">
                <a:solidFill>
                  <a:schemeClr val="tx2"/>
                </a:solidFill>
                <a:latin typeface="Calibri" pitchFamily="34" charset="0"/>
              </a:rPr>
              <a:t>MRI only, and VEP / spectrum only</a:t>
            </a:r>
            <a:endParaRPr lang="en-US" sz="1200" dirty="0"/>
          </a:p>
        </p:txBody>
      </p:sp>
      <p:sp>
        <p:nvSpPr>
          <p:cNvPr id="35" name="baseline One-way (v1)"/>
          <p:cNvSpPr/>
          <p:nvPr/>
        </p:nvSpPr>
        <p:spPr>
          <a:xfrm>
            <a:off x="7287585" y="1325880"/>
            <a:ext cx="210915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6" name="baseline One-way (v1) title"/>
          <p:cNvSpPr txBox="1"/>
          <p:nvPr/>
        </p:nvSpPr>
        <p:spPr>
          <a:xfrm>
            <a:off x="7424745" y="1444752"/>
            <a:ext cx="1834835" cy="320040"/>
          </a:xfrm>
          <a:prstGeom prst="rect">
            <a:avLst/>
          </a:prstGeom>
          <a:noFill/>
          <a:ln>
            <a:noFill/>
          </a:ln>
        </p:spPr>
        <p:txBody>
          <a:bodyPr wrap="square" lIns="0" tIns="0" rIns="0" bIns="0" rtlCol="0" anchor="ctr"/>
          <a:lstStyle/>
          <a:p>
            <a:pPr indent="0" marL="0">
              <a:buNone/>
            </a:pPr>
            <a:r>
              <a:rPr lang="en-US" sz="1600" b="1" dirty="0">
                <a:solidFill>
                  <a:schemeClr val="accent3"/>
                </a:solidFill>
                <a:latin typeface="Cambria" pitchFamily="34" charset="0"/>
              </a:rPr>
              <a:t>One-way (v1)</a:t>
            </a:r>
            <a:endParaRPr lang="en-US" sz="1600" dirty="0"/>
          </a:p>
        </p:txBody>
      </p:sp>
      <p:sp>
        <p:nvSpPr>
          <p:cNvPr id="37" name="baseline One-way (v1) text"/>
          <p:cNvSpPr txBox="1"/>
          <p:nvPr/>
        </p:nvSpPr>
        <p:spPr>
          <a:xfrm>
            <a:off x="7424745" y="1828800"/>
            <a:ext cx="1834835" cy="731520"/>
          </a:xfrm>
          <a:prstGeom prst="rect">
            <a:avLst/>
          </a:prstGeom>
          <a:noFill/>
          <a:ln>
            <a:noFill/>
          </a:ln>
        </p:spPr>
        <p:txBody>
          <a:bodyPr wrap="square" lIns="0" tIns="0" rIns="0" bIns="0" rtlCol="0" anchor="t"/>
          <a:lstStyle/>
          <a:p>
            <a:pPr indent="0" marL="0">
              <a:buNone/>
            </a:pPr>
            <a:r>
              <a:rPr lang="en-US" sz="1200" dirty="0">
                <a:solidFill>
                  <a:schemeClr val="tx2"/>
                </a:solidFill>
                <a:latin typeface="Calibri" pitchFamily="34" charset="0"/>
              </a:rPr>
              <a:t>Spatial tokens query temporal tokens; mean pooling, no positional encoding or SE</a:t>
            </a:r>
            <a:endParaRPr lang="en-US" sz="1200" dirty="0"/>
          </a:p>
        </p:txBody>
      </p:sp>
      <p:sp>
        <p:nvSpPr>
          <p:cNvPr id="38" name="baseline CAFN (ours)"/>
          <p:cNvSpPr/>
          <p:nvPr/>
        </p:nvSpPr>
        <p:spPr>
          <a:xfrm>
            <a:off x="9533900" y="1325880"/>
            <a:ext cx="2109155" cy="1371600"/>
          </a:xfrm>
          <a:prstGeom prst="roundRect">
            <a:avLst>
              <a:gd name="adj" fmla="val 6000"/>
            </a:avLst>
          </a:prstGeom>
          <a:solidFill>
            <a:schemeClr val="accent1"/>
          </a:solidFill>
          <a:ln>
            <a:noFill/>
          </a:ln>
          <a:effectLst>
            <a:outerShdw sx="100000" sy="100000" kx="0" ky="0" algn="bl" rotWithShape="0" blurRad="101600" dist="25400" dir="5400000">
              <a:srgbClr val="12232B">
                <a:alpha val="12000"/>
              </a:srgbClr>
            </a:outerShdw>
          </a:effectLst>
        </p:spPr>
      </p:sp>
      <p:sp>
        <p:nvSpPr>
          <p:cNvPr id="39" name="baseline CAFN (ours) title"/>
          <p:cNvSpPr txBox="1"/>
          <p:nvPr/>
        </p:nvSpPr>
        <p:spPr>
          <a:xfrm>
            <a:off x="9671060" y="1444752"/>
            <a:ext cx="1834835" cy="320040"/>
          </a:xfrm>
          <a:prstGeom prst="rect">
            <a:avLst/>
          </a:prstGeom>
          <a:noFill/>
          <a:ln>
            <a:noFill/>
          </a:ln>
        </p:spPr>
        <p:txBody>
          <a:bodyPr wrap="square" lIns="0" tIns="0" rIns="0" bIns="0" rtlCol="0" anchor="ctr"/>
          <a:lstStyle/>
          <a:p>
            <a:pPr indent="0" marL="0">
              <a:buNone/>
            </a:pPr>
            <a:r>
              <a:rPr lang="en-US" sz="1600" b="1" dirty="0">
                <a:solidFill>
                  <a:schemeClr val="bg1"/>
                </a:solidFill>
                <a:latin typeface="Cambria" pitchFamily="34" charset="0"/>
              </a:rPr>
              <a:t>CAFN (ours)</a:t>
            </a:r>
            <a:endParaRPr lang="en-US" sz="1600" dirty="0"/>
          </a:p>
        </p:txBody>
      </p:sp>
      <p:sp>
        <p:nvSpPr>
          <p:cNvPr id="40" name="baseline CAFN (ours) text"/>
          <p:cNvSpPr txBox="1"/>
          <p:nvPr/>
        </p:nvSpPr>
        <p:spPr>
          <a:xfrm>
            <a:off x="9671060" y="1828800"/>
            <a:ext cx="1834835" cy="731520"/>
          </a:xfrm>
          <a:prstGeom prst="rect">
            <a:avLst/>
          </a:prstGeom>
          <a:noFill/>
          <a:ln>
            <a:noFill/>
          </a:ln>
        </p:spPr>
        <p:txBody>
          <a:bodyPr wrap="square" lIns="0" tIns="0" rIns="0" bIns="0" rtlCol="0" anchor="t"/>
          <a:lstStyle/>
          <a:p>
            <a:pPr indent="0" marL="0">
              <a:buNone/>
            </a:pPr>
            <a:r>
              <a:rPr lang="en-US" sz="1200" dirty="0">
                <a:solidFill>
                  <a:schemeClr val="bg1"/>
                </a:solidFill>
                <a:latin typeface="Calibri" pitchFamily="34" charset="0"/>
              </a:rPr>
              <a:t>Gated bidirectional cross-attention, attention pooling, positional embeddings, SE</a:t>
            </a:r>
            <a:endParaRPr lang="en-US" sz="1200" dirty="0"/>
          </a:p>
        </p:txBody>
      </p:sp>
      <p:sp>
        <p:nvSpPr>
          <p:cNvPr id="41" name="literature table card"/>
          <p:cNvSpPr/>
          <p:nvPr/>
        </p:nvSpPr>
        <p:spPr>
          <a:xfrm>
            <a:off x="548640" y="2834640"/>
            <a:ext cx="11094415" cy="2926080"/>
          </a:xfrm>
          <a:prstGeom prst="roundRect">
            <a:avLst>
              <a:gd name="adj" fmla="val 2500"/>
            </a:avLst>
          </a:prstGeom>
          <a:solidFill>
            <a:schemeClr val="bg1"/>
          </a:solidFill>
          <a:ln>
            <a:noFill/>
          </a:ln>
          <a:effectLst>
            <a:outerShdw sx="100000" sy="100000" kx="0" ky="0" algn="bl" rotWithShape="0" blurRad="101600" dist="25400" dir="5400000">
              <a:srgbClr val="12232B">
                <a:alpha val="12000"/>
              </a:srgbClr>
            </a:outerShdw>
          </a:effectLst>
        </p:spPr>
      </p:sp>
      <p:graphicFrame>
        <p:nvGraphicFramePr>
          <p:cNvPr id="42" name="literature table"/>
          <p:cNvGraphicFramePr>
            <a:graphicFrameLocks noGrp="1"/>
          </p:cNvGraphicFramePr>
          <p:nvPr/>
        </p:nvGraphicFramePr>
        <p:xfrm>
          <a:off x="640080" y="2880360"/>
          <a:ext cx="10911535" cy="2514600"/>
        </p:xfrm>
        <a:graphic>
          <a:graphicData uri="http://schemas.openxmlformats.org/drawingml/2006/table">
            <a:tbl>
              <a:tblPr/>
              <a:tblGrid>
                <a:gridCol w="1463040"/>
                <a:gridCol w="1920240"/>
                <a:gridCol w="2926080"/>
                <a:gridCol w="1554480"/>
                <a:gridCol w="3047695"/>
              </a:tblGrid>
              <a:tr h="320040">
                <a:tc>
                  <a:txBody>
                    <a:bodyPr/>
                    <a:lstStyle/>
                    <a:p>
                      <a:pPr algn="l" indent="0" marL="0">
                        <a:buNone/>
                      </a:pPr>
                      <a:r>
                        <a:rPr lang="en-US" sz="1200" b="1" dirty="0">
                          <a:solidFill>
                            <a:schemeClr val="bg1"/>
                          </a:solidFill>
                          <a:latin typeface="Calibri" pitchFamily="34" charset="0"/>
                        </a:rPr>
                        <a:t>Study</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rPr>
                        <a:t>Modalities</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rPr>
                        <a:t>Data (size)</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rPr>
                        <a:t>Task</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200" b="1" dirty="0">
                          <a:solidFill>
                            <a:schemeClr val="bg1"/>
                          </a:solidFill>
                          <a:latin typeface="Calibri" pitchFamily="34" charset="0"/>
                        </a:rPr>
                        <a:t>Reported result (authors' data)</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777240">
                <a:tc>
                  <a:txBody>
                    <a:bodyPr/>
                    <a:lstStyle/>
                    <a:p>
                      <a:pPr algn="l" indent="0" marL="0">
                        <a:buNone/>
                      </a:pPr>
                      <a:r>
                        <a:rPr lang="en-US" sz="1100" b="1" dirty="0">
                          <a:solidFill>
                            <a:schemeClr val="tx1"/>
                          </a:solidFill>
                          <a:latin typeface="Calibri" pitchFamily="34" charset="0"/>
                        </a:rPr>
                        <a:t>CAMF, Zhou et al. 2024</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100" dirty="0">
                          <a:solidFill>
                            <a:schemeClr val="tx1"/>
                          </a:solidFill>
                          <a:latin typeface="Calibri" pitchFamily="34" charset="0"/>
                        </a:rPr>
                        <a:t>sMRI + fMRI (both 3D imaging)</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100" dirty="0">
                          <a:solidFill>
                            <a:schemeClr val="tx1"/>
                          </a:solidFill>
                          <a:latin typeface="Calibri" pitchFamily="34" charset="0"/>
                        </a:rPr>
                        <a:t>COBRE + FBIRN + MPRC (620 subjects); BSNIP (442) as independent test</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100" dirty="0">
                          <a:solidFill>
                            <a:schemeClr val="tx1"/>
                          </a:solidFill>
                          <a:latin typeface="Calibri" pitchFamily="34" charset="0"/>
                        </a:rPr>
                        <a:t>Schizophrenia vs control</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100" dirty="0">
                          <a:solidFill>
                            <a:schemeClr val="tx1"/>
                          </a:solidFill>
                          <a:latin typeface="Calibri" pitchFamily="34" charset="0"/>
                        </a:rPr>
                        <a:t>Acc. 74.4%, F1 0.705, MCC 0.491 (BSNIP: 67.9%, 0.684, 0.361); cross-attention &gt; concatenation, sum, single modality</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algn="l" indent="0" marL="0">
                        <a:buNone/>
                      </a:pPr>
                      <a:r>
                        <a:rPr lang="en-US" sz="1100" b="1" dirty="0">
                          <a:solidFill>
                            <a:schemeClr val="tx1"/>
                          </a:solidFill>
                          <a:latin typeface="Calibri" pitchFamily="34" charset="0"/>
                        </a:rPr>
                        <a:t>DRIFA-Net, Dhar et al. 2025</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100" dirty="0">
                          <a:solidFill>
                            <a:schemeClr val="tx1"/>
                          </a:solidFill>
                          <a:latin typeface="Calibri" pitchFamily="34" charset="0"/>
                        </a:rPr>
                        <a:t>Dermoscopy, cytology, CT, MRI slices; BraTS MRI</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100" dirty="0">
                          <a:solidFill>
                            <a:schemeClr val="tx1"/>
                          </a:solidFill>
                          <a:latin typeface="Calibri" pitchFamily="34" charset="0"/>
                        </a:rPr>
                        <a:t>HAM10000 (10,015), SIPaKMeD (4,049), brain-tumour MRI (7,023), IQ-OTHNCCD (1,098), BraTS2020 (369)</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100" dirty="0">
                          <a:solidFill>
                            <a:schemeClr val="tx1"/>
                          </a:solidFill>
                          <a:latin typeface="Calibri" pitchFamily="34" charset="0"/>
                        </a:rPr>
                        <a:t>3–7-class classification; segmentation</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100" dirty="0">
                          <a:solidFill>
                            <a:schemeClr val="tx1"/>
                          </a:solidFill>
                          <a:latin typeface="Calibri" pitchFamily="34" charset="0"/>
                        </a:rPr>
                        <a:t>Acc. 95.6–99.7% (D1–D4); both attention modules &gt; either alone</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algn="l" indent="0" marL="0">
                        <a:buNone/>
                      </a:pPr>
                      <a:r>
                        <a:rPr lang="en-US" sz="1100" b="1" dirty="0">
                          <a:solidFill>
                            <a:schemeClr val="tx1"/>
                          </a:solidFill>
                          <a:latin typeface="Calibri" pitchFamily="34" charset="0"/>
                        </a:rPr>
                        <a:t>This work</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c>
                  <a:txBody>
                    <a:bodyPr/>
                    <a:lstStyle/>
                    <a:p>
                      <a:pPr algn="l" indent="0" marL="0">
                        <a:buNone/>
                      </a:pPr>
                      <a:r>
                        <a:rPr lang="en-US" sz="1100" dirty="0">
                          <a:solidFill>
                            <a:schemeClr val="tx1"/>
                          </a:solidFill>
                          <a:latin typeface="Calibri" pitchFamily="34" charset="0"/>
                        </a:rPr>
                        <a:t>3D T1w MRI + 1D electrophysiology (heterogeneous)</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c>
                  <a:txBody>
                    <a:bodyPr/>
                    <a:lstStyle/>
                    <a:p>
                      <a:pPr algn="l" indent="0" marL="0">
                        <a:buNone/>
                      </a:pPr>
                      <a:r>
                        <a:rPr lang="en-US" sz="1100" dirty="0">
                          <a:solidFill>
                            <a:schemeClr val="tx1"/>
                          </a:solidFill>
                          <a:latin typeface="Calibri" pitchFamily="34" charset="0"/>
                        </a:rPr>
                        <a:t>Controlled synthetic benchmark; two OpenNeuro cohorts (95 subjects)</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c>
                  <a:txBody>
                    <a:bodyPr/>
                    <a:lstStyle/>
                    <a:p>
                      <a:pPr algn="l" indent="0" marL="0">
                        <a:buNone/>
                      </a:pPr>
                      <a:r>
                        <a:rPr lang="en-US" sz="1100" dirty="0">
                          <a:solidFill>
                            <a:schemeClr val="tx1"/>
                          </a:solidFill>
                          <a:latin typeface="Calibri" pitchFamily="34" charset="0"/>
                        </a:rPr>
                        <a:t>Control vs patient; 3-class synthetic</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c>
                  <a:txBody>
                    <a:bodyPr/>
                    <a:lstStyle/>
                    <a:p>
                      <a:pPr algn="l" indent="0" marL="0">
                        <a:buNone/>
                      </a:pPr>
                      <a:r>
                        <a:rPr lang="en-US" sz="1100" dirty="0">
                          <a:solidFill>
                            <a:schemeClr val="tx1"/>
                          </a:solidFill>
                          <a:latin typeface="Calibri" pitchFamily="34" charset="0"/>
                        </a:rPr>
                        <a:t>See the results slides</a:t>
                      </a:r>
                      <a:endParaRPr lang="en-US" sz="11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accent1">
                        <a:lumMod val="15000"/>
                        <a:lumOff val="85000"/>
                      </a:schemeClr>
                    </a:solidFill>
                  </a:tcPr>
                </a:tc>
              </a:tr>
            </a:tbl>
          </a:graphicData>
        </a:graphic>
      </p:graphicFrame>
      <p:sp>
        <p:nvSpPr>
          <p:cNvPr id="43" name="comparability note"/>
          <p:cNvSpPr txBox="1"/>
          <p:nvPr/>
        </p:nvSpPr>
        <p:spPr>
          <a:xfrm>
            <a:off x="548640" y="5852160"/>
            <a:ext cx="11094415" cy="36576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Numbers are those reported by the authors on their own data; they are not comparable with ours (different tasks, modalities and data). All our baselines share the encoders, the auxiliary loss and the training recipe.</a:t>
            </a:r>
            <a:endParaRPr lang="en-US" sz="12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Two studies, two questions</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
        <p:nvSpPr>
          <p:cNvPr id="26" name="Study A · synthetic benchmark"/>
          <p:cNvSpPr/>
          <p:nvPr/>
        </p:nvSpPr>
        <p:spPr>
          <a:xfrm>
            <a:off x="548640" y="1325880"/>
            <a:ext cx="5410048" cy="4023360"/>
          </a:xfrm>
          <a:prstGeom prst="roundRect">
            <a:avLst>
              <a:gd name="adj" fmla="val 25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Study A · synthetic benchmark badge"/>
          <p:cNvSpPr/>
          <p:nvPr/>
        </p:nvSpPr>
        <p:spPr>
          <a:xfrm>
            <a:off x="822960" y="1508760"/>
            <a:ext cx="548640" cy="548640"/>
          </a:xfrm>
          <a:prstGeom prst="ellipse">
            <a:avLst/>
          </a:prstGeom>
          <a:solidFill>
            <a:schemeClr val="accent3"/>
          </a:solidFill>
          <a:ln>
            <a:noFill/>
          </a:ln>
        </p:spPr>
      </p:sp>
      <p:pic>
        <p:nvPicPr>
          <p:cNvPr id="28" name="Study A · synthetic benchmark icon" descr="Study A · synthetic benchmark icon"/>
          <p:cNvPicPr>
            <a:picLocks noChangeAspect="1"/>
          </p:cNvPicPr>
          <p:nvPr/>
        </p:nvPicPr>
        <p:blipFill>
          <a:blip r:embed="rId2"/>
          <a:stretch>
            <a:fillRect/>
          </a:stretch>
        </p:blipFill>
        <p:spPr>
          <a:xfrm>
            <a:off x="960120" y="1645920"/>
            <a:ext cx="274320" cy="274320"/>
          </a:xfrm>
          <a:prstGeom prst="rect">
            <a:avLst/>
          </a:prstGeom>
        </p:spPr>
      </p:pic>
      <p:sp>
        <p:nvSpPr>
          <p:cNvPr id="29" name="Study A · synthetic benchmark title"/>
          <p:cNvSpPr txBox="1"/>
          <p:nvPr/>
        </p:nvSpPr>
        <p:spPr>
          <a:xfrm>
            <a:off x="1554480" y="1508760"/>
            <a:ext cx="4129888" cy="320040"/>
          </a:xfrm>
          <a:prstGeom prst="rect">
            <a:avLst/>
          </a:prstGeom>
          <a:noFill/>
          <a:ln>
            <a:noFill/>
          </a:ln>
        </p:spPr>
        <p:txBody>
          <a:bodyPr wrap="square" lIns="0" tIns="0" rIns="0" bIns="0" rtlCol="0" anchor="ctr"/>
          <a:lstStyle/>
          <a:p>
            <a:pPr indent="0" marL="0">
              <a:buNone/>
            </a:pPr>
            <a:r>
              <a:rPr lang="en-US" sz="1800" b="1" dirty="0">
                <a:solidFill>
                  <a:schemeClr val="tx1"/>
                </a:solidFill>
                <a:latin typeface="Cambria" pitchFamily="34" charset="0"/>
              </a:rPr>
              <a:t>Study A · synthetic benchmark</a:t>
            </a:r>
            <a:endParaRPr lang="en-US" sz="1800" dirty="0"/>
          </a:p>
        </p:txBody>
      </p:sp>
      <p:sp>
        <p:nvSpPr>
          <p:cNvPr id="30" name="Study A · synthetic benchmark question"/>
          <p:cNvSpPr txBox="1"/>
          <p:nvPr/>
        </p:nvSpPr>
        <p:spPr>
          <a:xfrm>
            <a:off x="1554480" y="1828800"/>
            <a:ext cx="4129888" cy="228600"/>
          </a:xfrm>
          <a:prstGeom prst="rect">
            <a:avLst/>
          </a:prstGeom>
          <a:noFill/>
          <a:ln>
            <a:noFill/>
          </a:ln>
        </p:spPr>
        <p:txBody>
          <a:bodyPr wrap="square" lIns="0" tIns="0" rIns="0" bIns="0" rtlCol="0" anchor="ctr"/>
          <a:lstStyle/>
          <a:p>
            <a:pPr indent="0" marL="0">
              <a:buNone/>
            </a:pPr>
            <a:r>
              <a:rPr lang="en-US" sz="1400" i="1" dirty="0">
                <a:solidFill>
                  <a:schemeClr val="accent3"/>
                </a:solidFill>
                <a:latin typeface="Calibri" pitchFamily="34" charset="0"/>
              </a:rPr>
              <a:t>When does fusion help?</a:t>
            </a:r>
            <a:endParaRPr lang="en-US" sz="1400" dirty="0"/>
          </a:p>
        </p:txBody>
      </p:sp>
      <p:sp>
        <p:nvSpPr>
          <p:cNvPr id="31" name="Study A · synthetic benchmark bullets"/>
          <p:cNvSpPr txBox="1"/>
          <p:nvPr/>
        </p:nvSpPr>
        <p:spPr>
          <a:xfrm>
            <a:off x="822960" y="2240280"/>
            <a:ext cx="4861408" cy="3017520"/>
          </a:xfrm>
          <a:prstGeom prst="rect">
            <a:avLst/>
          </a:prstGeom>
          <a:noFill/>
          <a:ln>
            <a:noFill/>
          </a:ln>
        </p:spPr>
        <p:txBody>
          <a:bodyPr wrap="square" lIns="0" tIns="0" rIns="0" bIns="0" rtlCol="0" anchor="t"/>
          <a:lstStyle/>
          <a:p>
            <a:pPr marL="285750" indent="-285750">
              <a:spcAft>
                <a:spcPts val="500"/>
              </a:spcAft>
              <a:buSzPct val="100000"/>
              <a:buChar char="•"/>
            </a:pPr>
            <a:r>
              <a:rPr lang="en-US" sz="1400" dirty="0">
                <a:solidFill>
                  <a:schemeClr val="tx1"/>
                </a:solidFill>
                <a:latin typeface="Calibri" pitchFamily="34" charset="0"/>
              </a:rPr>
              <a:t>3 classes: Healthy / Glaucoma / ON-CVI</a:t>
            </a:r>
            <a:endParaRPr lang="en-US" sz="1400" dirty="0"/>
          </a:p>
          <a:p>
            <a:pPr marL="285750" indent="-285750">
              <a:spcAft>
                <a:spcPts val="500"/>
              </a:spcAft>
              <a:buSzPct val="100000"/>
              <a:buChar char="•"/>
            </a:pPr>
            <a:r>
              <a:rPr lang="en-US" sz="1400" dirty="0">
                <a:solidFill>
                  <a:schemeClr val="tx1"/>
                </a:solidFill>
                <a:latin typeface="Calibri" pitchFamily="34" charset="0"/>
              </a:rPr>
              <a:t>Knobs mri_strength and vep_strength in [0, 1] set the class information in each modality</a:t>
            </a:r>
            <a:endParaRPr lang="en-US" sz="1400" dirty="0"/>
          </a:p>
          <a:p>
            <a:pPr marL="285750" indent="-285750">
              <a:spcAft>
                <a:spcPts val="500"/>
              </a:spcAft>
              <a:buSzPct val="100000"/>
              <a:buChar char="•"/>
            </a:pPr>
            <a:r>
              <a:rPr lang="en-US" sz="1400" dirty="0">
                <a:solidFill>
                  <a:schemeClr val="tx1"/>
                </a:solidFill>
                <a:latin typeface="Calibri" pitchFamily="34" charset="0"/>
              </a:rPr>
              <a:t>144 / 48 / 120 train / val / test; 32³ MRI, 500-point VEP</a:t>
            </a:r>
            <a:endParaRPr lang="en-US" sz="1400" dirty="0"/>
          </a:p>
          <a:p>
            <a:pPr marL="285750" indent="-285750">
              <a:spcAft>
                <a:spcPts val="500"/>
              </a:spcAft>
              <a:buSzPct val="100000"/>
              <a:buChar char="•"/>
            </a:pPr>
            <a:r>
              <a:rPr lang="en-US" sz="1400" dirty="0">
                <a:solidFill>
                  <a:schemeClr val="tx1"/>
                </a:solidFill>
                <a:latin typeface="Calibri" pitchFamily="34" charset="0"/>
              </a:rPr>
              <a:t>Main setting MRI 1.0 : VEP 0.3, chosen from a pilot on the unimodal models only</a:t>
            </a:r>
            <a:endParaRPr lang="en-US" sz="1400" dirty="0"/>
          </a:p>
          <a:p>
            <a:pPr marL="285750" indent="-285750">
              <a:spcAft>
                <a:spcPts val="500"/>
              </a:spcAft>
              <a:buSzPct val="100000"/>
              <a:buChar char="•"/>
            </a:pPr>
            <a:r>
              <a:rPr lang="en-US" sz="1400" dirty="0">
                <a:solidFill>
                  <a:schemeClr val="tx1"/>
                </a:solidFill>
                <a:latin typeface="Calibri" pitchFamily="34" charset="0"/>
              </a:rPr>
              <a:t>12 configurations, at least 5 seeds each; checkpoint by validation balanced accuracy; all numbers on the held-out test set</a:t>
            </a:r>
            <a:endParaRPr lang="en-US" sz="1400" dirty="0"/>
          </a:p>
          <a:p>
            <a:pPr marL="285750" indent="-285750">
              <a:spcAft>
                <a:spcPts val="500"/>
              </a:spcAft>
              <a:buSzPct val="100000"/>
              <a:buChar char="•"/>
            </a:pPr>
            <a:r>
              <a:rPr lang="en-US" sz="1400" dirty="0">
                <a:solidFill>
                  <a:schemeClr val="tx1"/>
                </a:solidFill>
                <a:latin typeface="Calibri" pitchFamily="34" charset="0"/>
              </a:rPr>
              <a:t>Sweep over VEP informativeness: MRI-only, VEP-only, concatenation, CAFN</a:t>
            </a:r>
            <a:endParaRPr lang="en-US" sz="1400" dirty="0"/>
          </a:p>
        </p:txBody>
      </p:sp>
      <p:sp>
        <p:nvSpPr>
          <p:cNvPr id="32" name="Study B · real cohorts"/>
          <p:cNvSpPr/>
          <p:nvPr/>
        </p:nvSpPr>
        <p:spPr>
          <a:xfrm>
            <a:off x="6233008" y="1325880"/>
            <a:ext cx="5410048" cy="4023360"/>
          </a:xfrm>
          <a:prstGeom prst="roundRect">
            <a:avLst>
              <a:gd name="adj" fmla="val 2500"/>
            </a:avLst>
          </a:prstGeom>
          <a:solidFill>
            <a:schemeClr val="bg1"/>
          </a:solidFill>
          <a:ln>
            <a:noFill/>
          </a:ln>
          <a:effectLst>
            <a:outerShdw sx="100000" sy="100000" kx="0" ky="0" algn="bl" rotWithShape="0" blurRad="101600" dist="25400" dir="5400000">
              <a:srgbClr val="12232B">
                <a:alpha val="12000"/>
              </a:srgbClr>
            </a:outerShdw>
          </a:effectLst>
        </p:spPr>
      </p:sp>
      <p:sp>
        <p:nvSpPr>
          <p:cNvPr id="33" name="Study B · real cohorts badge"/>
          <p:cNvSpPr/>
          <p:nvPr/>
        </p:nvSpPr>
        <p:spPr>
          <a:xfrm>
            <a:off x="6507328" y="1508760"/>
            <a:ext cx="548640" cy="548640"/>
          </a:xfrm>
          <a:prstGeom prst="ellipse">
            <a:avLst/>
          </a:prstGeom>
          <a:solidFill>
            <a:schemeClr val="accent4"/>
          </a:solidFill>
          <a:ln>
            <a:noFill/>
          </a:ln>
        </p:spPr>
      </p:sp>
      <p:pic>
        <p:nvPicPr>
          <p:cNvPr id="34" name="Study B · real cohorts icon" descr="Study B · real cohorts icon"/>
          <p:cNvPicPr>
            <a:picLocks noChangeAspect="1"/>
          </p:cNvPicPr>
          <p:nvPr/>
        </p:nvPicPr>
        <p:blipFill>
          <a:blip r:embed="rId3"/>
          <a:stretch>
            <a:fillRect/>
          </a:stretch>
        </p:blipFill>
        <p:spPr>
          <a:xfrm>
            <a:off x="6644488" y="1645920"/>
            <a:ext cx="274320" cy="274320"/>
          </a:xfrm>
          <a:prstGeom prst="rect">
            <a:avLst/>
          </a:prstGeom>
        </p:spPr>
      </p:pic>
      <p:sp>
        <p:nvSpPr>
          <p:cNvPr id="35" name="Study B · real cohorts title"/>
          <p:cNvSpPr txBox="1"/>
          <p:nvPr/>
        </p:nvSpPr>
        <p:spPr>
          <a:xfrm>
            <a:off x="7238848" y="1508760"/>
            <a:ext cx="4129888" cy="320040"/>
          </a:xfrm>
          <a:prstGeom prst="rect">
            <a:avLst/>
          </a:prstGeom>
          <a:noFill/>
          <a:ln>
            <a:noFill/>
          </a:ln>
        </p:spPr>
        <p:txBody>
          <a:bodyPr wrap="square" lIns="0" tIns="0" rIns="0" bIns="0" rtlCol="0" anchor="ctr"/>
          <a:lstStyle/>
          <a:p>
            <a:pPr indent="0" marL="0">
              <a:buNone/>
            </a:pPr>
            <a:r>
              <a:rPr lang="en-US" sz="1800" b="1" dirty="0">
                <a:solidFill>
                  <a:schemeClr val="tx1"/>
                </a:solidFill>
                <a:latin typeface="Cambria" pitchFamily="34" charset="0"/>
              </a:rPr>
              <a:t>Study B · real cohorts</a:t>
            </a:r>
            <a:endParaRPr lang="en-US" sz="1800" dirty="0"/>
          </a:p>
        </p:txBody>
      </p:sp>
      <p:sp>
        <p:nvSpPr>
          <p:cNvPr id="36" name="Study B · real cohorts question"/>
          <p:cNvSpPr txBox="1"/>
          <p:nvPr/>
        </p:nvSpPr>
        <p:spPr>
          <a:xfrm>
            <a:off x="7238848" y="1828800"/>
            <a:ext cx="4129888" cy="228600"/>
          </a:xfrm>
          <a:prstGeom prst="rect">
            <a:avLst/>
          </a:prstGeom>
          <a:noFill/>
          <a:ln>
            <a:noFill/>
          </a:ln>
        </p:spPr>
        <p:txBody>
          <a:bodyPr wrap="square" lIns="0" tIns="0" rIns="0" bIns="0" rtlCol="0" anchor="ctr"/>
          <a:lstStyle/>
          <a:p>
            <a:pPr indent="0" marL="0">
              <a:buNone/>
            </a:pPr>
            <a:r>
              <a:rPr lang="en-US" sz="1400" i="1" dirty="0">
                <a:solidFill>
                  <a:schemeClr val="accent4"/>
                </a:solidFill>
                <a:latin typeface="Calibri" pitchFamily="34" charset="0"/>
              </a:rPr>
              <a:t>Does the pipeline work on real data?</a:t>
            </a:r>
            <a:endParaRPr lang="en-US" sz="1400" dirty="0"/>
          </a:p>
        </p:txBody>
      </p:sp>
      <p:sp>
        <p:nvSpPr>
          <p:cNvPr id="37" name="Study B · real cohorts bullets"/>
          <p:cNvSpPr txBox="1"/>
          <p:nvPr/>
        </p:nvSpPr>
        <p:spPr>
          <a:xfrm>
            <a:off x="6507328" y="2240280"/>
            <a:ext cx="4861408" cy="3017520"/>
          </a:xfrm>
          <a:prstGeom prst="rect">
            <a:avLst/>
          </a:prstGeom>
          <a:noFill/>
          <a:ln>
            <a:noFill/>
          </a:ln>
        </p:spPr>
        <p:txBody>
          <a:bodyPr wrap="square" lIns="0" tIns="0" rIns="0" bIns="0" rtlCol="0" anchor="t"/>
          <a:lstStyle/>
          <a:p>
            <a:pPr marL="285750" indent="-285750">
              <a:spcAft>
                <a:spcPts val="500"/>
              </a:spcAft>
              <a:buSzPct val="100000"/>
              <a:buChar char="•"/>
            </a:pPr>
            <a:r>
              <a:rPr lang="en-US" sz="1400" dirty="0">
                <a:solidFill>
                  <a:schemeClr val="tx1"/>
                </a:solidFill>
                <a:latin typeface="Calibri" pitchFamily="34" charset="0"/>
              </a:rPr>
              <a:t>ds003568: MDD vs healthy adolescents, MEG: 18 controls, 29 patients</a:t>
            </a:r>
            <a:endParaRPr lang="en-US" sz="1400" dirty="0"/>
          </a:p>
          <a:p>
            <a:pPr marL="285750" indent="-285750">
              <a:spcAft>
                <a:spcPts val="500"/>
              </a:spcAft>
              <a:buSzPct val="100000"/>
              <a:buChar char="•"/>
            </a:pPr>
            <a:r>
              <a:rPr lang="en-US" sz="1400" dirty="0">
                <a:solidFill>
                  <a:schemeClr val="tx1"/>
                </a:solidFill>
                <a:latin typeface="Calibri" pitchFamily="34" charset="0"/>
              </a:rPr>
              <a:t>ds007181: zoster-associated neuralgia vs healthy, PSG EEG: 27 controls, 21 patients</a:t>
            </a:r>
            <a:endParaRPr lang="en-US" sz="1400" dirty="0"/>
          </a:p>
          <a:p>
            <a:pPr marL="285750" indent="-285750">
              <a:spcAft>
                <a:spcPts val="500"/>
              </a:spcAft>
              <a:buSzPct val="100000"/>
              <a:buChar char="•"/>
            </a:pPr>
            <a:r>
              <a:rPr lang="en-US" sz="1400" dirty="0">
                <a:solidFill>
                  <a:schemeClr val="tx1"/>
                </a:solidFill>
                <a:latin typeface="Calibri" pitchFamily="34" charset="0"/>
              </a:rPr>
              <a:t>Label: pan-disorder patient vs control; not eye disease. The 1-D stream is the log power spectrum of the resting recording</a:t>
            </a:r>
            <a:endParaRPr lang="en-US" sz="1400" dirty="0"/>
          </a:p>
          <a:p>
            <a:pPr marL="285750" indent="-285750">
              <a:spcAft>
                <a:spcPts val="500"/>
              </a:spcAft>
              <a:buSzPct val="100000"/>
              <a:buChar char="•"/>
            </a:pPr>
            <a:r>
              <a:rPr lang="en-US" sz="1400" dirty="0">
                <a:solidFill>
                  <a:schemeClr val="tx1"/>
                </a:solidFill>
                <a:latin typeface="Calibri" pitchFamily="34" charset="0"/>
              </a:rPr>
              <a:t>Pooled model and leave-one-cohort-out; 5-fold repeated CV on all 95 subjects</a:t>
            </a:r>
            <a:endParaRPr lang="en-US" sz="1400" dirty="0"/>
          </a:p>
          <a:p>
            <a:pPr marL="285750" indent="-285750">
              <a:spcAft>
                <a:spcPts val="500"/>
              </a:spcAft>
              <a:buSzPct val="100000"/>
              <a:buChar char="•"/>
            </a:pPr>
            <a:r>
              <a:rPr lang="en-US" sz="1400" dirty="0">
                <a:solidFill>
                  <a:schemeClr val="tx1"/>
                </a:solidFill>
                <a:latin typeface="Calibri" pitchFamily="34" charset="0"/>
              </a:rPr>
              <a:t>Bootstrap CIs, within-cohort label-permutation tests, classical baselines</a:t>
            </a:r>
            <a:endParaRPr lang="en-US" sz="1400" dirty="0"/>
          </a:p>
        </p:txBody>
      </p:sp>
      <p:sp>
        <p:nvSpPr>
          <p:cNvPr id="38" name="neither clinical banner"/>
          <p:cNvSpPr/>
          <p:nvPr/>
        </p:nvSpPr>
        <p:spPr>
          <a:xfrm>
            <a:off x="548640" y="5486400"/>
            <a:ext cx="11094415" cy="731520"/>
          </a:xfrm>
          <a:prstGeom prst="roundRect">
            <a:avLst>
              <a:gd name="adj" fmla="val 12000"/>
            </a:avLst>
          </a:prstGeom>
          <a:solidFill>
            <a:schemeClr val="tx2"/>
          </a:solidFill>
          <a:ln>
            <a:noFill/>
          </a:ln>
          <a:effectLst>
            <a:outerShdw sx="100000" sy="100000" kx="0" ky="0" algn="bl" rotWithShape="0" blurRad="101600" dist="25400" dir="5400000">
              <a:srgbClr val="12232B">
                <a:alpha val="12000"/>
              </a:srgbClr>
            </a:outerShdw>
          </a:effectLst>
        </p:spPr>
      </p:sp>
      <p:sp>
        <p:nvSpPr>
          <p:cNvPr id="39" name="neither clinical banner text"/>
          <p:cNvSpPr txBox="1"/>
          <p:nvPr/>
        </p:nvSpPr>
        <p:spPr>
          <a:xfrm>
            <a:off x="822960" y="5532120"/>
            <a:ext cx="10545775" cy="64008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Neither study is clinical. </a:t>
            </a:r>
            <a:r>
              <a:rPr lang="en-US" sz="1600" dirty="0">
                <a:solidFill>
                  <a:schemeClr val="bg1"/>
                </a:solidFill>
                <a:latin typeface="Cambria" pitchFamily="34" charset="0"/>
              </a:rPr>
              <a:t>A asks when fusion helps under a known ground truth; B tests the whole pipeline on real recordings that are not eye-disease data.</a:t>
            </a:r>
            <a:endParaRPr lang="en-US" sz="16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One command, one seed</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
        <p:nvSpPr>
          <p:cNvPr id="26" name="command pill"/>
          <p:cNvSpPr/>
          <p:nvPr/>
        </p:nvSpPr>
        <p:spPr>
          <a:xfrm>
            <a:off x="548640" y="1325880"/>
            <a:ext cx="3200400" cy="594360"/>
          </a:xfrm>
          <a:prstGeom prst="roundRect">
            <a:avLst>
              <a:gd name="adj" fmla="val 49412"/>
            </a:avLst>
          </a:prstGeom>
          <a:solidFill>
            <a:schemeClr val="tx1"/>
          </a:solidFill>
          <a:ln>
            <a:noFill/>
          </a:ln>
        </p:spPr>
        <p:txBody>
          <a:bodyPr wrap="square" lIns="91440" tIns="45720" rIns="91440" bIns="45720" rtlCol="0" anchor="ctr"/>
          <a:lstStyle/>
          <a:p>
            <a:pPr algn="ctr" indent="0" marL="0">
              <a:buNone/>
            </a:pPr>
            <a:r>
              <a:rPr lang="en-US" sz="2200" b="1" dirty="0">
                <a:solidFill>
                  <a:schemeClr val="accent2"/>
                </a:solidFill>
                <a:latin typeface="Courier New" pitchFamily="34" charset="0"/>
              </a:rPr>
              <a:t>./run_all.sh</a:t>
            </a:r>
            <a:endParaRPr lang="en-US" sz="2200" dirty="0"/>
          </a:p>
        </p:txBody>
      </p:sp>
      <p:sp>
        <p:nvSpPr>
          <p:cNvPr id="27" name="command text"/>
          <p:cNvSpPr txBox="1"/>
          <p:nvPr/>
        </p:nvSpPr>
        <p:spPr>
          <a:xfrm>
            <a:off x="3977640" y="1325880"/>
            <a:ext cx="7665415" cy="594360"/>
          </a:xfrm>
          <a:prstGeom prst="rect">
            <a:avLst/>
          </a:prstGeom>
          <a:noFill/>
          <a:ln>
            <a:noFill/>
          </a:ln>
        </p:spPr>
        <p:txBody>
          <a:bodyPr wrap="square" lIns="0" tIns="0" rIns="0" bIns="0" rtlCol="0" anchor="ctr"/>
          <a:lstStyle/>
          <a:p>
            <a:pPr indent="0" marL="0">
              <a:buNone/>
            </a:pPr>
            <a:r>
              <a:rPr lang="en-US" sz="1800" dirty="0">
                <a:solidFill>
                  <a:schemeClr val="tx2"/>
                </a:solidFill>
                <a:latin typeface="Calibri" pitchFamily="34" charset="0"/>
              </a:rPr>
              <a:t>download → preprocess → train → validate → test. Safe to interrupt and re-run.</a:t>
            </a:r>
            <a:endParaRPr lang="en-US" sz="1800" dirty="0"/>
          </a:p>
        </p:txBody>
      </p:sp>
      <p:sp>
        <p:nvSpPr>
          <p:cNvPr id="28" name="step 1"/>
          <p:cNvSpPr/>
          <p:nvPr/>
        </p:nvSpPr>
        <p:spPr>
          <a:xfrm>
            <a:off x="548640"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29" name="step 1 number"/>
          <p:cNvSpPr txBox="1"/>
          <p:nvPr/>
        </p:nvSpPr>
        <p:spPr>
          <a:xfrm>
            <a:off x="731520"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1"/>
                </a:solidFill>
                <a:latin typeface="Cambria" pitchFamily="34" charset="0"/>
              </a:rPr>
              <a:t>1</a:t>
            </a:r>
            <a:endParaRPr lang="en-US" sz="3200" dirty="0"/>
          </a:p>
        </p:txBody>
      </p:sp>
      <p:sp>
        <p:nvSpPr>
          <p:cNvPr id="30" name="step 1 title"/>
          <p:cNvSpPr txBox="1"/>
          <p:nvPr/>
        </p:nvSpPr>
        <p:spPr>
          <a:xfrm>
            <a:off x="731520"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Environment and self-check</a:t>
            </a:r>
            <a:endParaRPr lang="en-US" sz="1600" dirty="0"/>
          </a:p>
        </p:txBody>
      </p:sp>
      <p:sp>
        <p:nvSpPr>
          <p:cNvPr id="31" name="step 1 text"/>
          <p:cNvSpPr txBox="1"/>
          <p:nvPr/>
        </p:nvSpPr>
        <p:spPr>
          <a:xfrm>
            <a:off x="731520"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Virtualenv, GPU check, pre-flight tests of the loaders and runner</a:t>
            </a:r>
            <a:endParaRPr lang="en-US" sz="1300" dirty="0"/>
          </a:p>
        </p:txBody>
      </p:sp>
      <p:sp>
        <p:nvSpPr>
          <p:cNvPr id="32" name="step 2"/>
          <p:cNvSpPr/>
          <p:nvPr/>
        </p:nvSpPr>
        <p:spPr>
          <a:xfrm>
            <a:off x="2804099"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33" name="step 2 number"/>
          <p:cNvSpPr txBox="1"/>
          <p:nvPr/>
        </p:nvSpPr>
        <p:spPr>
          <a:xfrm>
            <a:off x="2986979"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3"/>
                </a:solidFill>
                <a:latin typeface="Cambria" pitchFamily="34" charset="0"/>
              </a:rPr>
              <a:t>2</a:t>
            </a:r>
            <a:endParaRPr lang="en-US" sz="3200" dirty="0"/>
          </a:p>
        </p:txBody>
      </p:sp>
      <p:sp>
        <p:nvSpPr>
          <p:cNvPr id="34" name="step 2 title"/>
          <p:cNvSpPr txBox="1"/>
          <p:nvPr/>
        </p:nvSpPr>
        <p:spPr>
          <a:xfrm>
            <a:off x="2986979"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Download</a:t>
            </a:r>
            <a:endParaRPr lang="en-US" sz="1600" dirty="0"/>
          </a:p>
        </p:txBody>
      </p:sp>
      <p:sp>
        <p:nvSpPr>
          <p:cNvPr id="35" name="step 2 text"/>
          <p:cNvSpPr txBox="1"/>
          <p:nvPr/>
        </p:nvSpPr>
        <p:spPr>
          <a:xfrm>
            <a:off x="2986979"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Resumable, size-verified downloads of the two cohorts (~68 GB)</a:t>
            </a:r>
            <a:endParaRPr lang="en-US" sz="1300" dirty="0"/>
          </a:p>
        </p:txBody>
      </p:sp>
      <p:sp>
        <p:nvSpPr>
          <p:cNvPr id="36" name="step 3"/>
          <p:cNvSpPr/>
          <p:nvPr/>
        </p:nvSpPr>
        <p:spPr>
          <a:xfrm>
            <a:off x="5059558"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ep 3 number"/>
          <p:cNvSpPr txBox="1"/>
          <p:nvPr/>
        </p:nvSpPr>
        <p:spPr>
          <a:xfrm>
            <a:off x="5242438"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2"/>
                </a:solidFill>
                <a:latin typeface="Cambria" pitchFamily="34" charset="0"/>
              </a:rPr>
              <a:t>3</a:t>
            </a:r>
            <a:endParaRPr lang="en-US" sz="3200" dirty="0"/>
          </a:p>
        </p:txBody>
      </p:sp>
      <p:sp>
        <p:nvSpPr>
          <p:cNvPr id="38" name="step 3 title"/>
          <p:cNvSpPr txBox="1"/>
          <p:nvPr/>
        </p:nvSpPr>
        <p:spPr>
          <a:xfrm>
            <a:off x="5242438"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Preprocess</a:t>
            </a:r>
            <a:endParaRPr lang="en-US" sz="1600" dirty="0"/>
          </a:p>
        </p:txBody>
      </p:sp>
      <p:sp>
        <p:nvSpPr>
          <p:cNvPr id="39" name="step 3 text"/>
          <p:cNvSpPr txBox="1"/>
          <p:nvPr/>
        </p:nvSpPr>
        <p:spPr>
          <a:xfrm>
            <a:off x="5242438"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T1w to 64³ arrays; resting MEG / EEG to 500-point log-PSD; manifest</a:t>
            </a:r>
            <a:endParaRPr lang="en-US" sz="1300" dirty="0"/>
          </a:p>
        </p:txBody>
      </p:sp>
      <p:sp>
        <p:nvSpPr>
          <p:cNvPr id="40" name="step 4"/>
          <p:cNvSpPr/>
          <p:nvPr/>
        </p:nvSpPr>
        <p:spPr>
          <a:xfrm>
            <a:off x="7315017"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41" name="step 4 number"/>
          <p:cNvSpPr txBox="1"/>
          <p:nvPr/>
        </p:nvSpPr>
        <p:spPr>
          <a:xfrm>
            <a:off x="7497897"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5"/>
                </a:solidFill>
                <a:latin typeface="Cambria" pitchFamily="34" charset="0"/>
              </a:rPr>
              <a:t>4</a:t>
            </a:r>
            <a:endParaRPr lang="en-US" sz="3200" dirty="0"/>
          </a:p>
        </p:txBody>
      </p:sp>
      <p:sp>
        <p:nvSpPr>
          <p:cNvPr id="42" name="step 4 title"/>
          <p:cNvSpPr txBox="1"/>
          <p:nvPr/>
        </p:nvSpPr>
        <p:spPr>
          <a:xfrm>
            <a:off x="7497897"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Train, validate, test</a:t>
            </a:r>
            <a:endParaRPr lang="en-US" sz="1600" dirty="0"/>
          </a:p>
        </p:txBody>
      </p:sp>
      <p:sp>
        <p:nvSpPr>
          <p:cNvPr id="43" name="step 4 text"/>
          <p:cNvSpPr txBox="1"/>
          <p:nvPr/>
        </p:nvSpPr>
        <p:spPr>
          <a:xfrm>
            <a:off x="7497897"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Pooled, then leave-one-cohort-out; early stopping</a:t>
            </a:r>
            <a:endParaRPr lang="en-US" sz="1300" dirty="0"/>
          </a:p>
        </p:txBody>
      </p:sp>
      <p:sp>
        <p:nvSpPr>
          <p:cNvPr id="44" name="step 5"/>
          <p:cNvSpPr/>
          <p:nvPr/>
        </p:nvSpPr>
        <p:spPr>
          <a:xfrm>
            <a:off x="9570476" y="2103120"/>
            <a:ext cx="2072579" cy="2286000"/>
          </a:xfrm>
          <a:prstGeom prst="roundRect">
            <a:avLst>
              <a:gd name="adj" fmla="val 4412"/>
            </a:avLst>
          </a:prstGeom>
          <a:solidFill>
            <a:schemeClr val="bg1"/>
          </a:solidFill>
          <a:ln>
            <a:noFill/>
          </a:ln>
          <a:effectLst>
            <a:outerShdw sx="100000" sy="100000" kx="0" ky="0" algn="bl" rotWithShape="0" blurRad="101600" dist="25400" dir="5400000">
              <a:srgbClr val="12232B">
                <a:alpha val="12000"/>
              </a:srgbClr>
            </a:outerShdw>
          </a:effectLst>
        </p:spPr>
      </p:sp>
      <p:sp>
        <p:nvSpPr>
          <p:cNvPr id="45" name="step 5 number"/>
          <p:cNvSpPr txBox="1"/>
          <p:nvPr/>
        </p:nvSpPr>
        <p:spPr>
          <a:xfrm>
            <a:off x="9753356" y="2240280"/>
            <a:ext cx="1706819" cy="502920"/>
          </a:xfrm>
          <a:prstGeom prst="rect">
            <a:avLst/>
          </a:prstGeom>
          <a:noFill/>
          <a:ln>
            <a:noFill/>
          </a:ln>
        </p:spPr>
        <p:txBody>
          <a:bodyPr wrap="square" lIns="0" tIns="0" rIns="0" bIns="0" rtlCol="0" anchor="ctr"/>
          <a:lstStyle/>
          <a:p>
            <a:pPr indent="0" marL="0">
              <a:buNone/>
            </a:pPr>
            <a:r>
              <a:rPr lang="en-US" sz="3200" b="1" dirty="0">
                <a:solidFill>
                  <a:schemeClr val="accent4"/>
                </a:solidFill>
                <a:latin typeface="Cambria" pitchFamily="34" charset="0"/>
              </a:rPr>
              <a:t>5</a:t>
            </a:r>
            <a:endParaRPr lang="en-US" sz="3200" dirty="0"/>
          </a:p>
        </p:txBody>
      </p:sp>
      <p:sp>
        <p:nvSpPr>
          <p:cNvPr id="46" name="step 5 title"/>
          <p:cNvSpPr txBox="1"/>
          <p:nvPr/>
        </p:nvSpPr>
        <p:spPr>
          <a:xfrm>
            <a:off x="9753356" y="2788920"/>
            <a:ext cx="1706819" cy="548640"/>
          </a:xfrm>
          <a:prstGeom prst="rect">
            <a:avLst/>
          </a:prstGeom>
          <a:noFill/>
          <a:ln>
            <a:noFill/>
          </a:ln>
        </p:spPr>
        <p:txBody>
          <a:bodyPr wrap="square" lIns="0" tIns="0" rIns="0" bIns="0" rtlCol="0" anchor="t"/>
          <a:lstStyle/>
          <a:p>
            <a:pPr indent="0" marL="0">
              <a:buNone/>
            </a:pPr>
            <a:r>
              <a:rPr lang="en-US" sz="1600" b="1" dirty="0">
                <a:solidFill>
                  <a:schemeClr val="tx1"/>
                </a:solidFill>
                <a:latin typeface="Cambria" pitchFamily="34" charset="0"/>
              </a:rPr>
              <a:t>Summary</a:t>
            </a:r>
            <a:endParaRPr lang="en-US" sz="1600" dirty="0"/>
          </a:p>
        </p:txBody>
      </p:sp>
      <p:sp>
        <p:nvSpPr>
          <p:cNvPr id="47" name="step 5 text"/>
          <p:cNvSpPr txBox="1"/>
          <p:nvPr/>
        </p:nvSpPr>
        <p:spPr>
          <a:xfrm>
            <a:off x="9753356" y="3383280"/>
            <a:ext cx="1706819" cy="9144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Tables, ROC plot and an environment snapshot</a:t>
            </a:r>
            <a:endParaRPr lang="en-US" sz="1300" dirty="0"/>
          </a:p>
        </p:txBody>
      </p:sp>
      <p:sp>
        <p:nvSpPr>
          <p:cNvPr id="48" name="info 1"/>
          <p:cNvSpPr/>
          <p:nvPr/>
        </p:nvSpPr>
        <p:spPr>
          <a:xfrm>
            <a:off x="548640" y="4572000"/>
            <a:ext cx="3576218" cy="1645920"/>
          </a:xfrm>
          <a:prstGeom prst="roundRect">
            <a:avLst>
              <a:gd name="adj" fmla="val 5000"/>
            </a:avLst>
          </a:prstGeom>
          <a:solidFill>
            <a:schemeClr val="bg1"/>
          </a:solidFill>
          <a:ln>
            <a:noFill/>
          </a:ln>
          <a:effectLst>
            <a:outerShdw sx="100000" sy="100000" kx="0" ky="0" algn="bl" rotWithShape="0" blurRad="101600" dist="25400" dir="5400000">
              <a:srgbClr val="12232B">
                <a:alpha val="12000"/>
              </a:srgbClr>
            </a:outerShdw>
          </a:effectLst>
        </p:spPr>
      </p:sp>
      <p:sp>
        <p:nvSpPr>
          <p:cNvPr id="49" name="info 1 value"/>
          <p:cNvSpPr txBox="1"/>
          <p:nvPr/>
        </p:nvSpPr>
        <p:spPr>
          <a:xfrm>
            <a:off x="777240" y="4663440"/>
            <a:ext cx="3119018" cy="457200"/>
          </a:xfrm>
          <a:prstGeom prst="rect">
            <a:avLst/>
          </a:prstGeom>
          <a:noFill/>
          <a:ln>
            <a:noFill/>
          </a:ln>
        </p:spPr>
        <p:txBody>
          <a:bodyPr wrap="square" lIns="0" tIns="0" rIns="0" bIns="0" rtlCol="0" anchor="ctr"/>
          <a:lstStyle/>
          <a:p>
            <a:pPr indent="0" marL="0">
              <a:buNone/>
            </a:pPr>
            <a:r>
              <a:rPr lang="en-US" sz="2600" b="1" dirty="0">
                <a:solidFill>
                  <a:schemeClr val="accent2"/>
                </a:solidFill>
                <a:latin typeface="Cambria" pitchFamily="34" charset="0"/>
              </a:rPr>
              <a:t>SEED = 42</a:t>
            </a:r>
            <a:endParaRPr lang="en-US" sz="2600" dirty="0"/>
          </a:p>
        </p:txBody>
      </p:sp>
      <p:sp>
        <p:nvSpPr>
          <p:cNvPr id="50" name="info 1 text"/>
          <p:cNvSpPr txBox="1"/>
          <p:nvPr/>
        </p:nvSpPr>
        <p:spPr>
          <a:xfrm>
            <a:off x="777240" y="5166360"/>
            <a:ext cx="3119018" cy="96012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Repeat k uses seed 42 + k. Deterministic algorithms are requested and an environment snapshot is saved with every run.</a:t>
            </a:r>
            <a:endParaRPr lang="en-US" sz="1400" dirty="0"/>
          </a:p>
        </p:txBody>
      </p:sp>
      <p:sp>
        <p:nvSpPr>
          <p:cNvPr id="51" name="info 2"/>
          <p:cNvSpPr/>
          <p:nvPr/>
        </p:nvSpPr>
        <p:spPr>
          <a:xfrm>
            <a:off x="4307738" y="4572000"/>
            <a:ext cx="3576218" cy="1645920"/>
          </a:xfrm>
          <a:prstGeom prst="roundRect">
            <a:avLst>
              <a:gd name="adj" fmla="val 5000"/>
            </a:avLst>
          </a:prstGeom>
          <a:solidFill>
            <a:schemeClr val="bg1"/>
          </a:solidFill>
          <a:ln>
            <a:noFill/>
          </a:ln>
          <a:effectLst>
            <a:outerShdw sx="100000" sy="100000" kx="0" ky="0" algn="bl" rotWithShape="0" blurRad="101600" dist="25400" dir="5400000">
              <a:srgbClr val="12232B">
                <a:alpha val="12000"/>
              </a:srgbClr>
            </a:outerShdw>
          </a:effectLst>
        </p:spPr>
      </p:sp>
      <p:sp>
        <p:nvSpPr>
          <p:cNvPr id="52" name="info 2 value"/>
          <p:cNvSpPr txBox="1"/>
          <p:nvPr/>
        </p:nvSpPr>
        <p:spPr>
          <a:xfrm>
            <a:off x="4536338" y="4663440"/>
            <a:ext cx="3119018" cy="457200"/>
          </a:xfrm>
          <a:prstGeom prst="rect">
            <a:avLst/>
          </a:prstGeom>
          <a:noFill/>
          <a:ln>
            <a:noFill/>
          </a:ln>
        </p:spPr>
        <p:txBody>
          <a:bodyPr wrap="square" lIns="0" tIns="0" rIns="0" bIns="0" rtlCol="0" anchor="ctr"/>
          <a:lstStyle/>
          <a:p>
            <a:pPr indent="0" marL="0">
              <a:buNone/>
            </a:pPr>
            <a:r>
              <a:rPr lang="en-US" sz="2600" b="1" dirty="0">
                <a:solidFill>
                  <a:schemeClr val="accent3"/>
                </a:solidFill>
                <a:latin typeface="Cambria" pitchFamily="34" charset="0"/>
              </a:rPr>
              <a:t>RTX 3050, 4 GB</a:t>
            </a:r>
            <a:endParaRPr lang="en-US" sz="2600" dirty="0"/>
          </a:p>
        </p:txBody>
      </p:sp>
      <p:sp>
        <p:nvSpPr>
          <p:cNvPr id="53" name="info 2 text"/>
          <p:cNvSpPr txBox="1"/>
          <p:nvPr/>
        </p:nvSpPr>
        <p:spPr>
          <a:xfrm>
            <a:off x="4536338" y="5166360"/>
            <a:ext cx="3119018" cy="96012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NVIDIA laptop GPU, thermally throttled during long runs; the model needs under 1 GB at batch size 8. An Apple M3 Max was also used.</a:t>
            </a:r>
            <a:endParaRPr lang="en-US" sz="1400" dirty="0"/>
          </a:p>
        </p:txBody>
      </p:sp>
      <p:sp>
        <p:nvSpPr>
          <p:cNvPr id="54" name="info 3"/>
          <p:cNvSpPr/>
          <p:nvPr/>
        </p:nvSpPr>
        <p:spPr>
          <a:xfrm>
            <a:off x="8066836" y="4572000"/>
            <a:ext cx="3576218" cy="1645920"/>
          </a:xfrm>
          <a:prstGeom prst="roundRect">
            <a:avLst>
              <a:gd name="adj" fmla="val 5000"/>
            </a:avLst>
          </a:prstGeom>
          <a:solidFill>
            <a:schemeClr val="bg1"/>
          </a:solidFill>
          <a:ln>
            <a:noFill/>
          </a:ln>
          <a:effectLst>
            <a:outerShdw sx="100000" sy="100000" kx="0" ky="0" algn="bl" rotWithShape="0" blurRad="101600" dist="25400" dir="5400000">
              <a:srgbClr val="12232B">
                <a:alpha val="12000"/>
              </a:srgbClr>
            </a:outerShdw>
          </a:effectLst>
        </p:spPr>
      </p:sp>
      <p:sp>
        <p:nvSpPr>
          <p:cNvPr id="55" name="info 3 value"/>
          <p:cNvSpPr txBox="1"/>
          <p:nvPr/>
        </p:nvSpPr>
        <p:spPr>
          <a:xfrm>
            <a:off x="8295436" y="4663440"/>
            <a:ext cx="3119018" cy="457200"/>
          </a:xfrm>
          <a:prstGeom prst="rect">
            <a:avLst/>
          </a:prstGeom>
          <a:noFill/>
          <a:ln>
            <a:noFill/>
          </a:ln>
        </p:spPr>
        <p:txBody>
          <a:bodyPr wrap="square" lIns="0" tIns="0" rIns="0" bIns="0" rtlCol="0" anchor="ctr"/>
          <a:lstStyle/>
          <a:p>
            <a:pPr indent="0" marL="0">
              <a:buNone/>
            </a:pPr>
            <a:r>
              <a:rPr lang="en-US" sz="2600" b="1" dirty="0">
                <a:solidFill>
                  <a:schemeClr val="accent4"/>
                </a:solidFill>
                <a:latin typeface="Cambria" pitchFamily="34" charset="0"/>
              </a:rPr>
              <a:t>Resumable</a:t>
            </a:r>
            <a:endParaRPr lang="en-US" sz="2600" dirty="0"/>
          </a:p>
        </p:txBody>
      </p:sp>
      <p:sp>
        <p:nvSpPr>
          <p:cNvPr id="56" name="info 3 text"/>
          <p:cNvSpPr txBox="1"/>
          <p:nvPr/>
        </p:nvSpPr>
        <p:spPr>
          <a:xfrm>
            <a:off x="8295436" y="5166360"/>
            <a:ext cx="3119018" cy="960120"/>
          </a:xfrm>
          <a:prstGeom prst="rect">
            <a:avLst/>
          </a:prstGeom>
          <a:noFill/>
          <a:ln>
            <a:noFill/>
          </a:ln>
        </p:spPr>
        <p:txBody>
          <a:bodyPr wrap="square" lIns="0" tIns="0" rIns="0" bIns="0" rtlCol="0" anchor="t"/>
          <a:lstStyle/>
          <a:p>
            <a:pPr indent="0" marL="0">
              <a:buNone/>
            </a:pPr>
            <a:r>
              <a:rPr lang="en-US" sz="1400" dirty="0">
                <a:solidFill>
                  <a:schemeClr val="tx2"/>
                </a:solidFill>
                <a:latin typeface="Calibri" pitchFamily="34" charset="0"/>
              </a:rPr>
              <a:t>Downloads resume and are size-verified, preprocessed subjects are cached, finished training runs are skipped on re-run.</a:t>
            </a:r>
            <a:endParaRPr lang="en-US" sz="14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Ablation: which components matter?</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
        <p:nvSpPr>
          <p:cNvPr id="26" name="result tag"/>
          <p:cNvSpPr/>
          <p:nvPr/>
        </p:nvSpPr>
        <p:spPr>
          <a:xfrm>
            <a:off x="8595360" y="502920"/>
            <a:ext cx="3047695" cy="411480"/>
          </a:xfrm>
          <a:prstGeom prst="roundRect">
            <a:avLst>
              <a:gd name="adj" fmla="val 49412"/>
            </a:avLst>
          </a:prstGeom>
          <a:solidFill>
            <a:schemeClr val="accent3"/>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SYNTHETIC BENCHMARK</a:t>
            </a:r>
            <a:endParaRPr lang="en-US" sz="1400" dirty="0"/>
          </a:p>
        </p:txBody>
      </p:sp>
      <p:sp>
        <p:nvSpPr>
          <p:cNvPr id="27" name="fig card"/>
          <p:cNvSpPr/>
          <p:nvPr/>
        </p:nvSpPr>
        <p:spPr>
          <a:xfrm>
            <a:off x="548640" y="1325880"/>
            <a:ext cx="7772400" cy="3474720"/>
          </a:xfrm>
          <a:prstGeom prst="roundRect">
            <a:avLst>
              <a:gd name="adj" fmla="val 2857"/>
            </a:avLst>
          </a:prstGeom>
          <a:solidFill>
            <a:schemeClr val="bg1"/>
          </a:solidFill>
          <a:ln>
            <a:noFill/>
          </a:ln>
          <a:effectLst>
            <a:outerShdw sx="100000" sy="100000" kx="0" ky="0" algn="bl" rotWithShape="0" blurRad="101600" dist="25400" dir="5400000">
              <a:srgbClr val="12232B">
                <a:alpha val="12000"/>
              </a:srgbClr>
            </a:outerShdw>
          </a:effectLst>
        </p:spPr>
      </p:sp>
      <p:pic>
        <p:nvPicPr>
          <p:cNvPr id="28" name="result figure" descr="Test accuracy by configuration, mean ± sd over seeds; dotted line = chance (33.3%); grey = single-modality references."/>
          <p:cNvPicPr>
            <a:picLocks noChangeAspect="1"/>
          </p:cNvPicPr>
          <p:nvPr/>
        </p:nvPicPr>
        <p:blipFill>
          <a:blip r:embed="rId2"/>
          <a:stretch>
            <a:fillRect/>
          </a:stretch>
        </p:blipFill>
        <p:spPr>
          <a:xfrm>
            <a:off x="1594821" y="1417320"/>
            <a:ext cx="5680037" cy="3017520"/>
          </a:xfrm>
          <a:prstGeom prst="rect">
            <a:avLst/>
          </a:prstGeom>
        </p:spPr>
      </p:pic>
      <p:sp>
        <p:nvSpPr>
          <p:cNvPr id="29" name="fig caption"/>
          <p:cNvSpPr txBox="1"/>
          <p:nvPr/>
        </p:nvSpPr>
        <p:spPr>
          <a:xfrm>
            <a:off x="731520" y="4434840"/>
            <a:ext cx="7406640" cy="32004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Test accuracy by configuration, mean ± sd over seeds; dotted line = chance (33.3%); grey = single-modality references.</a:t>
            </a:r>
            <a:endParaRPr lang="en-US" sz="1200" dirty="0"/>
          </a:p>
        </p:txBody>
      </p:sp>
      <p:sp>
        <p:nvSpPr>
          <p:cNvPr id="30" name="stat1 card"/>
          <p:cNvSpPr/>
          <p:nvPr/>
        </p:nvSpPr>
        <p:spPr>
          <a:xfrm>
            <a:off x="8595360" y="132588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1" name="stat1 value"/>
          <p:cNvSpPr txBox="1"/>
          <p:nvPr/>
        </p:nvSpPr>
        <p:spPr>
          <a:xfrm>
            <a:off x="8778240" y="1408176"/>
            <a:ext cx="2682240" cy="457200"/>
          </a:xfrm>
          <a:prstGeom prst="rect">
            <a:avLst/>
          </a:prstGeom>
          <a:noFill/>
          <a:ln>
            <a:noFill/>
          </a:ln>
        </p:spPr>
        <p:txBody>
          <a:bodyPr wrap="square" lIns="0" tIns="0" rIns="0" bIns="0" rtlCol="0" anchor="ctr"/>
          <a:lstStyle/>
          <a:p>
            <a:pPr indent="0" marL="0">
              <a:buNone/>
            </a:pPr>
            <a:r>
              <a:rPr lang="en-US" sz="2800" b="1" dirty="0">
                <a:solidFill>
                  <a:schemeClr val="accent4"/>
                </a:solidFill>
                <a:latin typeface="Cambria" pitchFamily="34" charset="0"/>
              </a:rPr>
              <a:t>+10.7 pts</a:t>
            </a:r>
            <a:endParaRPr lang="en-US" sz="2800" dirty="0"/>
          </a:p>
        </p:txBody>
      </p:sp>
      <p:sp>
        <p:nvSpPr>
          <p:cNvPr id="32" name="stat1 label"/>
          <p:cNvSpPr txBox="1"/>
          <p:nvPr/>
        </p:nvSpPr>
        <p:spPr>
          <a:xfrm>
            <a:off x="8778240" y="189280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fusion over the better single modality (MRI only), p &lt; 0.001, 5 paired seeds</a:t>
            </a:r>
            <a:endParaRPr lang="en-US" sz="1300" dirty="0"/>
          </a:p>
        </p:txBody>
      </p:sp>
      <p:sp>
        <p:nvSpPr>
          <p:cNvPr id="33" name="stat2 card"/>
          <p:cNvSpPr/>
          <p:nvPr/>
        </p:nvSpPr>
        <p:spPr>
          <a:xfrm>
            <a:off x="8595360" y="251460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4" name="stat2 value"/>
          <p:cNvSpPr txBox="1"/>
          <p:nvPr/>
        </p:nvSpPr>
        <p:spPr>
          <a:xfrm>
            <a:off x="8778240" y="2596896"/>
            <a:ext cx="2682240" cy="457200"/>
          </a:xfrm>
          <a:prstGeom prst="rect">
            <a:avLst/>
          </a:prstGeom>
          <a:noFill/>
          <a:ln>
            <a:noFill/>
          </a:ln>
        </p:spPr>
        <p:txBody>
          <a:bodyPr wrap="square" lIns="0" tIns="0" rIns="0" bIns="0" rtlCol="0" anchor="ctr"/>
          <a:lstStyle/>
          <a:p>
            <a:pPr indent="0" marL="0">
              <a:buNone/>
            </a:pPr>
            <a:r>
              <a:rPr lang="en-US" sz="2800" b="1" dirty="0">
                <a:solidFill>
                  <a:schemeClr val="accent3"/>
                </a:solidFill>
                <a:latin typeface="Cambria" pitchFamily="34" charset="0"/>
              </a:rPr>
              <a:t>78.1%</a:t>
            </a:r>
            <a:endParaRPr lang="en-US" sz="2800" dirty="0"/>
          </a:p>
        </p:txBody>
      </p:sp>
      <p:sp>
        <p:nvSpPr>
          <p:cNvPr id="35" name="stat2 label"/>
          <p:cNvSpPr txBox="1"/>
          <p:nvPr/>
        </p:nvSpPr>
        <p:spPr>
          <a:xfrm>
            <a:off x="8778240" y="308152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CAFN; concatenation 77.5%, element-wise sum 79.6%: not different</a:t>
            </a:r>
            <a:endParaRPr lang="en-US" sz="1300" dirty="0"/>
          </a:p>
        </p:txBody>
      </p:sp>
      <p:sp>
        <p:nvSpPr>
          <p:cNvPr id="36" name="stat3 card"/>
          <p:cNvSpPr/>
          <p:nvPr/>
        </p:nvSpPr>
        <p:spPr>
          <a:xfrm>
            <a:off x="8595360" y="370332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at3 value"/>
          <p:cNvSpPr txBox="1"/>
          <p:nvPr/>
        </p:nvSpPr>
        <p:spPr>
          <a:xfrm>
            <a:off x="8778240" y="3785616"/>
            <a:ext cx="2682240" cy="457200"/>
          </a:xfrm>
          <a:prstGeom prst="rect">
            <a:avLst/>
          </a:prstGeom>
          <a:noFill/>
          <a:ln>
            <a:noFill/>
          </a:ln>
        </p:spPr>
        <p:txBody>
          <a:bodyPr wrap="square" lIns="0" tIns="0" rIns="0" bIns="0" rtlCol="0" anchor="ctr"/>
          <a:lstStyle/>
          <a:p>
            <a:pPr indent="0" marL="0">
              <a:buNone/>
            </a:pPr>
            <a:r>
              <a:rPr lang="en-US" sz="2800" b="1" dirty="0">
                <a:solidFill>
                  <a:schemeClr val="accent2"/>
                </a:solidFill>
                <a:latin typeface="Cambria" pitchFamily="34" charset="0"/>
              </a:rPr>
              <a:t>0 of 7</a:t>
            </a:r>
            <a:endParaRPr lang="en-US" sz="2800" dirty="0"/>
          </a:p>
        </p:txBody>
      </p:sp>
      <p:sp>
        <p:nvSpPr>
          <p:cNvPr id="38" name="stat3 label"/>
          <p:cNvSpPr txBox="1"/>
          <p:nvPr/>
        </p:nvSpPr>
        <p:spPr>
          <a:xfrm>
            <a:off x="8778240" y="427024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component ablations reliably different (range −1.7 to 0.0 points)</a:t>
            </a:r>
            <a:endParaRPr lang="en-US" sz="1300" dirty="0"/>
          </a:p>
        </p:txBody>
      </p:sp>
      <p:sp>
        <p:nvSpPr>
          <p:cNvPr id="39" name="takeaway banner"/>
          <p:cNvSpPr/>
          <p:nvPr/>
        </p:nvSpPr>
        <p:spPr>
          <a:xfrm>
            <a:off x="548640" y="5029200"/>
            <a:ext cx="11094415" cy="1188720"/>
          </a:xfrm>
          <a:prstGeom prst="roundRect">
            <a:avLst>
              <a:gd name="adj" fmla="val 7000"/>
            </a:avLst>
          </a:prstGeom>
          <a:solidFill>
            <a:schemeClr val="tx2"/>
          </a:solidFill>
          <a:ln>
            <a:noFill/>
          </a:ln>
          <a:effectLst>
            <a:outerShdw sx="100000" sy="100000" kx="0" ky="0" algn="bl" rotWithShape="0" blurRad="101600" dist="25400" dir="5400000">
              <a:srgbClr val="12232B">
                <a:alpha val="12000"/>
              </a:srgbClr>
            </a:outerShdw>
          </a:effectLst>
        </p:spPr>
      </p:sp>
      <p:sp>
        <p:nvSpPr>
          <p:cNvPr id="40" name="takeaway banner text"/>
          <p:cNvSpPr txBox="1"/>
          <p:nvPr/>
        </p:nvSpPr>
        <p:spPr>
          <a:xfrm>
            <a:off x="914400" y="5074920"/>
            <a:ext cx="10362895" cy="1097280"/>
          </a:xfrm>
          <a:prstGeom prst="rect">
            <a:avLst/>
          </a:prstGeom>
          <a:noFill/>
          <a:ln>
            <a:noFill/>
          </a:ln>
        </p:spPr>
        <p:txBody>
          <a:bodyPr wrap="square" lIns="0" tIns="0" rIns="0" bIns="0" rtlCol="0" anchor="ctr"/>
          <a:lstStyle/>
          <a:p>
            <a:pPr indent="0" marL="0">
              <a:buNone/>
            </a:pPr>
            <a:r>
              <a:rPr lang="en-US" sz="1700" b="1" dirty="0">
                <a:solidFill>
                  <a:schemeClr val="accent2"/>
                </a:solidFill>
                <a:latin typeface="Cambria" pitchFamily="34" charset="0"/>
              </a:rPr>
              <a:t>Fusion matters; the specific mechanism does not, at this scale. </a:t>
            </a:r>
            <a:r>
              <a:rPr lang="en-US" sz="1700" dirty="0">
                <a:solidFill>
                  <a:schemeClr val="bg1"/>
                </a:solidFill>
                <a:latin typeface="Cambria" pitchFamily="34" charset="0"/>
              </a:rPr>
              <a:t>CAFN is statistically indistinguishable from concatenation and element-wise sum, and removing any single component changes accuracy by at most 1.7 points (MRI 1.0 : VEP 0.3, 4–7 seeds, held-out test set of 120).</a:t>
            </a:r>
            <a:endParaRPr lang="en-US" sz="17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Informativeness sweep</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
        <p:nvSpPr>
          <p:cNvPr id="26" name="result tag"/>
          <p:cNvSpPr/>
          <p:nvPr/>
        </p:nvSpPr>
        <p:spPr>
          <a:xfrm>
            <a:off x="8595360" y="502920"/>
            <a:ext cx="3047695" cy="411480"/>
          </a:xfrm>
          <a:prstGeom prst="roundRect">
            <a:avLst>
              <a:gd name="adj" fmla="val 49412"/>
            </a:avLst>
          </a:prstGeom>
          <a:solidFill>
            <a:schemeClr val="accent3"/>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SYNTHETIC BENCHMARK</a:t>
            </a:r>
            <a:endParaRPr lang="en-US" sz="1400" dirty="0"/>
          </a:p>
        </p:txBody>
      </p:sp>
      <p:sp>
        <p:nvSpPr>
          <p:cNvPr id="27" name="fig card"/>
          <p:cNvSpPr/>
          <p:nvPr/>
        </p:nvSpPr>
        <p:spPr>
          <a:xfrm>
            <a:off x="548640" y="1325880"/>
            <a:ext cx="7772400" cy="3474720"/>
          </a:xfrm>
          <a:prstGeom prst="roundRect">
            <a:avLst>
              <a:gd name="adj" fmla="val 2857"/>
            </a:avLst>
          </a:prstGeom>
          <a:solidFill>
            <a:schemeClr val="bg1"/>
          </a:solidFill>
          <a:ln>
            <a:noFill/>
          </a:ln>
          <a:effectLst>
            <a:outerShdw sx="100000" sy="100000" kx="0" ky="0" algn="bl" rotWithShape="0" blurRad="101600" dist="25400" dir="5400000">
              <a:srgbClr val="12232B">
                <a:alpha val="12000"/>
              </a:srgbClr>
            </a:outerShdw>
          </a:effectLst>
        </p:spPr>
      </p:sp>
      <p:pic>
        <p:nvPicPr>
          <p:cNvPr id="28" name="result figure" descr="Test accuracy vs VEP informativeness (MRI fixed at 1.0); 2 seeds per point, bars = sd. Cat. = concatenation."/>
          <p:cNvPicPr>
            <a:picLocks noChangeAspect="1"/>
          </p:cNvPicPr>
          <p:nvPr/>
        </p:nvPicPr>
        <p:blipFill>
          <a:blip r:embed="rId2"/>
          <a:stretch>
            <a:fillRect/>
          </a:stretch>
        </p:blipFill>
        <p:spPr>
          <a:xfrm>
            <a:off x="2665948" y="1417320"/>
            <a:ext cx="3537782" cy="3017520"/>
          </a:xfrm>
          <a:prstGeom prst="rect">
            <a:avLst/>
          </a:prstGeom>
        </p:spPr>
      </p:pic>
      <p:sp>
        <p:nvSpPr>
          <p:cNvPr id="29" name="fig caption"/>
          <p:cNvSpPr txBox="1"/>
          <p:nvPr/>
        </p:nvSpPr>
        <p:spPr>
          <a:xfrm>
            <a:off x="731520" y="4434840"/>
            <a:ext cx="7406640" cy="32004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Test accuracy vs VEP informativeness (MRI fixed at 1.0); 2 seeds per point, bars = sd. Cat. = concatenation.</a:t>
            </a:r>
            <a:endParaRPr lang="en-US" sz="1200" dirty="0"/>
          </a:p>
        </p:txBody>
      </p:sp>
      <p:sp>
        <p:nvSpPr>
          <p:cNvPr id="30" name="stat1 card"/>
          <p:cNvSpPr/>
          <p:nvPr/>
        </p:nvSpPr>
        <p:spPr>
          <a:xfrm>
            <a:off x="8595360" y="132588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1" name="stat1 value"/>
          <p:cNvSpPr txBox="1"/>
          <p:nvPr/>
        </p:nvSpPr>
        <p:spPr>
          <a:xfrm>
            <a:off x="8778240" y="1408176"/>
            <a:ext cx="2682240" cy="457200"/>
          </a:xfrm>
          <a:prstGeom prst="rect">
            <a:avLst/>
          </a:prstGeom>
          <a:noFill/>
          <a:ln>
            <a:noFill/>
          </a:ln>
        </p:spPr>
        <p:txBody>
          <a:bodyPr wrap="square" lIns="0" tIns="0" rIns="0" bIns="0" rtlCol="0" anchor="ctr"/>
          <a:lstStyle/>
          <a:p>
            <a:pPr indent="0" marL="0">
              <a:buNone/>
            </a:pPr>
            <a:r>
              <a:rPr lang="en-US" sz="2800" b="1" dirty="0">
                <a:solidFill>
                  <a:schemeClr val="accent4"/>
                </a:solidFill>
                <a:latin typeface="Cambria" pitchFamily="34" charset="0"/>
              </a:rPr>
              <a:t>+13 pts</a:t>
            </a:r>
            <a:endParaRPr lang="en-US" sz="2800" dirty="0"/>
          </a:p>
        </p:txBody>
      </p:sp>
      <p:sp>
        <p:nvSpPr>
          <p:cNvPr id="32" name="stat1 label"/>
          <p:cNvSpPr txBox="1"/>
          <p:nvPr/>
        </p:nvSpPr>
        <p:spPr>
          <a:xfrm>
            <a:off x="8778240" y="189280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CAFN over the best single modality at VEP 0.3, the largest gain</a:t>
            </a:r>
            <a:endParaRPr lang="en-US" sz="1300" dirty="0"/>
          </a:p>
        </p:txBody>
      </p:sp>
      <p:sp>
        <p:nvSpPr>
          <p:cNvPr id="33" name="stat2 card"/>
          <p:cNvSpPr/>
          <p:nvPr/>
        </p:nvSpPr>
        <p:spPr>
          <a:xfrm>
            <a:off x="8595360" y="251460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4" name="stat2 value"/>
          <p:cNvSpPr txBox="1"/>
          <p:nvPr/>
        </p:nvSpPr>
        <p:spPr>
          <a:xfrm>
            <a:off x="8778240" y="2596896"/>
            <a:ext cx="2682240" cy="457200"/>
          </a:xfrm>
          <a:prstGeom prst="rect">
            <a:avLst/>
          </a:prstGeom>
          <a:noFill/>
          <a:ln>
            <a:noFill/>
          </a:ln>
        </p:spPr>
        <p:txBody>
          <a:bodyPr wrap="square" lIns="0" tIns="0" rIns="0" bIns="0" rtlCol="0" anchor="ctr"/>
          <a:lstStyle/>
          <a:p>
            <a:pPr indent="0" marL="0">
              <a:buNone/>
            </a:pPr>
            <a:r>
              <a:rPr lang="en-US" sz="2800" b="1" dirty="0">
                <a:solidFill>
                  <a:schemeClr val="accent3"/>
                </a:solidFill>
                <a:latin typeface="Cambria" pitchFamily="34" charset="0"/>
              </a:rPr>
              <a:t>+1 pt</a:t>
            </a:r>
            <a:endParaRPr lang="en-US" sz="2800" dirty="0"/>
          </a:p>
        </p:txBody>
      </p:sp>
      <p:sp>
        <p:nvSpPr>
          <p:cNvPr id="35" name="stat2 label"/>
          <p:cNvSpPr txBox="1"/>
          <p:nvPr/>
        </p:nvSpPr>
        <p:spPr>
          <a:xfrm>
            <a:off x="8778240" y="308152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at VEP 1.0: fusion converges to the dominant modality</a:t>
            </a:r>
            <a:endParaRPr lang="en-US" sz="1300" dirty="0"/>
          </a:p>
        </p:txBody>
      </p:sp>
      <p:sp>
        <p:nvSpPr>
          <p:cNvPr id="36" name="stat3 card"/>
          <p:cNvSpPr/>
          <p:nvPr/>
        </p:nvSpPr>
        <p:spPr>
          <a:xfrm>
            <a:off x="8595360" y="370332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at3 value"/>
          <p:cNvSpPr txBox="1"/>
          <p:nvPr/>
        </p:nvSpPr>
        <p:spPr>
          <a:xfrm>
            <a:off x="8778240" y="3785616"/>
            <a:ext cx="2682240" cy="457200"/>
          </a:xfrm>
          <a:prstGeom prst="rect">
            <a:avLst/>
          </a:prstGeom>
          <a:noFill/>
          <a:ln>
            <a:noFill/>
          </a:ln>
        </p:spPr>
        <p:txBody>
          <a:bodyPr wrap="square" lIns="0" tIns="0" rIns="0" bIns="0" rtlCol="0" anchor="ctr"/>
          <a:lstStyle/>
          <a:p>
            <a:pPr indent="0" marL="0">
              <a:buNone/>
            </a:pPr>
            <a:r>
              <a:rPr lang="en-US" sz="2800" b="1" dirty="0">
                <a:solidFill>
                  <a:schemeClr val="accent2"/>
                </a:solidFill>
                <a:latin typeface="Cambria" pitchFamily="34" charset="0"/>
              </a:rPr>
              <a:t>CAFN ≈ concat.</a:t>
            </a:r>
            <a:endParaRPr lang="en-US" sz="2800" dirty="0"/>
          </a:p>
        </p:txBody>
      </p:sp>
      <p:sp>
        <p:nvSpPr>
          <p:cNvPr id="38" name="stat3 label"/>
          <p:cNvSpPr txBox="1"/>
          <p:nvPr/>
        </p:nvSpPr>
        <p:spPr>
          <a:xfrm>
            <a:off x="8778240" y="427024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the two track each other at every point; 2 seeds: trends only</a:t>
            </a:r>
            <a:endParaRPr lang="en-US" sz="1300" dirty="0"/>
          </a:p>
        </p:txBody>
      </p:sp>
      <p:sp>
        <p:nvSpPr>
          <p:cNvPr id="39" name="takeaway banner"/>
          <p:cNvSpPr/>
          <p:nvPr/>
        </p:nvSpPr>
        <p:spPr>
          <a:xfrm>
            <a:off x="548640" y="5029200"/>
            <a:ext cx="11094415" cy="1188720"/>
          </a:xfrm>
          <a:prstGeom prst="roundRect">
            <a:avLst>
              <a:gd name="adj" fmla="val 7000"/>
            </a:avLst>
          </a:prstGeom>
          <a:solidFill>
            <a:schemeClr val="tx2"/>
          </a:solidFill>
          <a:ln>
            <a:noFill/>
          </a:ln>
          <a:effectLst>
            <a:outerShdw sx="100000" sy="100000" kx="0" ky="0" algn="bl" rotWithShape="0" blurRad="101600" dist="25400" dir="5400000">
              <a:srgbClr val="12232B">
                <a:alpha val="12000"/>
              </a:srgbClr>
            </a:outerShdw>
          </a:effectLst>
        </p:spPr>
      </p:sp>
      <p:sp>
        <p:nvSpPr>
          <p:cNvPr id="40" name="takeaway banner text"/>
          <p:cNvSpPr txBox="1"/>
          <p:nvPr/>
        </p:nvSpPr>
        <p:spPr>
          <a:xfrm>
            <a:off x="914400" y="5074920"/>
            <a:ext cx="10362895" cy="1097280"/>
          </a:xfrm>
          <a:prstGeom prst="rect">
            <a:avLst/>
          </a:prstGeom>
          <a:noFill/>
          <a:ln>
            <a:noFill/>
          </a:ln>
        </p:spPr>
        <p:txBody>
          <a:bodyPr wrap="square" lIns="0" tIns="0" rIns="0" bIns="0" rtlCol="0" anchor="ctr"/>
          <a:lstStyle/>
          <a:p>
            <a:pPr indent="0" marL="0">
              <a:buNone/>
            </a:pPr>
            <a:r>
              <a:rPr lang="en-US" sz="1700" b="1" dirty="0">
                <a:solidFill>
                  <a:schemeClr val="accent2"/>
                </a:solidFill>
                <a:latin typeface="Cambria" pitchFamily="34" charset="0"/>
              </a:rPr>
              <a:t>Fusion never hurt in this sweep. </a:t>
            </a:r>
            <a:r>
              <a:rPr lang="en-US" sz="1700" dirty="0">
                <a:solidFill>
                  <a:schemeClr val="bg1"/>
                </a:solidFill>
                <a:latin typeface="Cambria" pitchFamily="34" charset="0"/>
              </a:rPr>
              <a:t>It helps most when both streams carry independent evidence and converges to the dominant stream otherwise; CAFN tracks concatenation throughout. With only 2 seeds per point the curves are a trend, not precise estimates.</a:t>
            </a:r>
            <a:endParaRPr lang="en-US" sz="1700" dirty="0"/>
          </a:p>
        </p:txBody>
      </p:sp>
      <p:sp>
        <p:nvSpPr>
          <p:cNvPr id="41" name="gain table header"/>
          <p:cNvSpPr txBox="1"/>
          <p:nvPr/>
        </p:nvSpPr>
        <p:spPr>
          <a:xfrm>
            <a:off x="6386611" y="1417320"/>
            <a:ext cx="1797268" cy="420000"/>
          </a:xfrm>
          <a:prstGeom prst="rect">
            <a:avLst/>
          </a:prstGeom>
          <a:noFill/>
          <a:ln>
            <a:noFill/>
          </a:ln>
        </p:spPr>
        <p:txBody>
          <a:bodyPr wrap="square" lIns="0" tIns="0" rIns="0" bIns="0" rtlCol="0" anchor="ctr"/>
          <a:lstStyle/>
          <a:p>
            <a:pPr indent="0" marL="0">
              <a:buNone/>
            </a:pPr>
            <a:r>
              <a:rPr lang="en-US" sz="1400" b="1" dirty="0">
                <a:solidFill>
                  <a:schemeClr val="tx1"/>
                </a:solidFill>
                <a:latin typeface="Cambria" pitchFamily="34" charset="0"/>
              </a:rPr>
              <a:t>Gain over best single modality (points)</a:t>
            </a:r>
            <a:endParaRPr lang="en-US" sz="1400" dirty="0"/>
          </a:p>
        </p:txBody>
      </p:sp>
      <p:graphicFrame>
        <p:nvGraphicFramePr>
          <p:cNvPr id="42" name="gain table"/>
          <p:cNvGraphicFramePr>
            <a:graphicFrameLocks noGrp="1"/>
          </p:cNvGraphicFramePr>
          <p:nvPr/>
        </p:nvGraphicFramePr>
        <p:xfrm>
          <a:off x="6386611" y="1874520"/>
          <a:ext cx="1797268" cy="2011680"/>
        </p:xfrm>
        <a:graphic>
          <a:graphicData uri="http://schemas.openxmlformats.org/drawingml/2006/table">
            <a:tbl>
              <a:tblPr/>
              <a:tblGrid>
                <a:gridCol w="611071"/>
                <a:gridCol w="593098"/>
                <a:gridCol w="593098"/>
              </a:tblGrid>
              <a:tr h="365760">
                <a:tc>
                  <a:txBody>
                    <a:bodyPr/>
                    <a:lstStyle/>
                    <a:p>
                      <a:pPr algn="ctr" indent="0" marL="0">
                        <a:buNone/>
                      </a:pPr>
                      <a:r>
                        <a:rPr lang="en-US" sz="1200" b="1" dirty="0">
                          <a:solidFill>
                            <a:schemeClr val="bg1"/>
                          </a:solidFill>
                          <a:latin typeface="Calibri" pitchFamily="34" charset="0"/>
                        </a:rPr>
                        <a:t>VEP</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latin typeface="Calibri" pitchFamily="34" charset="0"/>
                        </a:rPr>
                        <a:t>CAFN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200" b="1" dirty="0">
                          <a:solidFill>
                            <a:schemeClr val="bg1"/>
                          </a:solidFill>
                          <a:latin typeface="Calibri" pitchFamily="34" charset="0"/>
                        </a:rPr>
                        <a:t>Cat.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411480">
                <a:tc>
                  <a:txBody>
                    <a:bodyPr/>
                    <a:lstStyle/>
                    <a:p>
                      <a:pPr algn="ctr" indent="0" marL="0">
                        <a:buNone/>
                      </a:pPr>
                      <a:r>
                        <a:rPr lang="en-US" sz="1400" dirty="0">
                          <a:solidFill>
                            <a:schemeClr val="tx1"/>
                          </a:solidFill>
                          <a:latin typeface="Calibri" pitchFamily="34" charset="0"/>
                        </a:rPr>
                        <a:t>0.15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algn="ctr" indent="0" marL="0">
                        <a:buNone/>
                      </a:pPr>
                      <a:r>
                        <a:rPr lang="en-US" sz="1400" dirty="0">
                          <a:solidFill>
                            <a:schemeClr val="tx1"/>
                          </a:solidFill>
                          <a:latin typeface="Calibri" pitchFamily="34" charset="0"/>
                        </a:rPr>
                        <a:t>0.3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+13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+12</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11480">
                <a:tc>
                  <a:txBody>
                    <a:bodyPr/>
                    <a:lstStyle/>
                    <a:p>
                      <a:pPr algn="ctr" indent="0" marL="0">
                        <a:buNone/>
                      </a:pPr>
                      <a:r>
                        <a:rPr lang="en-US" sz="1400" dirty="0">
                          <a:solidFill>
                            <a:schemeClr val="tx1"/>
                          </a:solidFill>
                          <a:latin typeface="Calibri" pitchFamily="34" charset="0"/>
                        </a:rPr>
                        <a:t>0.5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algn="ctr" indent="0" marL="0">
                        <a:buNone/>
                      </a:pPr>
                      <a:r>
                        <a:rPr lang="en-US" sz="1400" dirty="0">
                          <a:solidFill>
                            <a:schemeClr val="tx1"/>
                          </a:solidFill>
                          <a:latin typeface="Calibri" pitchFamily="34" charset="0"/>
                        </a:rPr>
                        <a:t>1.0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+1</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+2</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Neural vs classical, real cohorts</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
        <p:nvSpPr>
          <p:cNvPr id="26" name="result tag"/>
          <p:cNvSpPr/>
          <p:nvPr/>
        </p:nvSpPr>
        <p:spPr>
          <a:xfrm>
            <a:off x="8595360" y="502920"/>
            <a:ext cx="3047695" cy="411480"/>
          </a:xfrm>
          <a:prstGeom prst="roundRect">
            <a:avLst>
              <a:gd name="adj" fmla="val 49412"/>
            </a:avLst>
          </a:prstGeom>
          <a:solidFill>
            <a:schemeClr val="accent4"/>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REAL COHORTS · 95 subjects</a:t>
            </a:r>
            <a:endParaRPr lang="en-US" sz="1400" dirty="0"/>
          </a:p>
        </p:txBody>
      </p:sp>
      <p:sp>
        <p:nvSpPr>
          <p:cNvPr id="27" name="fig card"/>
          <p:cNvSpPr/>
          <p:nvPr/>
        </p:nvSpPr>
        <p:spPr>
          <a:xfrm>
            <a:off x="548640" y="1325880"/>
            <a:ext cx="7772400" cy="3474720"/>
          </a:xfrm>
          <a:prstGeom prst="roundRect">
            <a:avLst>
              <a:gd name="adj" fmla="val 2857"/>
            </a:avLst>
          </a:prstGeom>
          <a:solidFill>
            <a:schemeClr val="bg1"/>
          </a:solidFill>
          <a:ln>
            <a:noFill/>
          </a:ln>
          <a:effectLst>
            <a:outerShdw sx="100000" sy="100000" kx="0" ky="0" algn="bl" rotWithShape="0" blurRad="101600" dist="25400" dir="5400000">
              <a:srgbClr val="12232B">
                <a:alpha val="12000"/>
              </a:srgbClr>
            </a:outerShdw>
          </a:effectLst>
        </p:spPr>
      </p:sp>
      <p:pic>
        <p:nvPicPr>
          <p:cNvPr id="28" name="result figure" descr="Out-of-fold ROC-AUC (mean over repeats), 95% bootstrap CI; dotted = chance. Grey classical, blue neural."/>
          <p:cNvPicPr>
            <a:picLocks noChangeAspect="1"/>
          </p:cNvPicPr>
          <p:nvPr/>
        </p:nvPicPr>
        <p:blipFill>
          <a:blip r:embed="rId2"/>
          <a:stretch>
            <a:fillRect/>
          </a:stretch>
        </p:blipFill>
        <p:spPr>
          <a:xfrm>
            <a:off x="1216152" y="1417320"/>
            <a:ext cx="6437376" cy="3017520"/>
          </a:xfrm>
          <a:prstGeom prst="rect">
            <a:avLst/>
          </a:prstGeom>
        </p:spPr>
      </p:pic>
      <p:sp>
        <p:nvSpPr>
          <p:cNvPr id="29" name="fig caption"/>
          <p:cNvSpPr txBox="1"/>
          <p:nvPr/>
        </p:nvSpPr>
        <p:spPr>
          <a:xfrm>
            <a:off x="731520" y="4434840"/>
            <a:ext cx="7406640" cy="32004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Out-of-fold ROC-AUC (mean over repeats), 95% bootstrap CI; dotted = chance. Grey classical, blue neural.</a:t>
            </a:r>
            <a:endParaRPr lang="en-US" sz="1200" dirty="0"/>
          </a:p>
        </p:txBody>
      </p:sp>
      <p:sp>
        <p:nvSpPr>
          <p:cNvPr id="30" name="stat1 card"/>
          <p:cNvSpPr/>
          <p:nvPr/>
        </p:nvSpPr>
        <p:spPr>
          <a:xfrm>
            <a:off x="8595360" y="132588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1" name="stat1 value"/>
          <p:cNvSpPr txBox="1"/>
          <p:nvPr/>
        </p:nvSpPr>
        <p:spPr>
          <a:xfrm>
            <a:off x="8778240" y="1408176"/>
            <a:ext cx="2682240" cy="457200"/>
          </a:xfrm>
          <a:prstGeom prst="rect">
            <a:avLst/>
          </a:prstGeom>
          <a:noFill/>
          <a:ln>
            <a:noFill/>
          </a:ln>
        </p:spPr>
        <p:txBody>
          <a:bodyPr wrap="square" lIns="0" tIns="0" rIns="0" bIns="0" rtlCol="0" anchor="ctr"/>
          <a:lstStyle/>
          <a:p>
            <a:pPr indent="0" marL="0">
              <a:buNone/>
            </a:pPr>
            <a:r>
              <a:rPr lang="en-US" sz="2800" b="1" dirty="0">
                <a:solidFill>
                  <a:schemeClr val="accent4"/>
                </a:solidFill>
                <a:latin typeface="Cambria" pitchFamily="34" charset="0"/>
              </a:rPr>
              <a:t>0.62</a:t>
            </a:r>
            <a:endParaRPr lang="en-US" sz="2800" dirty="0"/>
          </a:p>
        </p:txBody>
      </p:sp>
      <p:sp>
        <p:nvSpPr>
          <p:cNvPr id="32" name="stat1 label"/>
          <p:cNvSpPr txBox="1"/>
          <p:nvPr/>
        </p:nvSpPr>
        <p:spPr>
          <a:xfrm>
            <a:off x="8778240" y="189280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spectrum-only network AUC, CI [0.50, 0.72]: the best model</a:t>
            </a:r>
            <a:endParaRPr lang="en-US" sz="1300" dirty="0"/>
          </a:p>
        </p:txBody>
      </p:sp>
      <p:sp>
        <p:nvSpPr>
          <p:cNvPr id="33" name="stat2 card"/>
          <p:cNvSpPr/>
          <p:nvPr/>
        </p:nvSpPr>
        <p:spPr>
          <a:xfrm>
            <a:off x="8595360" y="251460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4" name="stat2 value"/>
          <p:cNvSpPr txBox="1"/>
          <p:nvPr/>
        </p:nvSpPr>
        <p:spPr>
          <a:xfrm>
            <a:off x="8778240" y="2596896"/>
            <a:ext cx="2682240" cy="457200"/>
          </a:xfrm>
          <a:prstGeom prst="rect">
            <a:avLst/>
          </a:prstGeom>
          <a:noFill/>
          <a:ln>
            <a:noFill/>
          </a:ln>
        </p:spPr>
        <p:txBody>
          <a:bodyPr wrap="square" lIns="0" tIns="0" rIns="0" bIns="0" rtlCol="0" anchor="ctr"/>
          <a:lstStyle/>
          <a:p>
            <a:pPr indent="0" marL="0">
              <a:buNone/>
            </a:pPr>
            <a:r>
              <a:rPr lang="en-US" sz="2800" b="1" dirty="0">
                <a:solidFill>
                  <a:schemeClr val="accent6"/>
                </a:solidFill>
                <a:latin typeface="Cambria" pitchFamily="34" charset="0"/>
              </a:rPr>
              <a:t>≈ 0.5</a:t>
            </a:r>
            <a:endParaRPr lang="en-US" sz="2800" dirty="0"/>
          </a:p>
        </p:txBody>
      </p:sp>
      <p:sp>
        <p:nvSpPr>
          <p:cNvPr id="35" name="stat2 label"/>
          <p:cNvSpPr txBox="1"/>
          <p:nvPr/>
        </p:nvSpPr>
        <p:spPr>
          <a:xfrm>
            <a:off x="8778240" y="308152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CAFN 0.51, concatenation 0.53, MRI-only 0.48: at chance</a:t>
            </a:r>
            <a:endParaRPr lang="en-US" sz="1300" dirty="0"/>
          </a:p>
        </p:txBody>
      </p:sp>
      <p:sp>
        <p:nvSpPr>
          <p:cNvPr id="36" name="stat3 card"/>
          <p:cNvSpPr/>
          <p:nvPr/>
        </p:nvSpPr>
        <p:spPr>
          <a:xfrm>
            <a:off x="8595360" y="370332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at3 value"/>
          <p:cNvSpPr txBox="1"/>
          <p:nvPr/>
        </p:nvSpPr>
        <p:spPr>
          <a:xfrm>
            <a:off x="8778240" y="3785616"/>
            <a:ext cx="2682240" cy="457200"/>
          </a:xfrm>
          <a:prstGeom prst="rect">
            <a:avLst/>
          </a:prstGeom>
          <a:noFill/>
          <a:ln>
            <a:noFill/>
          </a:ln>
        </p:spPr>
        <p:txBody>
          <a:bodyPr wrap="square" lIns="0" tIns="0" rIns="0" bIns="0" rtlCol="0" anchor="ctr"/>
          <a:lstStyle/>
          <a:p>
            <a:pPr indent="0" marL="0">
              <a:buNone/>
            </a:pPr>
            <a:r>
              <a:rPr lang="en-US" sz="2800" b="1" dirty="0">
                <a:solidFill>
                  <a:schemeClr val="accent3"/>
                </a:solidFill>
                <a:latin typeface="Cambria" pitchFamily="34" charset="0"/>
              </a:rPr>
              <a:t>0.567</a:t>
            </a:r>
            <a:endParaRPr lang="en-US" sz="2800" dirty="0"/>
          </a:p>
        </p:txBody>
      </p:sp>
      <p:sp>
        <p:nvSpPr>
          <p:cNvPr id="38" name="stat3 label"/>
          <p:cNvSpPr txBox="1"/>
          <p:nvPr/>
        </p:nvSpPr>
        <p:spPr>
          <a:xfrm>
            <a:off x="8778240" y="427024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band-power LR AUC; p = 0.005, Bonferroni 0.025; CI includes 0.5</a:t>
            </a:r>
            <a:endParaRPr lang="en-US" sz="1300" dirty="0"/>
          </a:p>
        </p:txBody>
      </p:sp>
      <p:sp>
        <p:nvSpPr>
          <p:cNvPr id="39" name="takeaway banner"/>
          <p:cNvSpPr/>
          <p:nvPr/>
        </p:nvSpPr>
        <p:spPr>
          <a:xfrm>
            <a:off x="548640" y="5029200"/>
            <a:ext cx="11094415" cy="1188720"/>
          </a:xfrm>
          <a:prstGeom prst="roundRect">
            <a:avLst>
              <a:gd name="adj" fmla="val 7000"/>
            </a:avLst>
          </a:prstGeom>
          <a:solidFill>
            <a:schemeClr val="tx2"/>
          </a:solidFill>
          <a:ln>
            <a:noFill/>
          </a:ln>
          <a:effectLst>
            <a:outerShdw sx="100000" sy="100000" kx="0" ky="0" algn="bl" rotWithShape="0" blurRad="101600" dist="25400" dir="5400000">
              <a:srgbClr val="12232B">
                <a:alpha val="12000"/>
              </a:srgbClr>
            </a:outerShdw>
          </a:effectLst>
        </p:spPr>
      </p:sp>
      <p:sp>
        <p:nvSpPr>
          <p:cNvPr id="40" name="takeaway banner text"/>
          <p:cNvSpPr txBox="1"/>
          <p:nvPr/>
        </p:nvSpPr>
        <p:spPr>
          <a:xfrm>
            <a:off x="914400" y="5074920"/>
            <a:ext cx="10362895" cy="1097280"/>
          </a:xfrm>
          <a:prstGeom prst="rect">
            <a:avLst/>
          </a:prstGeom>
          <a:noFill/>
          <a:ln>
            <a:noFill/>
          </a:ln>
        </p:spPr>
        <p:txBody>
          <a:bodyPr wrap="square" lIns="0" tIns="0" rIns="0" bIns="0" rtlCol="0" anchor="ctr"/>
          <a:lstStyle/>
          <a:p>
            <a:pPr indent="0" marL="0">
              <a:buNone/>
            </a:pPr>
            <a:r>
              <a:rPr lang="en-US" sz="1700" b="1" dirty="0">
                <a:solidFill>
                  <a:schemeClr val="accent2"/>
                </a:solidFill>
                <a:latin typeface="Cambria" pitchFamily="34" charset="0"/>
              </a:rPr>
              <a:t>Weak at best. </a:t>
            </a:r>
            <a:r>
              <a:rPr lang="en-US" sz="1700" dirty="0">
                <a:solidFill>
                  <a:schemeClr val="bg1"/>
                </a:solidFill>
                <a:latin typeface="Cambria" pitchFamily="34" charset="0"/>
              </a:rPr>
              <a:t>Adding the MRI stream did not help on these cohorts and the fused networks are at chance; only a weak spectral signal remains, and its evidence is at most suggestive. Neural models were cross-validated once, with no permutation test.</a:t>
            </a:r>
            <a:endParaRPr lang="en-US" sz="17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The model memorises</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
        <p:nvSpPr>
          <p:cNvPr id="26" name="result tag"/>
          <p:cNvSpPr/>
          <p:nvPr/>
        </p:nvSpPr>
        <p:spPr>
          <a:xfrm>
            <a:off x="8595360" y="502920"/>
            <a:ext cx="3047695" cy="411480"/>
          </a:xfrm>
          <a:prstGeom prst="roundRect">
            <a:avLst>
              <a:gd name="adj" fmla="val 49412"/>
            </a:avLst>
          </a:prstGeom>
          <a:solidFill>
            <a:schemeClr val="accent4"/>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REAL COHORTS · pooled CAFN</a:t>
            </a:r>
            <a:endParaRPr lang="en-US" sz="1400" dirty="0"/>
          </a:p>
        </p:txBody>
      </p:sp>
      <p:sp>
        <p:nvSpPr>
          <p:cNvPr id="27" name="fig card"/>
          <p:cNvSpPr/>
          <p:nvPr/>
        </p:nvSpPr>
        <p:spPr>
          <a:xfrm>
            <a:off x="548640" y="1325880"/>
            <a:ext cx="7772400" cy="3474720"/>
          </a:xfrm>
          <a:prstGeom prst="roundRect">
            <a:avLst>
              <a:gd name="adj" fmla="val 2857"/>
            </a:avLst>
          </a:prstGeom>
          <a:solidFill>
            <a:schemeClr val="bg1"/>
          </a:solidFill>
          <a:ln>
            <a:noFill/>
          </a:ln>
          <a:effectLst>
            <a:outerShdw sx="100000" sy="100000" kx="0" ky="0" algn="bl" rotWithShape="0" blurRad="101600" dist="25400" dir="5400000">
              <a:srgbClr val="12232B">
                <a:alpha val="12000"/>
              </a:srgbClr>
            </a:outerShdw>
          </a:effectLst>
        </p:spPr>
      </p:sp>
      <p:pic>
        <p:nvPicPr>
          <p:cNvPr id="28" name="result figure" descr="Pooled CAFN on the real cohorts: training loss and accuracy vs validation (loss left, accuracy right; dotted line = chance)."/>
          <p:cNvPicPr>
            <a:picLocks noChangeAspect="1"/>
          </p:cNvPicPr>
          <p:nvPr/>
        </p:nvPicPr>
        <p:blipFill>
          <a:blip r:embed="rId2"/>
          <a:stretch>
            <a:fillRect/>
          </a:stretch>
        </p:blipFill>
        <p:spPr>
          <a:xfrm>
            <a:off x="640080" y="1417320"/>
            <a:ext cx="7589520" cy="2964656"/>
          </a:xfrm>
          <a:prstGeom prst="rect">
            <a:avLst/>
          </a:prstGeom>
        </p:spPr>
      </p:pic>
      <p:sp>
        <p:nvSpPr>
          <p:cNvPr id="29" name="fig caption"/>
          <p:cNvSpPr txBox="1"/>
          <p:nvPr/>
        </p:nvSpPr>
        <p:spPr>
          <a:xfrm>
            <a:off x="731520" y="4434840"/>
            <a:ext cx="7406640" cy="320040"/>
          </a:xfrm>
          <a:prstGeom prst="rect">
            <a:avLst/>
          </a:prstGeom>
          <a:noFill/>
          <a:ln>
            <a:noFill/>
          </a:ln>
        </p:spPr>
        <p:txBody>
          <a:bodyPr wrap="square" lIns="0" tIns="0" rIns="0" bIns="0" rtlCol="0" anchor="ctr"/>
          <a:lstStyle/>
          <a:p>
            <a:pPr indent="0" marL="0">
              <a:buNone/>
            </a:pPr>
            <a:r>
              <a:rPr lang="en-US" sz="1200" i="1" dirty="0">
                <a:solidFill>
                  <a:schemeClr val="tx2"/>
                </a:solidFill>
                <a:latin typeface="Calibri" pitchFamily="34" charset="0"/>
              </a:rPr>
              <a:t>Pooled CAFN on the real cohorts: training loss and accuracy vs validation (loss left, accuracy right; dotted line = chance).</a:t>
            </a:r>
            <a:endParaRPr lang="en-US" sz="1200" dirty="0"/>
          </a:p>
        </p:txBody>
      </p:sp>
      <p:sp>
        <p:nvSpPr>
          <p:cNvPr id="30" name="stat1 card"/>
          <p:cNvSpPr/>
          <p:nvPr/>
        </p:nvSpPr>
        <p:spPr>
          <a:xfrm>
            <a:off x="8595360" y="132588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1" name="stat1 value"/>
          <p:cNvSpPr txBox="1"/>
          <p:nvPr/>
        </p:nvSpPr>
        <p:spPr>
          <a:xfrm>
            <a:off x="8778240" y="1408176"/>
            <a:ext cx="2682240" cy="457200"/>
          </a:xfrm>
          <a:prstGeom prst="rect">
            <a:avLst/>
          </a:prstGeom>
          <a:noFill/>
          <a:ln>
            <a:noFill/>
          </a:ln>
        </p:spPr>
        <p:txBody>
          <a:bodyPr wrap="square" lIns="0" tIns="0" rIns="0" bIns="0" rtlCol="0" anchor="ctr"/>
          <a:lstStyle/>
          <a:p>
            <a:pPr indent="0" marL="0">
              <a:buNone/>
            </a:pPr>
            <a:r>
              <a:rPr lang="en-US" sz="2800" b="1" dirty="0">
                <a:solidFill>
                  <a:schemeClr val="accent6"/>
                </a:solidFill>
                <a:latin typeface="Cambria" pitchFamily="34" charset="0"/>
              </a:rPr>
              <a:t>→ 0</a:t>
            </a:r>
            <a:endParaRPr lang="en-US" sz="2800" dirty="0"/>
          </a:p>
        </p:txBody>
      </p:sp>
      <p:sp>
        <p:nvSpPr>
          <p:cNvPr id="32" name="stat1 label"/>
          <p:cNvSpPr txBox="1"/>
          <p:nvPr/>
        </p:nvSpPr>
        <p:spPr>
          <a:xfrm>
            <a:off x="8778240" y="189280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training loss within about 30 epochs</a:t>
            </a:r>
            <a:endParaRPr lang="en-US" sz="1300" dirty="0"/>
          </a:p>
        </p:txBody>
      </p:sp>
      <p:sp>
        <p:nvSpPr>
          <p:cNvPr id="33" name="stat2 card"/>
          <p:cNvSpPr/>
          <p:nvPr/>
        </p:nvSpPr>
        <p:spPr>
          <a:xfrm>
            <a:off x="8595360" y="251460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4" name="stat2 value"/>
          <p:cNvSpPr txBox="1"/>
          <p:nvPr/>
        </p:nvSpPr>
        <p:spPr>
          <a:xfrm>
            <a:off x="8778240" y="2596896"/>
            <a:ext cx="2682240" cy="457200"/>
          </a:xfrm>
          <a:prstGeom prst="rect">
            <a:avLst/>
          </a:prstGeom>
          <a:noFill/>
          <a:ln>
            <a:noFill/>
          </a:ln>
        </p:spPr>
        <p:txBody>
          <a:bodyPr wrap="square" lIns="0" tIns="0" rIns="0" bIns="0" rtlCol="0" anchor="ctr"/>
          <a:lstStyle/>
          <a:p>
            <a:pPr indent="0" marL="0">
              <a:buNone/>
            </a:pPr>
            <a:r>
              <a:rPr lang="en-US" sz="2800" b="1" dirty="0">
                <a:solidFill>
                  <a:schemeClr val="accent2"/>
                </a:solidFill>
                <a:latin typeface="Cambria" pitchFamily="34" charset="0"/>
              </a:rPr>
              <a:t>≈ 0.5</a:t>
            </a:r>
            <a:endParaRPr lang="en-US" sz="2800" dirty="0"/>
          </a:p>
        </p:txBody>
      </p:sp>
      <p:sp>
        <p:nvSpPr>
          <p:cNvPr id="35" name="stat2 label"/>
          <p:cNvSpPr txBox="1"/>
          <p:nvPr/>
        </p:nvSpPr>
        <p:spPr>
          <a:xfrm>
            <a:off x="8778240" y="308152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validation accuracy throughout: chance level</a:t>
            </a:r>
            <a:endParaRPr lang="en-US" sz="1300" dirty="0"/>
          </a:p>
        </p:txBody>
      </p:sp>
      <p:sp>
        <p:nvSpPr>
          <p:cNvPr id="36" name="stat3 card"/>
          <p:cNvSpPr/>
          <p:nvPr/>
        </p:nvSpPr>
        <p:spPr>
          <a:xfrm>
            <a:off x="8595360" y="3703320"/>
            <a:ext cx="3047695" cy="1097280"/>
          </a:xfrm>
          <a:prstGeom prst="roundRect">
            <a:avLst>
              <a:gd name="adj" fmla="val 8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stat3 value"/>
          <p:cNvSpPr txBox="1"/>
          <p:nvPr/>
        </p:nvSpPr>
        <p:spPr>
          <a:xfrm>
            <a:off x="8778240" y="3785616"/>
            <a:ext cx="2682240" cy="457200"/>
          </a:xfrm>
          <a:prstGeom prst="rect">
            <a:avLst/>
          </a:prstGeom>
          <a:noFill/>
          <a:ln>
            <a:noFill/>
          </a:ln>
        </p:spPr>
        <p:txBody>
          <a:bodyPr wrap="square" lIns="0" tIns="0" rIns="0" bIns="0" rtlCol="0" anchor="ctr"/>
          <a:lstStyle/>
          <a:p>
            <a:pPr indent="0" marL="0">
              <a:buNone/>
            </a:pPr>
            <a:r>
              <a:rPr lang="en-US" sz="2800" b="1" dirty="0">
                <a:solidFill>
                  <a:schemeClr val="accent3"/>
                </a:solidFill>
                <a:latin typeface="Cambria" pitchFamily="34" charset="0"/>
              </a:rPr>
              <a:t>~67</a:t>
            </a:r>
            <a:endParaRPr lang="en-US" sz="2800" dirty="0"/>
          </a:p>
        </p:txBody>
      </p:sp>
      <p:sp>
        <p:nvSpPr>
          <p:cNvPr id="38" name="stat3 label"/>
          <p:cNvSpPr txBox="1"/>
          <p:nvPr/>
        </p:nvSpPr>
        <p:spPr>
          <a:xfrm>
            <a:off x="8778240" y="4270248"/>
            <a:ext cx="2682240" cy="48000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training subjects for 1.96 M parameters</a:t>
            </a:r>
            <a:endParaRPr lang="en-US" sz="1300" dirty="0"/>
          </a:p>
        </p:txBody>
      </p:sp>
      <p:sp>
        <p:nvSpPr>
          <p:cNvPr id="39" name="takeaway banner"/>
          <p:cNvSpPr/>
          <p:nvPr/>
        </p:nvSpPr>
        <p:spPr>
          <a:xfrm>
            <a:off x="548640" y="5029200"/>
            <a:ext cx="11094415" cy="1188720"/>
          </a:xfrm>
          <a:prstGeom prst="roundRect">
            <a:avLst>
              <a:gd name="adj" fmla="val 7000"/>
            </a:avLst>
          </a:prstGeom>
          <a:solidFill>
            <a:schemeClr val="tx2"/>
          </a:solidFill>
          <a:ln>
            <a:noFill/>
          </a:ln>
          <a:effectLst>
            <a:outerShdw sx="100000" sy="100000" kx="0" ky="0" algn="bl" rotWithShape="0" blurRad="101600" dist="25400" dir="5400000">
              <a:srgbClr val="12232B">
                <a:alpha val="12000"/>
              </a:srgbClr>
            </a:outerShdw>
          </a:effectLst>
        </p:spPr>
      </p:sp>
      <p:sp>
        <p:nvSpPr>
          <p:cNvPr id="40" name="takeaway banner text"/>
          <p:cNvSpPr txBox="1"/>
          <p:nvPr/>
        </p:nvSpPr>
        <p:spPr>
          <a:xfrm>
            <a:off x="914400" y="5074920"/>
            <a:ext cx="10362895" cy="1097280"/>
          </a:xfrm>
          <a:prstGeom prst="rect">
            <a:avLst/>
          </a:prstGeom>
          <a:noFill/>
          <a:ln>
            <a:noFill/>
          </a:ln>
        </p:spPr>
        <p:txBody>
          <a:bodyPr wrap="square" lIns="0" tIns="0" rIns="0" bIns="0" rtlCol="0" anchor="ctr"/>
          <a:lstStyle/>
          <a:p>
            <a:pPr indent="0" marL="0">
              <a:buNone/>
            </a:pPr>
            <a:r>
              <a:rPr lang="en-US" sz="1700" b="1" dirty="0">
                <a:solidFill>
                  <a:schemeClr val="accent2"/>
                </a:solidFill>
                <a:latin typeface="Cambria" pitchFamily="34" charset="0"/>
              </a:rPr>
              <a:t>Memorisation, not learning. </a:t>
            </a:r>
            <a:r>
              <a:rPr lang="en-US" sz="1700" dirty="0">
                <a:solidFill>
                  <a:schemeClr val="bg1"/>
                </a:solidFill>
                <a:latin typeface="Cambria" pitchFamily="34" charset="0"/>
              </a:rPr>
              <a:t>With roughly 67 training subjects, two unrelated disorders under one label and different sensors, the model fits its training set and learns nothing that transfers. The bottleneck is data, not architecture.</a:t>
            </a:r>
            <a:endParaRPr lang="en-US" sz="17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Final conclusions</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
        <p:nvSpPr>
          <p:cNvPr id="26" name="conclusion card"/>
          <p:cNvSpPr/>
          <p:nvPr/>
        </p:nvSpPr>
        <p:spPr>
          <a:xfrm>
            <a:off x="548640" y="1325880"/>
            <a:ext cx="11094415" cy="3840480"/>
          </a:xfrm>
          <a:prstGeom prst="roundRect">
            <a:avLst>
              <a:gd name="adj" fmla="val 25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conclusion 1 badge"/>
          <p:cNvSpPr/>
          <p:nvPr/>
        </p:nvSpPr>
        <p:spPr>
          <a:xfrm>
            <a:off x="777240" y="1485900"/>
            <a:ext cx="502920" cy="502920"/>
          </a:xfrm>
          <a:prstGeom prst="ellipse">
            <a:avLst/>
          </a:prstGeom>
          <a:solidFill>
            <a:schemeClr val="accent3"/>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1</a:t>
            </a:r>
            <a:endParaRPr lang="en-US" sz="2000" dirty="0"/>
          </a:p>
        </p:txBody>
      </p:sp>
      <p:sp>
        <p:nvSpPr>
          <p:cNvPr id="28" name="conclusion 1 title"/>
          <p:cNvSpPr txBox="1"/>
          <p:nvPr/>
        </p:nvSpPr>
        <p:spPr>
          <a:xfrm>
            <a:off x="1508760" y="1463040"/>
            <a:ext cx="9905695" cy="41148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Fusion helps when the evidence is complementary</a:t>
            </a:r>
            <a:endParaRPr lang="en-US" sz="2000" dirty="0"/>
          </a:p>
        </p:txBody>
      </p:sp>
      <p:sp>
        <p:nvSpPr>
          <p:cNvPr id="29" name="conclusion 1 text"/>
          <p:cNvSpPr txBox="1"/>
          <p:nvPr/>
        </p:nvSpPr>
        <p:spPr>
          <a:xfrm>
            <a:off x="1508760" y="1901952"/>
            <a:ext cx="9905695" cy="740000"/>
          </a:xfrm>
          <a:prstGeom prst="rect">
            <a:avLst/>
          </a:prstGeom>
          <a:noFill/>
          <a:ln>
            <a:noFill/>
          </a:ln>
        </p:spPr>
        <p:txBody>
          <a:bodyPr wrap="square" lIns="0" tIns="0" rIns="0" bIns="0" rtlCol="0" anchor="t"/>
          <a:lstStyle/>
          <a:p>
            <a:pPr indent="0" marL="0">
              <a:buNone/>
            </a:pPr>
            <a:r>
              <a:rPr lang="en-US" sz="1500" dirty="0">
                <a:solidFill>
                  <a:schemeClr val="tx2"/>
                </a:solidFill>
                <a:latin typeface="Calibri" pitchFamily="34" charset="0"/>
              </a:rPr>
              <a:t>In the synthetic benchmark every fusion model beats the better single modality by about 10.7 points (paired over 5 seeds, p &lt; 0.001); the gain is largest at intermediate informativeness and vanishes when one modality dominates.</a:t>
            </a:r>
            <a:endParaRPr lang="en-US" sz="1500" dirty="0"/>
          </a:p>
        </p:txBody>
      </p:sp>
      <p:sp>
        <p:nvSpPr>
          <p:cNvPr id="30" name="conclusion 2 badge"/>
          <p:cNvSpPr/>
          <p:nvPr/>
        </p:nvSpPr>
        <p:spPr>
          <a:xfrm>
            <a:off x="777240" y="2720340"/>
            <a:ext cx="502920" cy="502920"/>
          </a:xfrm>
          <a:prstGeom prst="ellipse">
            <a:avLst/>
          </a:prstGeom>
          <a:solidFill>
            <a:schemeClr val="accent2"/>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2</a:t>
            </a:r>
            <a:endParaRPr lang="en-US" sz="2000" dirty="0"/>
          </a:p>
        </p:txBody>
      </p:sp>
      <p:sp>
        <p:nvSpPr>
          <p:cNvPr id="31" name="conclusion 2 title"/>
          <p:cNvSpPr txBox="1"/>
          <p:nvPr/>
        </p:nvSpPr>
        <p:spPr>
          <a:xfrm>
            <a:off x="1508760" y="2697480"/>
            <a:ext cx="9905695" cy="41148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Cross-attention is not shown to beat simpler fusion</a:t>
            </a:r>
            <a:endParaRPr lang="en-US" sz="2000" dirty="0"/>
          </a:p>
        </p:txBody>
      </p:sp>
      <p:sp>
        <p:nvSpPr>
          <p:cNvPr id="32" name="conclusion 2 text"/>
          <p:cNvSpPr txBox="1"/>
          <p:nvPr/>
        </p:nvSpPr>
        <p:spPr>
          <a:xfrm>
            <a:off x="1508760" y="3136392"/>
            <a:ext cx="9905695" cy="740000"/>
          </a:xfrm>
          <a:prstGeom prst="rect">
            <a:avLst/>
          </a:prstGeom>
          <a:noFill/>
          <a:ln>
            <a:noFill/>
          </a:ln>
        </p:spPr>
        <p:txBody>
          <a:bodyPr wrap="square" lIns="0" tIns="0" rIns="0" bIns="0" rtlCol="0" anchor="t"/>
          <a:lstStyle/>
          <a:p>
            <a:pPr indent="0" marL="0">
              <a:buNone/>
            </a:pPr>
            <a:r>
              <a:rPr lang="en-US" sz="1500" dirty="0">
                <a:solidFill>
                  <a:schemeClr val="tx2"/>
                </a:solidFill>
                <a:latin typeface="Calibri" pitchFamily="34" charset="0"/>
              </a:rPr>
              <a:t>CAFN 78.1% vs concatenation 77.5% and element-wise sum 79.6%: indistinguishable. None of the 7 component ablations is reliably different (−1.7 to 0.0 points).</a:t>
            </a:r>
            <a:endParaRPr lang="en-US" sz="1500" dirty="0"/>
          </a:p>
        </p:txBody>
      </p:sp>
      <p:sp>
        <p:nvSpPr>
          <p:cNvPr id="33" name="conclusion 3 badge"/>
          <p:cNvSpPr/>
          <p:nvPr/>
        </p:nvSpPr>
        <p:spPr>
          <a:xfrm>
            <a:off x="777240" y="3954780"/>
            <a:ext cx="502920" cy="502920"/>
          </a:xfrm>
          <a:prstGeom prst="ellipse">
            <a:avLst/>
          </a:prstGeom>
          <a:solidFill>
            <a:schemeClr val="accent4"/>
          </a:solidFill>
          <a:ln>
            <a:noFill/>
          </a:ln>
        </p:spPr>
        <p:txBody>
          <a:bodyPr wrap="square" lIns="0" tIns="0" rIns="0" bIns="0" rtlCol="0" anchor="ctr"/>
          <a:lstStyle/>
          <a:p>
            <a:pPr algn="ctr" indent="0" marL="0">
              <a:buNone/>
            </a:pPr>
            <a:r>
              <a:rPr lang="en-US" sz="2000" b="1" dirty="0">
                <a:solidFill>
                  <a:schemeClr val="bg1"/>
                </a:solidFill>
                <a:latin typeface="Cambria" pitchFamily="34" charset="0"/>
              </a:rPr>
              <a:t>3</a:t>
            </a:r>
            <a:endParaRPr lang="en-US" sz="2000" dirty="0"/>
          </a:p>
        </p:txBody>
      </p:sp>
      <p:sp>
        <p:nvSpPr>
          <p:cNvPr id="34" name="conclusion 3 title"/>
          <p:cNvSpPr txBox="1"/>
          <p:nvPr/>
        </p:nvSpPr>
        <p:spPr>
          <a:xfrm>
            <a:off x="1508760" y="3931920"/>
            <a:ext cx="9905695" cy="41148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Real cohorts: chance-level fusion, weak spectral signal</a:t>
            </a:r>
            <a:endParaRPr lang="en-US" sz="2000" dirty="0"/>
          </a:p>
        </p:txBody>
      </p:sp>
      <p:sp>
        <p:nvSpPr>
          <p:cNvPr id="35" name="conclusion 3 text"/>
          <p:cNvSpPr txBox="1"/>
          <p:nvPr/>
        </p:nvSpPr>
        <p:spPr>
          <a:xfrm>
            <a:off x="1508760" y="4370832"/>
            <a:ext cx="9905695" cy="740000"/>
          </a:xfrm>
          <a:prstGeom prst="rect">
            <a:avLst/>
          </a:prstGeom>
          <a:noFill/>
          <a:ln>
            <a:noFill/>
          </a:ln>
        </p:spPr>
        <p:txBody>
          <a:bodyPr wrap="square" lIns="0" tIns="0" rIns="0" bIns="0" rtlCol="0" anchor="t"/>
          <a:lstStyle/>
          <a:p>
            <a:pPr indent="0" marL="0">
              <a:buNone/>
            </a:pPr>
            <a:r>
              <a:rPr lang="en-US" sz="1500" dirty="0">
                <a:solidFill>
                  <a:schemeClr val="tx2"/>
                </a:solidFill>
                <a:latin typeface="Calibri" pitchFamily="34" charset="0"/>
              </a:rPr>
              <a:t>Neural fusion is at chance (CAFN AUC 0.51); spectrum-only network 0.62 [0.50, 0.72]; band-power LR 0.57 (Bonferroni p = 0.025, CI includes 0.5); nothing transfers across cohorts. The next step is data, not architecture.</a:t>
            </a:r>
            <a:endParaRPr lang="en-US" sz="1500" dirty="0"/>
          </a:p>
        </p:txBody>
      </p:sp>
      <p:sp>
        <p:nvSpPr>
          <p:cNvPr id="36" name="takeaway banner"/>
          <p:cNvSpPr/>
          <p:nvPr/>
        </p:nvSpPr>
        <p:spPr>
          <a:xfrm>
            <a:off x="548640" y="5349240"/>
            <a:ext cx="11094415" cy="868680"/>
          </a:xfrm>
          <a:prstGeom prst="roundRect">
            <a:avLst>
              <a:gd name="adj" fmla="val 10000"/>
            </a:avLst>
          </a:prstGeom>
          <a:solidFill>
            <a:schemeClr val="tx2"/>
          </a:solidFill>
          <a:ln>
            <a:noFill/>
          </a:ln>
          <a:effectLst>
            <a:outerShdw sx="100000" sy="100000" kx="0" ky="0" algn="bl" rotWithShape="0" blurRad="101600" dist="25400" dir="5400000">
              <a:srgbClr val="12232B">
                <a:alpha val="12000"/>
              </a:srgbClr>
            </a:outerShdw>
          </a:effectLst>
        </p:spPr>
      </p:sp>
      <p:sp>
        <p:nvSpPr>
          <p:cNvPr id="37" name="takeaway banner text"/>
          <p:cNvSpPr txBox="1"/>
          <p:nvPr/>
        </p:nvSpPr>
        <p:spPr>
          <a:xfrm>
            <a:off x="914400" y="5394960"/>
            <a:ext cx="10362895" cy="77724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Not claimed: </a:t>
            </a:r>
            <a:r>
              <a:rPr lang="en-US" sz="1600" dirty="0">
                <a:solidFill>
                  <a:schemeClr val="bg1"/>
                </a:solidFill>
                <a:latin typeface="Cambria" pitchFamily="34" charset="0"/>
              </a:rPr>
              <a:t>clinical accuracy, diagnosis of glaucoma, optic neuritis or CVI, cross-cohort generalisation, or that cross-attention beats simpler fusion.</a:t>
            </a:r>
            <a:endParaRPr lang="en-US" sz="16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Real-cohort results so far</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
        <p:nvSpPr>
          <p:cNvPr id="26" name="real tag"/>
          <p:cNvSpPr/>
          <p:nvPr/>
        </p:nvSpPr>
        <p:spPr>
          <a:xfrm>
            <a:off x="8595360" y="502920"/>
            <a:ext cx="3047695" cy="411480"/>
          </a:xfrm>
          <a:prstGeom prst="roundRect">
            <a:avLst>
              <a:gd name="adj" fmla="val 49412"/>
            </a:avLst>
          </a:prstGeom>
          <a:solidFill>
            <a:schemeClr val="accent4"/>
          </a:solidFill>
          <a:ln>
            <a:noFill/>
          </a:ln>
        </p:spPr>
        <p:txBody>
          <a:bodyPr wrap="square" lIns="45720" tIns="22860" rIns="45720" bIns="22860" rtlCol="0" anchor="ctr"/>
          <a:lstStyle/>
          <a:p>
            <a:pPr algn="ctr" indent="0" marL="0">
              <a:buNone/>
            </a:pPr>
            <a:r>
              <a:rPr lang="en-US" sz="1400" b="1" dirty="0">
                <a:solidFill>
                  <a:schemeClr val="bg1"/>
                </a:solidFill>
                <a:latin typeface="Calibri" pitchFamily="34" charset="0"/>
              </a:rPr>
              <a:t>REAL COHORTS · 95 subjects</a:t>
            </a:r>
            <a:endParaRPr lang="en-US" sz="1400" dirty="0"/>
          </a:p>
        </p:txBody>
      </p:sp>
      <p:sp>
        <p:nvSpPr>
          <p:cNvPr id="27" name="classical results card"/>
          <p:cNvSpPr/>
          <p:nvPr/>
        </p:nvSpPr>
        <p:spPr>
          <a:xfrm>
            <a:off x="548640" y="1325880"/>
            <a:ext cx="7772400" cy="4206240"/>
          </a:xfrm>
          <a:prstGeom prst="roundRect">
            <a:avLst>
              <a:gd name="adj" fmla="val 2000"/>
            </a:avLst>
          </a:prstGeom>
          <a:solidFill>
            <a:schemeClr val="bg1"/>
          </a:solidFill>
          <a:ln>
            <a:noFill/>
          </a:ln>
          <a:effectLst>
            <a:outerShdw sx="100000" sy="100000" kx="0" ky="0" algn="bl" rotWithShape="0" blurRad="101600" dist="25400" dir="5400000">
              <a:srgbClr val="12232B">
                <a:alpha val="12000"/>
              </a:srgbClr>
            </a:outerShdw>
          </a:effectLst>
        </p:spPr>
      </p:sp>
      <p:sp>
        <p:nvSpPr>
          <p:cNvPr id="28" name="table header"/>
          <p:cNvSpPr txBox="1"/>
          <p:nvPr/>
        </p:nvSpPr>
        <p:spPr>
          <a:xfrm>
            <a:off x="731520" y="1417320"/>
            <a:ext cx="7400000" cy="320040"/>
          </a:xfrm>
          <a:prstGeom prst="rect">
            <a:avLst/>
          </a:prstGeom>
          <a:noFill/>
          <a:ln>
            <a:noFill/>
          </a:ln>
        </p:spPr>
        <p:txBody>
          <a:bodyPr wrap="square" lIns="0" tIns="0" rIns="0" bIns="0" rtlCol="0" anchor="ctr"/>
          <a:lstStyle/>
          <a:p>
            <a:pPr indent="0" marL="0">
              <a:buNone/>
            </a:pPr>
            <a:r>
              <a:rPr lang="en-US" sz="1600" b="1" dirty="0">
                <a:solidFill>
                  <a:schemeClr val="tx1"/>
                </a:solidFill>
                <a:latin typeface="Cambria" pitchFamily="34" charset="0"/>
              </a:rPr>
              <a:t>Classical baselines, 5 × 5-fold CV on all 95 subjects</a:t>
            </a:r>
            <a:endParaRPr lang="en-US" sz="1600" dirty="0"/>
          </a:p>
        </p:txBody>
      </p:sp>
      <p:graphicFrame>
        <p:nvGraphicFramePr>
          <p:cNvPr id="29" name="classical table"/>
          <p:cNvGraphicFramePr>
            <a:graphicFrameLocks noGrp="1"/>
          </p:cNvGraphicFramePr>
          <p:nvPr/>
        </p:nvGraphicFramePr>
        <p:xfrm>
          <a:off x="731520" y="1828800"/>
          <a:ext cx="7223760" cy="2697480"/>
        </p:xfrm>
        <a:graphic>
          <a:graphicData uri="http://schemas.openxmlformats.org/drawingml/2006/table">
            <a:tbl>
              <a:tblPr/>
              <a:tblGrid>
                <a:gridCol w="3566160"/>
                <a:gridCol w="1143000"/>
                <a:gridCol w="1417320"/>
                <a:gridCol w="1097280"/>
              </a:tblGrid>
              <a:tr h="411480">
                <a:tc>
                  <a:txBody>
                    <a:bodyPr/>
                    <a:lstStyle/>
                    <a:p>
                      <a:pPr algn="l" indent="0" marL="0">
                        <a:buNone/>
                      </a:pPr>
                      <a:r>
                        <a:rPr lang="en-US" sz="1400" b="1" dirty="0">
                          <a:solidFill>
                            <a:schemeClr val="bg1"/>
                          </a:solidFill>
                          <a:latin typeface="Calibri" pitchFamily="34" charset="0"/>
                        </a:rPr>
                        <a:t>Model</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rPr>
                        <a:t>ROC-AUC</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rPr>
                        <a:t>95% CI</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latin typeface="Calibri" pitchFamily="34" charset="0"/>
                        </a:rPr>
                        <a:t>Perm. p</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algn="l" indent="0" marL="0">
                        <a:buNone/>
                      </a:pPr>
                      <a:r>
                        <a:rPr lang="en-US" sz="1400" dirty="0">
                          <a:solidFill>
                            <a:schemeClr val="tx1"/>
                          </a:solidFill>
                          <a:latin typeface="Calibri" pitchFamily="34" charset="0"/>
                        </a:rPr>
                        <a:t>Spectrum, logistic regression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0.563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0.45–0.68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0.025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dirty="0">
                          <a:solidFill>
                            <a:schemeClr val="tx1"/>
                          </a:solidFill>
                          <a:latin typeface="Calibri" pitchFamily="34" charset="0"/>
                        </a:rPr>
                        <a:t>Band power, logistic regression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0.567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0.45–0.68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0.005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dirty="0">
                          <a:solidFill>
                            <a:schemeClr val="tx1"/>
                          </a:solidFill>
                          <a:latin typeface="Calibri" pitchFamily="34" charset="0"/>
                        </a:rPr>
                        <a:t>Band power, random forest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0.518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0.36–0.60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0.73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dirty="0">
                          <a:solidFill>
                            <a:schemeClr val="tx1"/>
                          </a:solidFill>
                          <a:latin typeface="Calibri" pitchFamily="34" charset="0"/>
                        </a:rPr>
                        <a:t>MRI (8³ → PCA 20), logistic regression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0.587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0.43–0.67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latin typeface="Calibri" pitchFamily="34" charset="0"/>
                        </a:rPr>
                        <a:t>0.24</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dirty="0">
                          <a:solidFill>
                            <a:schemeClr val="tx1"/>
                          </a:solidFill>
                          <a:latin typeface="Calibri" pitchFamily="34" charset="0"/>
                        </a:rPr>
                        <a:t>MRI + band power, logistic regression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0.588</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0.43–0.67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latin typeface="Calibri" pitchFamily="34" charset="0"/>
                        </a:rPr>
                        <a:t>0.23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30" name="table caption"/>
          <p:cNvSpPr txBox="1"/>
          <p:nvPr/>
        </p:nvSpPr>
        <p:spPr>
          <a:xfrm>
            <a:off x="731520" y="4709160"/>
            <a:ext cx="7400000" cy="731520"/>
          </a:xfrm>
          <a:prstGeom prst="rect">
            <a:avLst/>
          </a:prstGeom>
          <a:noFill/>
          <a:ln>
            <a:noFill/>
          </a:ln>
        </p:spPr>
        <p:txBody>
          <a:bodyPr wrap="square" lIns="0" tIns="0" rIns="0" bIns="0" rtlCol="0" anchor="t"/>
          <a:lstStyle/>
          <a:p>
            <a:pPr indent="0" marL="0">
              <a:buNone/>
            </a:pPr>
            <a:r>
              <a:rPr lang="en-US" sz="1200" i="1" dirty="0">
                <a:solidFill>
                  <a:schemeClr val="tx2"/>
                </a:solidFill>
                <a:latin typeface="Calibri" pitchFamily="34" charset="0"/>
              </a:rPr>
              <a:t>AUC is the mean over repeats; the CI is a bootstrap over subjects and the p-value a within-cohort label-permutation test, both for repeat 0. Only the two spectrum-based logistic models reach p &lt; 0.05 (AUC ≈ 0.56); after Bonferroni correction only band power survives (p = 0.025) and its CI includes 0.5.</a:t>
            </a:r>
            <a:endParaRPr lang="en-US" sz="1200" dirty="0"/>
          </a:p>
        </p:txBody>
      </p:sp>
      <p:sp>
        <p:nvSpPr>
          <p:cNvPr id="31" name="stat1 card"/>
          <p:cNvSpPr/>
          <p:nvPr/>
        </p:nvSpPr>
        <p:spPr>
          <a:xfrm>
            <a:off x="8595360" y="1325880"/>
            <a:ext cx="304769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2" name="stat1 value"/>
          <p:cNvSpPr txBox="1"/>
          <p:nvPr/>
        </p:nvSpPr>
        <p:spPr>
          <a:xfrm>
            <a:off x="8778240" y="1417320"/>
            <a:ext cx="2682240" cy="457200"/>
          </a:xfrm>
          <a:prstGeom prst="rect">
            <a:avLst/>
          </a:prstGeom>
          <a:noFill/>
          <a:ln>
            <a:noFill/>
          </a:ln>
        </p:spPr>
        <p:txBody>
          <a:bodyPr wrap="square" lIns="0" tIns="0" rIns="0" bIns="0" rtlCol="0" anchor="ctr"/>
          <a:lstStyle/>
          <a:p>
            <a:pPr indent="0" marL="0">
              <a:buNone/>
            </a:pPr>
            <a:r>
              <a:rPr lang="en-US" sz="3000" b="1" dirty="0">
                <a:solidFill>
                  <a:schemeClr val="accent2"/>
                </a:solidFill>
                <a:latin typeface="Cambria" pitchFamily="34" charset="0"/>
              </a:rPr>
              <a:t>0.45–0.52</a:t>
            </a:r>
            <a:endParaRPr lang="en-US" sz="3000" dirty="0"/>
          </a:p>
        </p:txBody>
      </p:sp>
      <p:sp>
        <p:nvSpPr>
          <p:cNvPr id="33" name="stat1 label"/>
          <p:cNvSpPr txBox="1"/>
          <p:nvPr/>
        </p:nvSpPr>
        <p:spPr>
          <a:xfrm>
            <a:off x="8778240" y="1920240"/>
            <a:ext cx="2682240" cy="73152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CAFN test accuracy, pooled and LODO (balanced accuracy 0.46–0.54): at chance</a:t>
            </a:r>
            <a:endParaRPr lang="en-US" sz="1300" dirty="0"/>
          </a:p>
        </p:txBody>
      </p:sp>
      <p:sp>
        <p:nvSpPr>
          <p:cNvPr id="34" name="stat2 card"/>
          <p:cNvSpPr/>
          <p:nvPr/>
        </p:nvSpPr>
        <p:spPr>
          <a:xfrm>
            <a:off x="8595360" y="2743200"/>
            <a:ext cx="304769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5" name="stat2 value"/>
          <p:cNvSpPr txBox="1"/>
          <p:nvPr/>
        </p:nvSpPr>
        <p:spPr>
          <a:xfrm>
            <a:off x="8778240" y="2834640"/>
            <a:ext cx="2682240" cy="457200"/>
          </a:xfrm>
          <a:prstGeom prst="rect">
            <a:avLst/>
          </a:prstGeom>
          <a:noFill/>
          <a:ln>
            <a:noFill/>
          </a:ln>
        </p:spPr>
        <p:txBody>
          <a:bodyPr wrap="square" lIns="0" tIns="0" rIns="0" bIns="0" rtlCol="0" anchor="ctr"/>
          <a:lstStyle/>
          <a:p>
            <a:pPr indent="0" marL="0">
              <a:buNone/>
            </a:pPr>
            <a:r>
              <a:rPr lang="en-US" sz="3000" b="1" dirty="0">
                <a:solidFill>
                  <a:schemeClr val="accent6"/>
                </a:solidFill>
                <a:latin typeface="Cambria" pitchFamily="34" charset="0"/>
              </a:rPr>
              <a:t>100%</a:t>
            </a:r>
            <a:endParaRPr lang="en-US" sz="3000" dirty="0"/>
          </a:p>
        </p:txBody>
      </p:sp>
      <p:sp>
        <p:nvSpPr>
          <p:cNvPr id="36" name="stat2 label"/>
          <p:cNvSpPr txBox="1"/>
          <p:nvPr/>
        </p:nvSpPr>
        <p:spPr>
          <a:xfrm>
            <a:off x="8778240" y="3337560"/>
            <a:ext cx="2682240" cy="73152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cohort identity decoded from the spectrum alone: a shortcut the permutation test controls for</a:t>
            </a:r>
            <a:endParaRPr lang="en-US" sz="1300" dirty="0"/>
          </a:p>
        </p:txBody>
      </p:sp>
      <p:sp>
        <p:nvSpPr>
          <p:cNvPr id="37" name="stat3 card"/>
          <p:cNvSpPr/>
          <p:nvPr/>
        </p:nvSpPr>
        <p:spPr>
          <a:xfrm>
            <a:off x="8595360" y="4160520"/>
            <a:ext cx="3047695" cy="1371600"/>
          </a:xfrm>
          <a:prstGeom prst="roundRect">
            <a:avLst>
              <a:gd name="adj" fmla="val 6000"/>
            </a:avLst>
          </a:prstGeom>
          <a:solidFill>
            <a:schemeClr val="bg1"/>
          </a:solidFill>
          <a:ln>
            <a:noFill/>
          </a:ln>
          <a:effectLst>
            <a:outerShdw sx="100000" sy="100000" kx="0" ky="0" algn="bl" rotWithShape="0" blurRad="101600" dist="25400" dir="5400000">
              <a:srgbClr val="12232B">
                <a:alpha val="12000"/>
              </a:srgbClr>
            </a:outerShdw>
          </a:effectLst>
        </p:spPr>
      </p:sp>
      <p:sp>
        <p:nvSpPr>
          <p:cNvPr id="38" name="stat3 value"/>
          <p:cNvSpPr txBox="1"/>
          <p:nvPr/>
        </p:nvSpPr>
        <p:spPr>
          <a:xfrm>
            <a:off x="8778240" y="4251960"/>
            <a:ext cx="2682240" cy="457200"/>
          </a:xfrm>
          <a:prstGeom prst="rect">
            <a:avLst/>
          </a:prstGeom>
          <a:noFill/>
          <a:ln>
            <a:noFill/>
          </a:ln>
        </p:spPr>
        <p:txBody>
          <a:bodyPr wrap="square" lIns="0" tIns="0" rIns="0" bIns="0" rtlCol="0" anchor="ctr"/>
          <a:lstStyle/>
          <a:p>
            <a:pPr indent="0" marL="0">
              <a:buNone/>
            </a:pPr>
            <a:r>
              <a:rPr lang="en-US" sz="3000" b="1" dirty="0">
                <a:solidFill>
                  <a:schemeClr val="accent3"/>
                </a:solidFill>
                <a:latin typeface="Cambria" pitchFamily="34" charset="0"/>
              </a:rPr>
              <a:t>0.40–0.63</a:t>
            </a:r>
            <a:endParaRPr lang="en-US" sz="3000" dirty="0"/>
          </a:p>
        </p:txBody>
      </p:sp>
      <p:sp>
        <p:nvSpPr>
          <p:cNvPr id="39" name="stat3 label"/>
          <p:cNvSpPr txBox="1"/>
          <p:nvPr/>
        </p:nvSpPr>
        <p:spPr>
          <a:xfrm>
            <a:off x="8778240" y="4754880"/>
            <a:ext cx="2682240" cy="731520"/>
          </a:xfrm>
          <a:prstGeom prst="rect">
            <a:avLst/>
          </a:prstGeom>
          <a:noFill/>
          <a:ln>
            <a:noFill/>
          </a:ln>
        </p:spPr>
        <p:txBody>
          <a:bodyPr wrap="square" lIns="0" tIns="0" rIns="0" bIns="0" rtlCol="0" anchor="t"/>
          <a:lstStyle/>
          <a:p>
            <a:pPr indent="0" marL="0">
              <a:buNone/>
            </a:pPr>
            <a:r>
              <a:rPr lang="en-US" sz="1300" dirty="0">
                <a:solidFill>
                  <a:schemeClr val="tx2"/>
                </a:solidFill>
                <a:latin typeface="Calibri" pitchFamily="34" charset="0"/>
              </a:rPr>
              <a:t>classical leave-one-cohort-out AUC: no consistent transfer between cohorts</a:t>
            </a:r>
            <a:endParaRPr lang="en-US" sz="1300" dirty="0"/>
          </a:p>
        </p:txBody>
      </p:sp>
      <p:sp>
        <p:nvSpPr>
          <p:cNvPr id="40" name="honest banner"/>
          <p:cNvSpPr/>
          <p:nvPr/>
        </p:nvSpPr>
        <p:spPr>
          <a:xfrm>
            <a:off x="548640" y="5669280"/>
            <a:ext cx="11094415" cy="548640"/>
          </a:xfrm>
          <a:prstGeom prst="roundRect">
            <a:avLst>
              <a:gd name="adj" fmla="val 18000"/>
            </a:avLst>
          </a:prstGeom>
          <a:solidFill>
            <a:schemeClr val="tx2"/>
          </a:solidFill>
          <a:ln>
            <a:noFill/>
          </a:ln>
          <a:effectLst>
            <a:outerShdw sx="100000" sy="100000" kx="0" ky="0" algn="bl" rotWithShape="0" blurRad="101600" dist="25400" dir="5400000">
              <a:srgbClr val="12232B">
                <a:alpha val="12000"/>
              </a:srgbClr>
            </a:outerShdw>
          </a:effectLst>
        </p:spPr>
      </p:sp>
      <p:sp>
        <p:nvSpPr>
          <p:cNvPr id="41" name="honest banner text"/>
          <p:cNvSpPr txBox="1"/>
          <p:nvPr/>
        </p:nvSpPr>
        <p:spPr>
          <a:xfrm>
            <a:off x="822960" y="5715000"/>
            <a:ext cx="10545775" cy="457200"/>
          </a:xfrm>
          <a:prstGeom prst="rect">
            <a:avLst/>
          </a:prstGeom>
          <a:noFill/>
          <a:ln>
            <a:noFill/>
          </a:ln>
        </p:spPr>
        <p:txBody>
          <a:bodyPr wrap="square" lIns="0" tIns="0" rIns="0" bIns="0" rtlCol="0" anchor="ctr"/>
          <a:lstStyle/>
          <a:p>
            <a:pPr indent="0" marL="0">
              <a:buNone/>
            </a:pPr>
            <a:r>
              <a:rPr lang="en-US" sz="1600" b="1" dirty="0">
                <a:solidFill>
                  <a:schemeClr val="accent2"/>
                </a:solidFill>
                <a:latin typeface="Cambria" pitchFamily="34" charset="0"/>
              </a:rPr>
              <a:t>Honest reading: </a:t>
            </a:r>
            <a:r>
              <a:rPr lang="en-US" sz="1600" dirty="0">
                <a:solidFill>
                  <a:schemeClr val="bg1"/>
                </a:solidFill>
                <a:latin typeface="Cambria" pitchFamily="34" charset="0"/>
              </a:rPr>
              <a:t>weak spectral signal at best, no transfer across cohorts, no evidence that fusion helps on these cohorts.</a:t>
            </a:r>
            <a:endParaRPr lang="en-US" sz="16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title" hasCustomPrompt="1"/>
          </p:nvPr>
        </p:nvSpPr>
        <p:spPr>
          <a:xfrm>
            <a:off x="548640" y="320040"/>
            <a:ext cx="11094415" cy="86868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Pitfalls we found along the way</a:t>
            </a:r>
            <a:endParaRPr lang="en-US" sz="3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
        <p:nvSpPr>
          <p:cNvPr id="26" name="pitfall 1"/>
          <p:cNvSpPr/>
          <p:nvPr/>
        </p:nvSpPr>
        <p:spPr>
          <a:xfrm>
            <a:off x="548640" y="1325880"/>
            <a:ext cx="5410048" cy="228600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27" name="Cohort identity is a shortcut badge"/>
          <p:cNvSpPr/>
          <p:nvPr/>
        </p:nvSpPr>
        <p:spPr>
          <a:xfrm>
            <a:off x="822960" y="1554480"/>
            <a:ext cx="548640" cy="548640"/>
          </a:xfrm>
          <a:prstGeom prst="ellipse">
            <a:avLst/>
          </a:prstGeom>
          <a:solidFill>
            <a:schemeClr val="accent6"/>
          </a:solidFill>
          <a:ln>
            <a:noFill/>
          </a:ln>
        </p:spPr>
      </p:sp>
      <p:pic>
        <p:nvPicPr>
          <p:cNvPr id="28" name="Cohort identity is a shortcut icon" descr="Cohort identity is a shortcut icon"/>
          <p:cNvPicPr>
            <a:picLocks noChangeAspect="1"/>
          </p:cNvPicPr>
          <p:nvPr/>
        </p:nvPicPr>
        <p:blipFill>
          <a:blip r:embed="rId2"/>
          <a:stretch>
            <a:fillRect/>
          </a:stretch>
        </p:blipFill>
        <p:spPr>
          <a:xfrm>
            <a:off x="960120" y="1691640"/>
            <a:ext cx="274320" cy="274320"/>
          </a:xfrm>
          <a:prstGeom prst="rect">
            <a:avLst/>
          </a:prstGeom>
        </p:spPr>
      </p:pic>
      <p:sp>
        <p:nvSpPr>
          <p:cNvPr id="29" name="pitfall 1 title"/>
          <p:cNvSpPr txBox="1"/>
          <p:nvPr/>
        </p:nvSpPr>
        <p:spPr>
          <a:xfrm>
            <a:off x="1554480" y="155448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Cohort identity is a shortcut</a:t>
            </a:r>
            <a:endParaRPr lang="en-US" sz="2000" dirty="0"/>
          </a:p>
        </p:txBody>
      </p:sp>
      <p:sp>
        <p:nvSpPr>
          <p:cNvPr id="30" name="pitfall 1 text"/>
          <p:cNvSpPr txBox="1"/>
          <p:nvPr/>
        </p:nvSpPr>
        <p:spPr>
          <a:xfrm>
            <a:off x="822960" y="2286000"/>
            <a:ext cx="4861408" cy="1234440"/>
          </a:xfrm>
          <a:prstGeom prst="rect">
            <a:avLst/>
          </a:prstGeom>
          <a:noFill/>
          <a:ln>
            <a:noFill/>
          </a:ln>
        </p:spPr>
        <p:txBody>
          <a:bodyPr wrap="square" lIns="0" tIns="0" rIns="0" bIns="0" rtlCol="0" anchor="t"/>
          <a:lstStyle/>
          <a:p>
            <a:pPr indent="0" marL="0">
              <a:buNone/>
            </a:pPr>
            <a:r>
              <a:rPr lang="en-US" sz="1600" dirty="0">
                <a:solidFill>
                  <a:schemeClr val="tx2"/>
                </a:solidFill>
                <a:latin typeface="Calibri" pitchFamily="34" charset="0"/>
              </a:rPr>
              <a:t>The spectrum alone identifies the cohort with 100% accuracy. Permutation tests therefore shuffle labels within each cohort, so a cohort shortcut cannot create significance.</a:t>
            </a:r>
            <a:endParaRPr lang="en-US" sz="1600" dirty="0"/>
          </a:p>
        </p:txBody>
      </p:sp>
      <p:sp>
        <p:nvSpPr>
          <p:cNvPr id="31" name="pitfall 2"/>
          <p:cNvSpPr/>
          <p:nvPr/>
        </p:nvSpPr>
        <p:spPr>
          <a:xfrm>
            <a:off x="6233008" y="1325880"/>
            <a:ext cx="5410048" cy="228600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32" name="Checkpoint selection badge"/>
          <p:cNvSpPr/>
          <p:nvPr/>
        </p:nvSpPr>
        <p:spPr>
          <a:xfrm>
            <a:off x="6507328" y="1554480"/>
            <a:ext cx="548640" cy="548640"/>
          </a:xfrm>
          <a:prstGeom prst="ellipse">
            <a:avLst/>
          </a:prstGeom>
          <a:solidFill>
            <a:schemeClr val="accent2"/>
          </a:solidFill>
          <a:ln>
            <a:noFill/>
          </a:ln>
        </p:spPr>
      </p:sp>
      <p:pic>
        <p:nvPicPr>
          <p:cNvPr id="33" name="Checkpoint selection icon" descr="Checkpoint selection icon"/>
          <p:cNvPicPr>
            <a:picLocks noChangeAspect="1"/>
          </p:cNvPicPr>
          <p:nvPr/>
        </p:nvPicPr>
        <p:blipFill>
          <a:blip r:embed="rId3"/>
          <a:stretch>
            <a:fillRect/>
          </a:stretch>
        </p:blipFill>
        <p:spPr>
          <a:xfrm>
            <a:off x="6644488" y="1691640"/>
            <a:ext cx="274320" cy="274320"/>
          </a:xfrm>
          <a:prstGeom prst="rect">
            <a:avLst/>
          </a:prstGeom>
        </p:spPr>
      </p:pic>
      <p:sp>
        <p:nvSpPr>
          <p:cNvPr id="34" name="pitfall 2 title"/>
          <p:cNvSpPr txBox="1"/>
          <p:nvPr/>
        </p:nvSpPr>
        <p:spPr>
          <a:xfrm>
            <a:off x="7238848" y="155448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Checkpoint selection</a:t>
            </a:r>
            <a:endParaRPr lang="en-US" sz="2000" dirty="0"/>
          </a:p>
        </p:txBody>
      </p:sp>
      <p:sp>
        <p:nvSpPr>
          <p:cNvPr id="35" name="pitfall 2 text"/>
          <p:cNvSpPr txBox="1"/>
          <p:nvPr/>
        </p:nvSpPr>
        <p:spPr>
          <a:xfrm>
            <a:off x="6507328" y="2286000"/>
            <a:ext cx="4861408" cy="1234440"/>
          </a:xfrm>
          <a:prstGeom prst="rect">
            <a:avLst/>
          </a:prstGeom>
          <a:noFill/>
          <a:ln>
            <a:noFill/>
          </a:ln>
        </p:spPr>
        <p:txBody>
          <a:bodyPr wrap="square" lIns="0" tIns="0" rIns="0" bIns="0" rtlCol="0" anchor="t"/>
          <a:lstStyle/>
          <a:p>
            <a:pPr indent="0" marL="0">
              <a:buNone/>
            </a:pPr>
            <a:r>
              <a:rPr lang="en-US" sz="1600" dirty="0">
                <a:solidFill>
                  <a:schemeClr val="tx2"/>
                </a:solidFill>
                <a:latin typeface="Calibri" pitchFamily="34" charset="0"/>
              </a:rPr>
              <a:t>Selecting on validation loss could restore an untrained epoch-1 model on short runs (smoke runs ended at 33% accuracy). Checkpoints are now chosen by validation balanced accuracy.</a:t>
            </a:r>
            <a:endParaRPr lang="en-US" sz="1600" dirty="0"/>
          </a:p>
        </p:txBody>
      </p:sp>
      <p:sp>
        <p:nvSpPr>
          <p:cNvPr id="36" name="pitfall 3"/>
          <p:cNvSpPr/>
          <p:nvPr/>
        </p:nvSpPr>
        <p:spPr>
          <a:xfrm>
            <a:off x="548640" y="3703320"/>
            <a:ext cx="5410048" cy="228600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37" name="A centre crop sees a sliver badge"/>
          <p:cNvSpPr/>
          <p:nvPr/>
        </p:nvSpPr>
        <p:spPr>
          <a:xfrm>
            <a:off x="822960" y="3931920"/>
            <a:ext cx="548640" cy="548640"/>
          </a:xfrm>
          <a:prstGeom prst="ellipse">
            <a:avLst/>
          </a:prstGeom>
          <a:solidFill>
            <a:schemeClr val="accent3"/>
          </a:solidFill>
          <a:ln>
            <a:noFill/>
          </a:ln>
        </p:spPr>
      </p:sp>
      <p:pic>
        <p:nvPicPr>
          <p:cNvPr id="38" name="A centre crop sees a sliver icon" descr="A centre crop sees a sliver icon"/>
          <p:cNvPicPr>
            <a:picLocks noChangeAspect="1"/>
          </p:cNvPicPr>
          <p:nvPr/>
        </p:nvPicPr>
        <p:blipFill>
          <a:blip r:embed="rId4"/>
          <a:stretch>
            <a:fillRect/>
          </a:stretch>
        </p:blipFill>
        <p:spPr>
          <a:xfrm>
            <a:off x="960120" y="4069080"/>
            <a:ext cx="274320" cy="274320"/>
          </a:xfrm>
          <a:prstGeom prst="rect">
            <a:avLst/>
          </a:prstGeom>
        </p:spPr>
      </p:pic>
      <p:sp>
        <p:nvSpPr>
          <p:cNvPr id="39" name="pitfall 3 title"/>
          <p:cNvSpPr txBox="1"/>
          <p:nvPr/>
        </p:nvSpPr>
        <p:spPr>
          <a:xfrm>
            <a:off x="1554480" y="393192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A centre crop sees a sliver</a:t>
            </a:r>
            <a:endParaRPr lang="en-US" sz="2000" dirty="0"/>
          </a:p>
        </p:txBody>
      </p:sp>
      <p:sp>
        <p:nvSpPr>
          <p:cNvPr id="40" name="pitfall 3 text"/>
          <p:cNvSpPr txBox="1"/>
          <p:nvPr/>
        </p:nvSpPr>
        <p:spPr>
          <a:xfrm>
            <a:off x="822960" y="4663440"/>
            <a:ext cx="4861408" cy="1234440"/>
          </a:xfrm>
          <a:prstGeom prst="rect">
            <a:avLst/>
          </a:prstGeom>
          <a:noFill/>
          <a:ln>
            <a:noFill/>
          </a:ln>
        </p:spPr>
        <p:txBody>
          <a:bodyPr wrap="square" lIns="0" tIns="0" rIns="0" bIns="0" rtlCol="0" anchor="t"/>
          <a:lstStyle/>
          <a:p>
            <a:pPr indent="0" marL="0">
              <a:buNone/>
            </a:pPr>
            <a:r>
              <a:rPr lang="en-US" sz="1600" dirty="0">
                <a:solidFill>
                  <a:schemeClr val="tx2"/>
                </a:solidFill>
                <a:latin typeface="Calibri" pitchFamily="34" charset="0"/>
              </a:rPr>
              <a:t>A centre crop to 64³ is fine for small synthetic volumes but sees only a sliver of a 170 mm head. Real scans are cropped to the foreground box, then resampled.</a:t>
            </a:r>
            <a:endParaRPr lang="en-US" sz="1600" dirty="0"/>
          </a:p>
        </p:txBody>
      </p:sp>
      <p:sp>
        <p:nvSpPr>
          <p:cNvPr id="41" name="pitfall 4"/>
          <p:cNvSpPr/>
          <p:nvPr/>
        </p:nvSpPr>
        <p:spPr>
          <a:xfrm>
            <a:off x="6233008" y="3703320"/>
            <a:ext cx="5410048" cy="2286000"/>
          </a:xfrm>
          <a:prstGeom prst="roundRect">
            <a:avLst>
              <a:gd name="adj" fmla="val 4000"/>
            </a:avLst>
          </a:prstGeom>
          <a:solidFill>
            <a:schemeClr val="bg1"/>
          </a:solidFill>
          <a:ln>
            <a:noFill/>
          </a:ln>
          <a:effectLst>
            <a:outerShdw sx="100000" sy="100000" kx="0" ky="0" algn="bl" rotWithShape="0" blurRad="101600" dist="25400" dir="5400000">
              <a:srgbClr val="12232B">
                <a:alpha val="12000"/>
              </a:srgbClr>
            </a:outerShdw>
          </a:effectLst>
        </p:spPr>
      </p:sp>
      <p:sp>
        <p:nvSpPr>
          <p:cNvPr id="42" name="Bugs hide on one platform badge"/>
          <p:cNvSpPr/>
          <p:nvPr/>
        </p:nvSpPr>
        <p:spPr>
          <a:xfrm>
            <a:off x="6507328" y="3931920"/>
            <a:ext cx="548640" cy="548640"/>
          </a:xfrm>
          <a:prstGeom prst="ellipse">
            <a:avLst/>
          </a:prstGeom>
          <a:solidFill>
            <a:schemeClr val="accent5"/>
          </a:solidFill>
          <a:ln>
            <a:noFill/>
          </a:ln>
        </p:spPr>
      </p:sp>
      <p:pic>
        <p:nvPicPr>
          <p:cNvPr id="43" name="Bugs hide on one platform icon" descr="Bugs hide on one platform icon"/>
          <p:cNvPicPr>
            <a:picLocks noChangeAspect="1"/>
          </p:cNvPicPr>
          <p:nvPr/>
        </p:nvPicPr>
        <p:blipFill>
          <a:blip r:embed="rId5"/>
          <a:stretch>
            <a:fillRect/>
          </a:stretch>
        </p:blipFill>
        <p:spPr>
          <a:xfrm>
            <a:off x="6644488" y="4069080"/>
            <a:ext cx="274320" cy="274320"/>
          </a:xfrm>
          <a:prstGeom prst="rect">
            <a:avLst/>
          </a:prstGeom>
        </p:spPr>
      </p:pic>
      <p:sp>
        <p:nvSpPr>
          <p:cNvPr id="44" name="pitfall 4 title"/>
          <p:cNvSpPr txBox="1"/>
          <p:nvPr/>
        </p:nvSpPr>
        <p:spPr>
          <a:xfrm>
            <a:off x="7238848" y="3931920"/>
            <a:ext cx="4129888" cy="548640"/>
          </a:xfrm>
          <a:prstGeom prst="rect">
            <a:avLst/>
          </a:prstGeom>
          <a:noFill/>
          <a:ln>
            <a:noFill/>
          </a:ln>
        </p:spPr>
        <p:txBody>
          <a:bodyPr wrap="square" lIns="0" tIns="0" rIns="0" bIns="0" rtlCol="0" anchor="ctr"/>
          <a:lstStyle/>
          <a:p>
            <a:pPr indent="0" marL="0">
              <a:buNone/>
            </a:pPr>
            <a:r>
              <a:rPr lang="en-US" sz="2000" b="1" dirty="0">
                <a:solidFill>
                  <a:schemeClr val="tx1"/>
                </a:solidFill>
                <a:latin typeface="Cambria" pitchFamily="34" charset="0"/>
              </a:rPr>
              <a:t>Bugs hide on one platform</a:t>
            </a:r>
            <a:endParaRPr lang="en-US" sz="2000" dirty="0"/>
          </a:p>
        </p:txBody>
      </p:sp>
      <p:sp>
        <p:nvSpPr>
          <p:cNvPr id="45" name="pitfall 4 text"/>
          <p:cNvSpPr txBox="1"/>
          <p:nvPr/>
        </p:nvSpPr>
        <p:spPr>
          <a:xfrm>
            <a:off x="6507328" y="4663440"/>
            <a:ext cx="4861408" cy="1234440"/>
          </a:xfrm>
          <a:prstGeom prst="rect">
            <a:avLst/>
          </a:prstGeom>
          <a:noFill/>
          <a:ln>
            <a:noFill/>
          </a:ln>
        </p:spPr>
        <p:txBody>
          <a:bodyPr wrap="square" lIns="0" tIns="0" rIns="0" bIns="0" rtlCol="0" anchor="t"/>
          <a:lstStyle/>
          <a:p>
            <a:pPr indent="0" marL="0">
              <a:buNone/>
            </a:pPr>
            <a:r>
              <a:rPr lang="en-US" sz="1600" dirty="0">
                <a:solidFill>
                  <a:schemeClr val="tx2"/>
                </a:solidFill>
                <a:latin typeface="Calibri" pitchFamily="34" charset="0"/>
              </a:rPr>
              <a:t>A second platform exposed an annotation error on Python 3.13 and earlier, an evaluation-only device mismatch on CUDA and a vacuous test; all fixed.</a:t>
            </a:r>
            <a:endParaRPr lang="en-US" sz="1600" dirty="0"/>
          </a:p>
        </p:txBody>
      </p:sp>
    </p:spTree>
  </p:cSld>
  <p:clrMapOvr>
    <a:masterClrMapping/>
  </p:clrMapOvr>
</p:sld>
</file>

<file path=ppt/theme/theme1.xml><?xml version="1.0" encoding="utf-8"?>
<a:theme xmlns:a="http://schemas.openxmlformats.org/drawingml/2006/main" name="NeuroFusion">
  <a:themeElements>
    <a:clrScheme name="NeuroFusion">
      <a:dk1>
        <a:srgbClr val="12232B"/>
      </a:dk1>
      <a:lt1>
        <a:srgbClr val="FFFFFF"/>
      </a:lt1>
      <a:dk2>
        <a:srgbClr val="1F4E5F"/>
      </a:dk2>
      <a:lt2>
        <a:srgbClr val="EDF2F3"/>
      </a:lt2>
      <a:accent1>
        <a:srgbClr val="1F6F78"/>
      </a:accent1>
      <a:accent2>
        <a:srgbClr val="E39A2D"/>
      </a:accent2>
      <a:accent3>
        <a:srgbClr val="3B6EA5"/>
      </a:accent3>
      <a:accent4>
        <a:srgbClr val="2E8B6A"/>
      </a:accent4>
      <a:accent5>
        <a:srgbClr val="7A4FA0"/>
      </a:accent5>
      <a:accent6>
        <a:srgbClr val="B5483A"/>
      </a:accent6>
      <a:hlink>
        <a:srgbClr val="1F6F78"/>
      </a:hlink>
      <a:folHlink>
        <a:srgbClr val="7A4FA0"/>
      </a:folHlink>
    </a:clrScheme>
    <a:fontScheme name="NeuroFu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Cross-Attention Fusion of 3D MRI and Visual Evoked Potentials</dc:title>
  <dc:subject>BCSE497J project presentation</dc:subject>
  <dc:creator>Mishthi Jain</dc:creator>
  <cp:lastModifiedBy>Mishthi Jain</cp:lastModifiedBy>
  <cp:revision>1</cp:revision>
  <dcterms:created xsi:type="dcterms:W3CDTF">2026-10-13T08:14:56Z</dcterms:created>
  <dcterms:modified xsi:type="dcterms:W3CDTF">2026-10-13T08:14:56Z</dcterms:modified>
</cp:coreProperties>
</file>